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2158924-451b-d69b-dbac-57cf0ee2f4a8}">
          <p14:sldIdLst>
            <p14:sldId id="256"/>
            <p14:sldId id="257"/>
          </p14:sldIdLst>
        </p14:section>
        <p14:section name="Normalization" id="{35252281-a407-2fda-a607-19bb09bff55c}">
          <p14:sldIdLst>
            <p14:sldId id="258"/>
            <p14:sldId id="259"/>
            <p14:sldId id="260"/>
            <p14:sldId id="261"/>
          </p14:sldIdLst>
        </p14:section>
        <p14:section name="Constraints and DDL" id="{8e1ce917-47cd-e285-f416-53f3443ea531}">
          <p14:sldIdLst>
            <p14:sldId id="262"/>
            <p14:sldId id="263"/>
            <p14:sldId id="264"/>
            <p14:sldId id="265"/>
          </p14:sldIdLst>
        </p14:section>
        <p14:section name="Data and Queries" id="{57eda961-edab-bd7a-b71f-b831f8e93101}">
          <p14:sldIdLst>
            <p14:sldId id="266"/>
            <p14:sldId id="267"/>
            <p14:sldId id="268"/>
            <p14:sldId id="269"/>
            <p14:sldId id="270"/>
            <p14:sldId id="271"/>
          </p14:sldIdLst>
        </p14:section>
        <p14:section name="Wrap-up" id="{2f23c0ac-f736-c2c0-e9d1-f7e521916587}">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mn-lt"/>
              </a:defRPr>
            </a:pPr>
            <a:r>
              <a:rPr sz="1400" b="0" i="0" u="none" strike="noStrike">
                <a:solidFill>
                  <a:srgbClr val="0B1F33"/>
                </a:solidFill>
                <a:latin typeface="+mn-lt"/>
              </a:rPr>
              <a:t>Rows per table</a:t>
            </a:r>
          </a:p>
        </c:rich>
      </c:tx>
      <c:layout/>
      <c:overlay val="0"/>
    </c:title>
    <c:autoTitleDeleted val="0"/>
    <c:plotArea>
      <c:layout/>
      <c:barChart>
        <c:barDir val="bar"/>
        <c:grouping val="clustered"/>
        <c:varyColors val="0"/>
        <c:ser>
          <c:idx val="0"/>
          <c:order val="0"/>
          <c:tx>
            <c:strRef>
              <c:f>Sheet1!$B$1</c:f>
              <c:strCache>
                <c:ptCount val="1"/>
                <c:pt idx="0">
                  <c:v>Rows</c:v>
                </c:pt>
              </c:strCache>
            </c:strRef>
          </c:tx>
          <c:spPr>
            <a:solidFill>
              <a:srgbClr val="0E7C86"/>
            </a:solidFill>
            <a:effectLst/>
          </c:spPr>
          <c:invertIfNegative val="0"/>
          <c:dLbls>
            <c:numFmt formatCode="#,##0" sourceLinked="0"/>
            <c:txPr>
              <a:bodyPr/>
              <a:lstStyle/>
              <a:p>
                <a:pPr>
                  <a:defRPr b="0" i="0" strike="noStrike" sz="1100" u="none">
                    <a:solidFill>
                      <a:srgbClr val="0B1F33"/>
                    </a:solidFill>
                    <a:latin typeface="+mn-lt"/>
                  </a:defRPr>
                </a:pPr>
              </a:p>
            </c:txPr>
            <c:showLegendKey val="0"/>
            <c:showVal val="1"/>
            <c:showCatName val="0"/>
            <c:showSerName val="0"/>
            <c:showPercent val="0"/>
            <c:showBubbleSize val="0"/>
            <c:showLeaderLines val="0"/>
          </c:dLbls>
          <c:cat>
            <c:multiLvlStrRef>
              <c:f>Sheet1!$A$2:$A$14</c:f>
              <c:multiLvlStrCache>
                <c:ptCount val="13"/>
                <c:lvl>
                  <c:pt idx="0">
                    <c:v>department</c:v>
                  </c:pt>
                  <c:pt idx="1">
                    <c:v>researcher</c:v>
                  </c:pt>
                  <c:pt idx="2">
                    <c:v>funding_agency</c:v>
                  </c:pt>
                  <c:pt idx="3">
                    <c:v>project</c:v>
                  </c:pt>
                  <c:pt idx="4">
                    <c:v>project_investigator</c:v>
                  </c:pt>
                  <c:pt idx="5">
                    <c:v>grant_award</c:v>
                  </c:pt>
                  <c:pt idx="6">
                    <c:v>milestone</c:v>
                  </c:pt>
                  <c:pt idx="7">
                    <c:v>expenditure</c:v>
                  </c:pt>
                  <c:pt idx="8">
                    <c:v>publication</c:v>
                  </c:pt>
                  <c:pt idx="9">
                    <c:v>project_publication</c:v>
                  </c:pt>
                  <c:pt idx="10">
                    <c:v>publication_author</c:v>
                  </c:pt>
                  <c:pt idx="11">
                    <c:v>patent</c:v>
                  </c:pt>
                  <c:pt idx="12">
                    <c:v>report</c:v>
                  </c:pt>
                </c:lvl>
              </c:multiLvlStrCache>
            </c:multiLvlStrRef>
          </c:cat>
          <c:val>
            <c:numRef>
              <c:f>Sheet1!$B$2:$B$14</c:f>
              <c:numCache>
                <c:formatCode>General</c:formatCode>
                <c:ptCount val="13"/>
                <c:pt idx="0">
                  <c:v>5</c:v>
                </c:pt>
                <c:pt idx="1">
                  <c:v>15</c:v>
                </c:pt>
                <c:pt idx="2">
                  <c:v>5</c:v>
                </c:pt>
                <c:pt idx="3">
                  <c:v>12</c:v>
                </c:pt>
                <c:pt idx="4">
                  <c:v>28</c:v>
                </c:pt>
                <c:pt idx="5">
                  <c:v>14</c:v>
                </c:pt>
                <c:pt idx="6">
                  <c:v>36</c:v>
                </c:pt>
                <c:pt idx="7">
                  <c:v>60</c:v>
                </c:pt>
                <c:pt idx="8">
                  <c:v>25</c:v>
                </c:pt>
                <c:pt idx="9">
                  <c:v>22</c:v>
                </c:pt>
                <c:pt idx="10">
                  <c:v>48</c:v>
                </c:pt>
                <c:pt idx="11">
                  <c:v>4</c:v>
                </c:pt>
                <c:pt idx="12">
                  <c:v>12</c:v>
                </c:pt>
              </c:numCache>
            </c:numRef>
          </c:val>
        </c:ser>
        <c:dLbls>
          <c:numFmt formatCode="#,##0" sourceLinked="0"/>
          <c:txPr>
            <a:bodyPr/>
            <a:lstStyle/>
            <a:p>
              <a:pPr>
                <a:defRPr b="0" i="0" strike="noStrike" sz="1100" u="none">
                  <a:solidFill>
                    <a:srgbClr val="0B1F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B1F3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2 covers the normalized design with functional dependencies, the data dictionary, DDL with integrity constraints, sample data, SQL queries and views, and the working database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Review 1 we turned the initial schema into a working database in four steps: normalize, constrain, populate, query. Each step is covered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 flat research sheet looks like. The highlighted cells repeat for every investigator. That repetition causes update, insert and delete anomalies, which normalization removes.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UNF is the flat sheet. 1NF makes every value atomic. 2NF removes partial dependencies on composite keys. 3NF removes transitive dependencies. The rule of thumb at the bottom summarizes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functional dependencies for each table. In every table the left side is a key, so there are no partial or transitive dependencies left: the schema is in 3NF. Note publication has a second candidate key, the DOI.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concise data dictionary: each table with its primary key, foreign keys and the constraints or defaults that matter. Full column types are in the DDL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business rule is enforced at the database level. Two of them involve other tables, and MySQL CHECK constraints cannot query other tables, so those two use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DDL for the project and grant tables. Note the named CHECK on project dates and the CHECK for positive grant amounts. Foreign keys keep every grant tied to a real project and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DDL for publications and expenditure. UNIQUE on the DOI guarantees unique publication identifiers. Expenditure amounts must be positive, and the budget cap is handled by a trigger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triggers handle the cross-table rules. The first sums existing spending on the grant and blocks an insert that would push it over the sanctioned amount. The second blocks milestones outside the project dates. Matching BEFORE UPDATE triggers cover 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is populated with realistic sample data in dependency order, parents first. The data includes the Indian funding agencies DST, SERB, DBT, ICMR and CSIR, and a few deliberately invalid rows used to test the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 1: project progress. A join between project and milestone, grouped by project. SUM of a condition counts completed milestones, and dividing by the total gives the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 2: budget utilization as a view. Sanctioned money and spent money are summed in separate derived tables first. Joining grants straight to expenditure would count each grant once per expense row and inflate the totals.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 3: researcher output with a nested query. The inner subquery computes the average number of publications per author, and HAVING keeps only researchers above that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required reports. Each one is stored as a view so the application can simply SELECT from it. The technique line shows which SQL idea each one demonstrates.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Indexes go on columns that are searched or filtered often. InnoDB already indexes foreign keys. The status table summarizes the prototype: schema, constraints, data and views are in place and the front-end connects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previewing Review 3: the Python application with CRUD, search, validation, reports, error handling and the final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760720" cy="15544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ph idx="101" type="body" hasCustomPrompt="1"/>
          </p:nvPr>
        </p:nvSpPr>
        <p:spPr>
          <a:xfrm>
            <a:off x="548640" y="3108960"/>
            <a:ext cx="5577840" cy="82296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indent="0" marL="0">
              <a:buNone/>
            </a:pPr>
            <a:r>
              <a:rPr lang="en-US" sz="1000" dirty="0">
                <a:solidFill>
                  <a:schemeClr val="accent6"/>
                </a:solidFill>
              </a:rPr>
              <a:t>Research Project, Publication &amp; Grant Management System  |  Review 2</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548640" y="1417320"/>
            <a:ext cx="5760720" cy="1554480"/>
          </a:xfrm>
          <a:prstGeom prst="rect">
            <a:avLst/>
          </a:prstGeom>
          <a:noFill/>
          <a:ln/>
        </p:spPr>
        <p:txBody>
          <a:bodyPr wrap="square" lIns="0" tIns="0" rIns="0" bIns="0" rtlCol="0" anchor="t"/>
          <a:lstStyle/>
          <a:p>
            <a:pPr algn="l" indent="0" marL="0">
              <a:buNone/>
            </a:pPr>
            <a:r>
              <a:rPr lang="en-US" sz="3000" b="1" dirty="0">
                <a:solidFill>
                  <a:schemeClr val="bg1"/>
                </a:solidFill>
              </a:rPr>
              <a:t>Research Project, Publication &amp; Grant Management System</a:t>
            </a:r>
            <a:endParaRPr lang="en-US" sz="3000" dirty="0"/>
          </a:p>
        </p:txBody>
      </p:sp>
      <p:sp>
        <p:nvSpPr>
          <p:cNvPr id="4" name="Text 0"/>
          <p:cNvSpPr/>
          <p:nvPr>
            <p:ph idx="101" type="body" hasCustomPrompt="1"/>
          </p:nvPr>
        </p:nvSpPr>
        <p:spPr>
          <a:xfrm>
            <a:off x="548640" y="3108960"/>
            <a:ext cx="5577840" cy="822960"/>
          </a:xfrm>
          <a:prstGeom prst="rect">
            <a:avLst/>
          </a:prstGeom>
          <a:noFill/>
          <a:ln/>
        </p:spPr>
        <p:txBody>
          <a:bodyPr wrap="square" lIns="0" tIns="0" rIns="0" bIns="0" rtlCol="0" anchor="t"/>
          <a:lstStyle/>
          <a:p>
            <a:pPr algn="l" indent="0" marL="0">
              <a:buNone/>
            </a:pPr>
            <a:r>
              <a:rPr lang="en-US" sz="1600" dirty="0">
                <a:solidFill>
                  <a:schemeClr val="bg2"/>
                </a:solidFill>
              </a:rPr>
              <a:t>Design and Implementation of a Database Management System</a:t>
            </a:r>
            <a:endParaRPr lang="en-US" sz="1600" dirty="0"/>
          </a:p>
          <a:p>
            <a:pPr algn="l" indent="0" marL="0">
              <a:buNone/>
            </a:pPr>
            <a:r>
              <a:rPr lang="en-US" sz="1600" dirty="0">
                <a:solidFill>
                  <a:schemeClr val="bg2"/>
                </a:solidFill>
              </a:rPr>
              <a:t>Normalization, Constraints and Queries</a:t>
            </a:r>
            <a:endParaRPr lang="en-US" sz="1600" dirty="0"/>
          </a:p>
        </p:txBody>
      </p:sp>
      <p:sp>
        <p:nvSpPr>
          <p:cNvPr id="5" name="Text 2"/>
          <p:cNvSpPr txBox="1"/>
          <p:nvPr/>
        </p:nvSpPr>
        <p:spPr>
          <a:xfrm>
            <a:off x="548640" y="960120"/>
            <a:ext cx="5760720" cy="274320"/>
          </a:xfrm>
          <a:prstGeom prst="rect">
            <a:avLst/>
          </a:prstGeom>
          <a:noFill/>
          <a:ln/>
        </p:spPr>
        <p:txBody>
          <a:bodyPr wrap="square" lIns="0" tIns="0" rIns="0" bIns="0" rtlCol="0" anchor="t"/>
          <a:lstStyle/>
          <a:p>
            <a:pPr indent="0" marL="0">
              <a:buNone/>
            </a:pPr>
            <a:r>
              <a:rPr lang="en-US" sz="1200" b="1" spc="300" kern="0" dirty="0">
                <a:solidFill>
                  <a:schemeClr val="accent2"/>
                </a:solidFill>
              </a:rPr>
              <a:t>REVIEW 2  |  WEEK 11</a:t>
            </a:r>
            <a:endParaRPr lang="en-US" sz="1200" dirty="0"/>
          </a:p>
        </p:txBody>
      </p:sp>
      <p:sp>
        <p:nvSpPr>
          <p:cNvPr id="6" name="Text 3"/>
          <p:cNvSpPr txBox="1"/>
          <p:nvPr/>
        </p:nvSpPr>
        <p:spPr>
          <a:xfrm>
            <a:off x="548640" y="4343400"/>
            <a:ext cx="5943600" cy="274320"/>
          </a:xfrm>
          <a:prstGeom prst="rect">
            <a:avLst/>
          </a:prstGeom>
          <a:noFill/>
          <a:ln/>
        </p:spPr>
        <p:txBody>
          <a:bodyPr wrap="square" lIns="0" tIns="0" rIns="0" bIns="0" rtlCol="0" anchor="t"/>
          <a:lstStyle/>
          <a:p>
            <a:pPr indent="0" marL="0">
              <a:buNone/>
            </a:pPr>
            <a:r>
              <a:rPr lang="en-US" sz="1400" dirty="0">
                <a:solidFill>
                  <a:schemeClr val="bg2"/>
                </a:solidFill>
              </a:rPr>
              <a:t>Varun  |  B.Tech CSE (AI &amp; ML)  |  Database Management Systems</a:t>
            </a:r>
            <a:endParaRPr lang="en-US" sz="1400" dirty="0"/>
          </a:p>
        </p:txBody>
      </p:sp>
      <p:sp>
        <p:nvSpPr>
          <p:cNvPr id="7" name="Motif ring"/>
          <p:cNvSpPr/>
          <p:nvPr/>
        </p:nvSpPr>
        <p:spPr>
          <a:xfrm>
            <a:off x="6355080" y="1097280"/>
            <a:ext cx="2651760" cy="2651760"/>
          </a:xfrm>
          <a:prstGeom prst="ellipse">
            <a:avLst/>
          </a:prstGeom>
          <a:ln w="19050">
            <a:solidFill>
              <a:schemeClr val="accent1"/>
            </a:solidFill>
            <a:prstDash val="solid"/>
          </a:ln>
        </p:spPr>
      </p:sp>
      <p:sp>
        <p:nvSpPr>
          <p:cNvPr id="8" name="Database badge"/>
          <p:cNvSpPr/>
          <p:nvPr/>
        </p:nvSpPr>
        <p:spPr>
          <a:xfrm>
            <a:off x="6675120" y="1417320"/>
            <a:ext cx="2011680" cy="2011680"/>
          </a:xfrm>
          <a:prstGeom prst="ellipse">
            <a:avLst/>
          </a:prstGeom>
          <a:solidFill>
            <a:schemeClr val="accent1"/>
          </a:solidFill>
          <a:ln/>
        </p:spPr>
      </p:sp>
      <p:pic>
        <p:nvPicPr>
          <p:cNvPr id="9" name="Image 0" descr="Database icon">    </p:cNvPr>
          <p:cNvPicPr>
            <a:picLocks noChangeAspect="1"/>
          </p:cNvPicPr>
          <p:nvPr/>
        </p:nvPicPr>
        <p:blipFill>
          <a:blip r:embed="rId1"/>
          <a:stretch>
            <a:fillRect/>
          </a:stretch>
        </p:blipFill>
        <p:spPr>
          <a:xfrm>
            <a:off x="7198157" y="1940357"/>
            <a:ext cx="965606" cy="965606"/>
          </a:xfrm>
          <a:prstGeom prst="rect">
            <a:avLst/>
          </a:prstGeom>
        </p:spPr>
      </p:pic>
      <p:sp>
        <p:nvSpPr>
          <p:cNvPr id="10" name="Motif dot"/>
          <p:cNvSpPr/>
          <p:nvPr/>
        </p:nvSpPr>
        <p:spPr>
          <a:xfrm>
            <a:off x="8183880" y="960120"/>
            <a:ext cx="457200" cy="457200"/>
          </a:xfrm>
          <a:prstGeom prst="ellipse">
            <a:avLst/>
          </a:prstGeom>
          <a:solidFill>
            <a:schemeClr val="accent2"/>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Review 2: What We Built</a:t>
            </a:r>
            <a:endParaRPr lang="en-US" sz="3200" dirty="0"/>
          </a:p>
        </p:txBody>
      </p:sp>
      <p:sp>
        <p:nvSpPr>
          <p:cNvPr id="4" name="Step card"/>
          <p:cNvSpPr/>
          <p:nvPr/>
        </p:nvSpPr>
        <p:spPr>
          <a:xfrm>
            <a:off x="457200" y="1188720"/>
            <a:ext cx="1920240" cy="2514600"/>
          </a:xfrm>
          <a:prstGeom prst="roundRect">
            <a:avLst>
              <a:gd name="adj" fmla="val 3810"/>
            </a:avLst>
          </a:prstGeom>
          <a:solidFill>
            <a:schemeClr val="bg2"/>
          </a:solidFill>
          <a:ln/>
        </p:spPr>
      </p:sp>
      <p:sp>
        <p:nvSpPr>
          <p:cNvPr id="5" name="Step icon"/>
          <p:cNvSpPr/>
          <p:nvPr/>
        </p:nvSpPr>
        <p:spPr>
          <a:xfrm>
            <a:off x="594360" y="1325880"/>
            <a:ext cx="640080" cy="640080"/>
          </a:xfrm>
          <a:prstGeom prst="ellipse">
            <a:avLst/>
          </a:prstGeom>
          <a:solidFill>
            <a:schemeClr val="accent3"/>
          </a:solidFill>
          <a:ln/>
        </p:spPr>
      </p:sp>
      <p:pic>
        <p:nvPicPr>
          <p:cNvPr id="6" name="Image 0" descr="LayerGroup icon">    </p:cNvPr>
          <p:cNvPicPr>
            <a:picLocks noChangeAspect="1"/>
          </p:cNvPicPr>
          <p:nvPr/>
        </p:nvPicPr>
        <p:blipFill>
          <a:blip r:embed="rId1"/>
          <a:stretch>
            <a:fillRect/>
          </a:stretch>
        </p:blipFill>
        <p:spPr>
          <a:xfrm>
            <a:off x="760781" y="1492301"/>
            <a:ext cx="307238" cy="307238"/>
          </a:xfrm>
          <a:prstGeom prst="rect">
            <a:avLst/>
          </a:prstGeom>
        </p:spPr>
      </p:pic>
      <p:sp>
        <p:nvSpPr>
          <p:cNvPr id="7" name="Text 3"/>
          <p:cNvSpPr txBox="1"/>
          <p:nvPr/>
        </p:nvSpPr>
        <p:spPr>
          <a:xfrm>
            <a:off x="1874520" y="1325880"/>
            <a:ext cx="365760" cy="365760"/>
          </a:xfrm>
          <a:prstGeom prst="rect">
            <a:avLst/>
          </a:prstGeom>
          <a:noFill/>
          <a:ln/>
        </p:spPr>
        <p:txBody>
          <a:bodyPr wrap="square" lIns="0" tIns="0" rIns="0" bIns="0" rtlCol="0" anchor="t"/>
          <a:lstStyle/>
          <a:p>
            <a:pPr algn="r" indent="0" marL="0">
              <a:buNone/>
            </a:pPr>
            <a:r>
              <a:rPr lang="en-US" sz="2400" b="1" dirty="0">
                <a:solidFill>
                  <a:schemeClr val="accent6"/>
                </a:solidFill>
              </a:rPr>
              <a:t>1</a:t>
            </a:r>
            <a:endParaRPr lang="en-US" sz="2400" dirty="0"/>
          </a:p>
        </p:txBody>
      </p:sp>
      <p:sp>
        <p:nvSpPr>
          <p:cNvPr id="8" name="Text 4"/>
          <p:cNvSpPr txBox="1"/>
          <p:nvPr/>
        </p:nvSpPr>
        <p:spPr>
          <a:xfrm>
            <a:off x="594360" y="2103120"/>
            <a:ext cx="1645920" cy="365760"/>
          </a:xfrm>
          <a:prstGeom prst="rect">
            <a:avLst/>
          </a:prstGeom>
          <a:noFill/>
          <a:ln/>
        </p:spPr>
        <p:txBody>
          <a:bodyPr wrap="square" lIns="0" tIns="0" rIns="0" bIns="0" rtlCol="0" anchor="t"/>
          <a:lstStyle/>
          <a:p>
            <a:pPr indent="0" marL="0">
              <a:buNone/>
            </a:pPr>
            <a:r>
              <a:rPr lang="en-US" sz="2000" b="1" dirty="0">
                <a:solidFill>
                  <a:schemeClr val="tx1"/>
                </a:solidFill>
              </a:rPr>
              <a:t>Normalize</a:t>
            </a:r>
            <a:endParaRPr lang="en-US" sz="2000" dirty="0"/>
          </a:p>
        </p:txBody>
      </p:sp>
      <p:sp>
        <p:nvSpPr>
          <p:cNvPr id="9" name="Text 5"/>
          <p:cNvSpPr txBox="1"/>
          <p:nvPr/>
        </p:nvSpPr>
        <p:spPr>
          <a:xfrm>
            <a:off x="594360" y="2560320"/>
            <a:ext cx="1645920" cy="1005840"/>
          </a:xfrm>
          <a:prstGeom prst="rect">
            <a:avLst/>
          </a:prstGeom>
          <a:noFill/>
          <a:ln/>
        </p:spPr>
        <p:txBody>
          <a:bodyPr wrap="square" lIns="0" tIns="0" rIns="0" bIns="0" rtlCol="0" anchor="t"/>
          <a:lstStyle/>
          <a:p>
            <a:pPr indent="0" marL="0">
              <a:buNone/>
            </a:pPr>
            <a:r>
              <a:rPr lang="en-US" sz="1400" dirty="0">
                <a:solidFill>
                  <a:schemeClr val="tx1"/>
                </a:solidFill>
              </a:rPr>
              <a:t>13 tables in 3NF, with functional dependencies</a:t>
            </a:r>
            <a:endParaRPr lang="en-US" sz="1400" dirty="0"/>
          </a:p>
        </p:txBody>
      </p:sp>
      <p:sp>
        <p:nvSpPr>
          <p:cNvPr id="10" name="Step card"/>
          <p:cNvSpPr/>
          <p:nvPr/>
        </p:nvSpPr>
        <p:spPr>
          <a:xfrm>
            <a:off x="2560320" y="1188720"/>
            <a:ext cx="1920240" cy="2514600"/>
          </a:xfrm>
          <a:prstGeom prst="roundRect">
            <a:avLst>
              <a:gd name="adj" fmla="val 3810"/>
            </a:avLst>
          </a:prstGeom>
          <a:solidFill>
            <a:schemeClr val="bg2"/>
          </a:solidFill>
          <a:ln/>
        </p:spPr>
      </p:sp>
      <p:sp>
        <p:nvSpPr>
          <p:cNvPr id="11" name="Step icon"/>
          <p:cNvSpPr/>
          <p:nvPr/>
        </p:nvSpPr>
        <p:spPr>
          <a:xfrm>
            <a:off x="2697480" y="1325880"/>
            <a:ext cx="640080" cy="640080"/>
          </a:xfrm>
          <a:prstGeom prst="ellipse">
            <a:avLst/>
          </a:prstGeom>
          <a:solidFill>
            <a:schemeClr val="accent1"/>
          </a:solidFill>
          <a:ln/>
        </p:spPr>
      </p:sp>
      <p:pic>
        <p:nvPicPr>
          <p:cNvPr id="12" name="Image 1" descr="ShieldAlt icon">    </p:cNvPr>
          <p:cNvPicPr>
            <a:picLocks noChangeAspect="1"/>
          </p:cNvPicPr>
          <p:nvPr/>
        </p:nvPicPr>
        <p:blipFill>
          <a:blip r:embed="rId2"/>
          <a:stretch>
            <a:fillRect/>
          </a:stretch>
        </p:blipFill>
        <p:spPr>
          <a:xfrm>
            <a:off x="2863901" y="1492301"/>
            <a:ext cx="307238" cy="307238"/>
          </a:xfrm>
          <a:prstGeom prst="rect">
            <a:avLst/>
          </a:prstGeom>
        </p:spPr>
      </p:pic>
      <p:sp>
        <p:nvSpPr>
          <p:cNvPr id="13" name="Text 8"/>
          <p:cNvSpPr txBox="1"/>
          <p:nvPr/>
        </p:nvSpPr>
        <p:spPr>
          <a:xfrm>
            <a:off x="3977640" y="1325880"/>
            <a:ext cx="365760" cy="365760"/>
          </a:xfrm>
          <a:prstGeom prst="rect">
            <a:avLst/>
          </a:prstGeom>
          <a:noFill/>
          <a:ln/>
        </p:spPr>
        <p:txBody>
          <a:bodyPr wrap="square" lIns="0" tIns="0" rIns="0" bIns="0" rtlCol="0" anchor="t"/>
          <a:lstStyle/>
          <a:p>
            <a:pPr algn="r" indent="0" marL="0">
              <a:buNone/>
            </a:pPr>
            <a:r>
              <a:rPr lang="en-US" sz="2400" b="1" dirty="0">
                <a:solidFill>
                  <a:schemeClr val="accent6"/>
                </a:solidFill>
              </a:rPr>
              <a:t>2</a:t>
            </a:r>
            <a:endParaRPr lang="en-US" sz="2400" dirty="0"/>
          </a:p>
        </p:txBody>
      </p:sp>
      <p:sp>
        <p:nvSpPr>
          <p:cNvPr id="14" name="Text 9"/>
          <p:cNvSpPr txBox="1"/>
          <p:nvPr/>
        </p:nvSpPr>
        <p:spPr>
          <a:xfrm>
            <a:off x="2697480" y="2103120"/>
            <a:ext cx="1645920" cy="365760"/>
          </a:xfrm>
          <a:prstGeom prst="rect">
            <a:avLst/>
          </a:prstGeom>
          <a:noFill/>
          <a:ln/>
        </p:spPr>
        <p:txBody>
          <a:bodyPr wrap="square" lIns="0" tIns="0" rIns="0" bIns="0" rtlCol="0" anchor="t"/>
          <a:lstStyle/>
          <a:p>
            <a:pPr indent="0" marL="0">
              <a:buNone/>
            </a:pPr>
            <a:r>
              <a:rPr lang="en-US" sz="2000" b="1" dirty="0">
                <a:solidFill>
                  <a:schemeClr val="tx1"/>
                </a:solidFill>
              </a:rPr>
              <a:t>Constrain</a:t>
            </a:r>
            <a:endParaRPr lang="en-US" sz="2000" dirty="0"/>
          </a:p>
        </p:txBody>
      </p:sp>
      <p:sp>
        <p:nvSpPr>
          <p:cNvPr id="15" name="Text 10"/>
          <p:cNvSpPr txBox="1"/>
          <p:nvPr/>
        </p:nvSpPr>
        <p:spPr>
          <a:xfrm>
            <a:off x="2697480" y="2560320"/>
            <a:ext cx="1645920" cy="1005840"/>
          </a:xfrm>
          <a:prstGeom prst="rect">
            <a:avLst/>
          </a:prstGeom>
          <a:noFill/>
          <a:ln/>
        </p:spPr>
        <p:txBody>
          <a:bodyPr wrap="square" lIns="0" tIns="0" rIns="0" bIns="0" rtlCol="0" anchor="t"/>
          <a:lstStyle/>
          <a:p>
            <a:pPr indent="0" marL="0">
              <a:buNone/>
            </a:pPr>
            <a:r>
              <a:rPr lang="en-US" sz="1400" dirty="0">
                <a:solidFill>
                  <a:schemeClr val="tx1"/>
                </a:solidFill>
              </a:rPr>
              <a:t>Keys, CHECK, UNIQUE, DEFAULT and triggers</a:t>
            </a:r>
            <a:endParaRPr lang="en-US" sz="1400" dirty="0"/>
          </a:p>
        </p:txBody>
      </p:sp>
      <p:sp>
        <p:nvSpPr>
          <p:cNvPr id="16" name="Step card"/>
          <p:cNvSpPr/>
          <p:nvPr/>
        </p:nvSpPr>
        <p:spPr>
          <a:xfrm>
            <a:off x="4663440" y="1188720"/>
            <a:ext cx="1920240" cy="2514600"/>
          </a:xfrm>
          <a:prstGeom prst="roundRect">
            <a:avLst>
              <a:gd name="adj" fmla="val 3810"/>
            </a:avLst>
          </a:prstGeom>
          <a:solidFill>
            <a:schemeClr val="bg2"/>
          </a:solidFill>
          <a:ln/>
        </p:spPr>
      </p:sp>
      <p:sp>
        <p:nvSpPr>
          <p:cNvPr id="17" name="Step icon"/>
          <p:cNvSpPr/>
          <p:nvPr/>
        </p:nvSpPr>
        <p:spPr>
          <a:xfrm>
            <a:off x="4800600" y="1325880"/>
            <a:ext cx="640080" cy="640080"/>
          </a:xfrm>
          <a:prstGeom prst="ellipse">
            <a:avLst/>
          </a:prstGeom>
          <a:solidFill>
            <a:schemeClr val="accent4"/>
          </a:solidFill>
          <a:ln/>
        </p:spPr>
      </p:sp>
      <p:pic>
        <p:nvPicPr>
          <p:cNvPr id="18" name="Image 2" descr="Table icon">    </p:cNvPr>
          <p:cNvPicPr>
            <a:picLocks noChangeAspect="1"/>
          </p:cNvPicPr>
          <p:nvPr/>
        </p:nvPicPr>
        <p:blipFill>
          <a:blip r:embed="rId3"/>
          <a:stretch>
            <a:fillRect/>
          </a:stretch>
        </p:blipFill>
        <p:spPr>
          <a:xfrm>
            <a:off x="4967021" y="1492301"/>
            <a:ext cx="307238" cy="307238"/>
          </a:xfrm>
          <a:prstGeom prst="rect">
            <a:avLst/>
          </a:prstGeom>
        </p:spPr>
      </p:pic>
      <p:sp>
        <p:nvSpPr>
          <p:cNvPr id="19" name="Text 13"/>
          <p:cNvSpPr txBox="1"/>
          <p:nvPr/>
        </p:nvSpPr>
        <p:spPr>
          <a:xfrm>
            <a:off x="6080760" y="1325880"/>
            <a:ext cx="365760" cy="365760"/>
          </a:xfrm>
          <a:prstGeom prst="rect">
            <a:avLst/>
          </a:prstGeom>
          <a:noFill/>
          <a:ln/>
        </p:spPr>
        <p:txBody>
          <a:bodyPr wrap="square" lIns="0" tIns="0" rIns="0" bIns="0" rtlCol="0" anchor="t"/>
          <a:lstStyle/>
          <a:p>
            <a:pPr algn="r" indent="0" marL="0">
              <a:buNone/>
            </a:pPr>
            <a:r>
              <a:rPr lang="en-US" sz="2400" b="1" dirty="0">
                <a:solidFill>
                  <a:schemeClr val="accent6"/>
                </a:solidFill>
              </a:rPr>
              <a:t>3</a:t>
            </a:r>
            <a:endParaRPr lang="en-US" sz="2400" dirty="0"/>
          </a:p>
        </p:txBody>
      </p:sp>
      <p:sp>
        <p:nvSpPr>
          <p:cNvPr id="20" name="Text 14"/>
          <p:cNvSpPr txBox="1"/>
          <p:nvPr/>
        </p:nvSpPr>
        <p:spPr>
          <a:xfrm>
            <a:off x="4800600" y="2103120"/>
            <a:ext cx="1645920" cy="365760"/>
          </a:xfrm>
          <a:prstGeom prst="rect">
            <a:avLst/>
          </a:prstGeom>
          <a:noFill/>
          <a:ln/>
        </p:spPr>
        <p:txBody>
          <a:bodyPr wrap="square" lIns="0" tIns="0" rIns="0" bIns="0" rtlCol="0" anchor="t"/>
          <a:lstStyle/>
          <a:p>
            <a:pPr indent="0" marL="0">
              <a:buNone/>
            </a:pPr>
            <a:r>
              <a:rPr lang="en-US" sz="2000" b="1" dirty="0">
                <a:solidFill>
                  <a:schemeClr val="tx1"/>
                </a:solidFill>
              </a:rPr>
              <a:t>Populate</a:t>
            </a:r>
            <a:endParaRPr lang="en-US" sz="2000" dirty="0"/>
          </a:p>
        </p:txBody>
      </p:sp>
      <p:sp>
        <p:nvSpPr>
          <p:cNvPr id="21" name="Text 15"/>
          <p:cNvSpPr txBox="1"/>
          <p:nvPr/>
        </p:nvSpPr>
        <p:spPr>
          <a:xfrm>
            <a:off x="4800600" y="2560320"/>
            <a:ext cx="1645920" cy="1005840"/>
          </a:xfrm>
          <a:prstGeom prst="rect">
            <a:avLst/>
          </a:prstGeom>
          <a:noFill/>
          <a:ln/>
        </p:spPr>
        <p:txBody>
          <a:bodyPr wrap="square" lIns="0" tIns="0" rIns="0" bIns="0" rtlCol="0" anchor="t"/>
          <a:lstStyle/>
          <a:p>
            <a:pPr indent="0" marL="0">
              <a:buNone/>
            </a:pPr>
            <a:r>
              <a:rPr lang="en-US" sz="1400" dirty="0">
                <a:solidFill>
                  <a:schemeClr val="tx1"/>
                </a:solidFill>
              </a:rPr>
              <a:t>286 realistic rows across all tables</a:t>
            </a:r>
            <a:endParaRPr lang="en-US" sz="1400" dirty="0"/>
          </a:p>
        </p:txBody>
      </p:sp>
      <p:sp>
        <p:nvSpPr>
          <p:cNvPr id="22" name="Step card"/>
          <p:cNvSpPr/>
          <p:nvPr/>
        </p:nvSpPr>
        <p:spPr>
          <a:xfrm>
            <a:off x="6766560" y="1188720"/>
            <a:ext cx="1920240" cy="2514600"/>
          </a:xfrm>
          <a:prstGeom prst="roundRect">
            <a:avLst>
              <a:gd name="adj" fmla="val 3810"/>
            </a:avLst>
          </a:prstGeom>
          <a:solidFill>
            <a:schemeClr val="bg2"/>
          </a:solidFill>
          <a:ln/>
        </p:spPr>
      </p:sp>
      <p:sp>
        <p:nvSpPr>
          <p:cNvPr id="23" name="Step icon"/>
          <p:cNvSpPr/>
          <p:nvPr/>
        </p:nvSpPr>
        <p:spPr>
          <a:xfrm>
            <a:off x="6903720" y="1325880"/>
            <a:ext cx="640080" cy="640080"/>
          </a:xfrm>
          <a:prstGeom prst="ellipse">
            <a:avLst/>
          </a:prstGeom>
          <a:solidFill>
            <a:schemeClr val="accent6"/>
          </a:solidFill>
          <a:ln/>
        </p:spPr>
      </p:sp>
      <p:pic>
        <p:nvPicPr>
          <p:cNvPr id="24" name="Image 3" descr="Search icon">    </p:cNvPr>
          <p:cNvPicPr>
            <a:picLocks noChangeAspect="1"/>
          </p:cNvPicPr>
          <p:nvPr/>
        </p:nvPicPr>
        <p:blipFill>
          <a:blip r:embed="rId4"/>
          <a:stretch>
            <a:fillRect/>
          </a:stretch>
        </p:blipFill>
        <p:spPr>
          <a:xfrm>
            <a:off x="7070141" y="1492301"/>
            <a:ext cx="307238" cy="307238"/>
          </a:xfrm>
          <a:prstGeom prst="rect">
            <a:avLst/>
          </a:prstGeom>
        </p:spPr>
      </p:pic>
      <p:sp>
        <p:nvSpPr>
          <p:cNvPr id="25" name="Text 18"/>
          <p:cNvSpPr txBox="1"/>
          <p:nvPr/>
        </p:nvSpPr>
        <p:spPr>
          <a:xfrm>
            <a:off x="8183880" y="1325880"/>
            <a:ext cx="365760" cy="365760"/>
          </a:xfrm>
          <a:prstGeom prst="rect">
            <a:avLst/>
          </a:prstGeom>
          <a:noFill/>
          <a:ln/>
        </p:spPr>
        <p:txBody>
          <a:bodyPr wrap="square" lIns="0" tIns="0" rIns="0" bIns="0" rtlCol="0" anchor="t"/>
          <a:lstStyle/>
          <a:p>
            <a:pPr algn="r" indent="0" marL="0">
              <a:buNone/>
            </a:pPr>
            <a:r>
              <a:rPr lang="en-US" sz="2400" b="1" dirty="0">
                <a:solidFill>
                  <a:schemeClr val="accent6"/>
                </a:solidFill>
              </a:rPr>
              <a:t>4</a:t>
            </a:r>
            <a:endParaRPr lang="en-US" sz="2400" dirty="0"/>
          </a:p>
        </p:txBody>
      </p:sp>
      <p:sp>
        <p:nvSpPr>
          <p:cNvPr id="26" name="Text 19"/>
          <p:cNvSpPr txBox="1"/>
          <p:nvPr/>
        </p:nvSpPr>
        <p:spPr>
          <a:xfrm>
            <a:off x="6903720" y="2103120"/>
            <a:ext cx="1645920" cy="365760"/>
          </a:xfrm>
          <a:prstGeom prst="rect">
            <a:avLst/>
          </a:prstGeom>
          <a:noFill/>
          <a:ln/>
        </p:spPr>
        <p:txBody>
          <a:bodyPr wrap="square" lIns="0" tIns="0" rIns="0" bIns="0" rtlCol="0" anchor="t"/>
          <a:lstStyle/>
          <a:p>
            <a:pPr indent="0" marL="0">
              <a:buNone/>
            </a:pPr>
            <a:r>
              <a:rPr lang="en-US" sz="2000" b="1" dirty="0">
                <a:solidFill>
                  <a:schemeClr val="tx1"/>
                </a:solidFill>
              </a:rPr>
              <a:t>Query</a:t>
            </a:r>
            <a:endParaRPr lang="en-US" sz="2000" dirty="0"/>
          </a:p>
        </p:txBody>
      </p:sp>
      <p:sp>
        <p:nvSpPr>
          <p:cNvPr id="27" name="Text 20"/>
          <p:cNvSpPr txBox="1"/>
          <p:nvPr/>
        </p:nvSpPr>
        <p:spPr>
          <a:xfrm>
            <a:off x="6903720" y="2560320"/>
            <a:ext cx="1645920" cy="1005840"/>
          </a:xfrm>
          <a:prstGeom prst="rect">
            <a:avLst/>
          </a:prstGeom>
          <a:noFill/>
          <a:ln/>
        </p:spPr>
        <p:txBody>
          <a:bodyPr wrap="square" lIns="0" tIns="0" rIns="0" bIns="0" rtlCol="0" anchor="t"/>
          <a:lstStyle/>
          <a:p>
            <a:pPr indent="0" marL="0">
              <a:buNone/>
            </a:pPr>
            <a:r>
              <a:rPr lang="en-US" sz="1400" dirty="0">
                <a:solidFill>
                  <a:schemeClr val="tx1"/>
                </a:solidFill>
              </a:rPr>
              <a:t>Joins, subqueries, aggregates and 6 views</a:t>
            </a:r>
            <a:endParaRPr lang="en-US" sz="1400" dirty="0"/>
          </a:p>
        </p:txBody>
      </p:sp>
      <p:sp>
        <p:nvSpPr>
          <p:cNvPr id="28" name="Recap strip"/>
          <p:cNvSpPr/>
          <p:nvPr/>
        </p:nvSpPr>
        <p:spPr>
          <a:xfrm>
            <a:off x="457200" y="3931920"/>
            <a:ext cx="8229600" cy="594360"/>
          </a:xfrm>
          <a:prstGeom prst="roundRect">
            <a:avLst>
              <a:gd name="adj" fmla="val 12308"/>
            </a:avLst>
          </a:prstGeom>
          <a:solidFill>
            <a:schemeClr val="tx1"/>
          </a:solidFill>
          <a:ln/>
        </p:spPr>
      </p:sp>
      <p:sp>
        <p:nvSpPr>
          <p:cNvPr id="29" name="Text 22"/>
          <p:cNvSpPr txBox="1"/>
          <p:nvPr/>
        </p:nvSpPr>
        <p:spPr>
          <a:xfrm>
            <a:off x="685800" y="3931920"/>
            <a:ext cx="7772400" cy="594360"/>
          </a:xfrm>
          <a:prstGeom prst="rect">
            <a:avLst/>
          </a:prstGeom>
          <a:noFill/>
          <a:ln/>
        </p:spPr>
        <p:txBody>
          <a:bodyPr wrap="square" lIns="0" tIns="0" rIns="0" bIns="0" rtlCol="0" anchor="ctr"/>
          <a:lstStyle/>
          <a:p>
            <a:pPr indent="0" marL="0">
              <a:buNone/>
            </a:pPr>
            <a:r>
              <a:rPr lang="en-US" sz="1600" b="1" dirty="0">
                <a:solidFill>
                  <a:schemeClr val="accent2"/>
                </a:solidFill>
              </a:rPr>
              <a:t>Review 1 recap:  </a:t>
            </a:r>
            <a:pPr indent="0" marL="0">
              <a:buNone/>
            </a:pPr>
            <a:r>
              <a:rPr lang="en-US" sz="1600" dirty="0">
                <a:solidFill>
                  <a:schemeClr val="bg1"/>
                </a:solidFill>
              </a:rPr>
              <a:t>11 entities  &gt;  13 tables  |  5 business rules to enforce</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Why Normalize?</a:t>
            </a:r>
            <a:endParaRPr lang="en-US" sz="3200" dirty="0"/>
          </a:p>
        </p:txBody>
      </p:sp>
      <p:graphicFrame>
        <p:nvGraphicFramePr>
          <p:cNvPr id="4" name="Flat sheet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377440"/>
                <a:gridCol w="1828800"/>
                <a:gridCol w="1280160"/>
                <a:gridCol w="1371600"/>
                <a:gridCol w="1371600"/>
              </a:tblGrid>
              <a:tr h="347472">
                <a:tc>
                  <a:txBody>
                    <a:bodyPr/>
                    <a:lstStyle/>
                    <a:p>
                      <a:pPr indent="0" marL="0">
                        <a:buNone/>
                      </a:pPr>
                      <a:r>
                        <a:rPr lang="en-US" sz="1400" b="1" dirty="0">
                          <a:solidFill>
                            <a:schemeClr val="bg1"/>
                          </a:solidFill>
                        </a:rPr>
                        <a:t>Project</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Researcher</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Dept</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Agency</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Grant (lakh)</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r>
              <a:tr h="347472">
                <a:tc>
                  <a:txBody>
                    <a:bodyPr/>
                    <a:lstStyle/>
                    <a:p>
                      <a:pPr indent="0" marL="0">
                        <a:buNone/>
                      </a:pPr>
                      <a:r>
                        <a:rPr lang="en-US" sz="1400" dirty="0">
                          <a:solidFill>
                            <a:schemeClr val="tx1"/>
                          </a:solidFill>
                        </a:rPr>
                        <a:t>AI Crop Detection</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Dr. A. Rao</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CSE</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SERB</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18.0</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347472">
                <a:tc>
                  <a:txBody>
                    <a:bodyPr/>
                    <a:lstStyle/>
                    <a:p>
                      <a:pPr indent="0" marL="0">
                        <a:buNone/>
                      </a:pPr>
                      <a:r>
                        <a:rPr lang="en-US" sz="1400" dirty="0">
                          <a:solidFill>
                            <a:schemeClr val="tx1"/>
                          </a:solidFill>
                        </a:rPr>
                        <a:t>AI Crop Detection</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rgbClr val="FCE9C8"/>
                    </a:solidFill>
                  </a:tcPr>
                </a:tc>
                <a:tc>
                  <a:txBody>
                    <a:bodyPr/>
                    <a:lstStyle/>
                    <a:p>
                      <a:pPr indent="0" marL="0">
                        <a:buNone/>
                      </a:pPr>
                      <a:r>
                        <a:rPr lang="en-US" sz="1400" dirty="0">
                          <a:solidFill>
                            <a:schemeClr val="tx1"/>
                          </a:solidFill>
                        </a:rPr>
                        <a:t>Dr. S. Iyer</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CSE</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rgbClr val="FCE9C8"/>
                    </a:solidFill>
                  </a:tcPr>
                </a:tc>
                <a:tc>
                  <a:txBody>
                    <a:bodyPr/>
                    <a:lstStyle/>
                    <a:p>
                      <a:pPr indent="0" marL="0">
                        <a:buNone/>
                      </a:pPr>
                      <a:r>
                        <a:rPr lang="en-US" sz="1400" dirty="0">
                          <a:solidFill>
                            <a:schemeClr val="tx1"/>
                          </a:solidFill>
                        </a:rPr>
                        <a:t>SERB</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rgbClr val="FCE9C8"/>
                    </a:solidFill>
                  </a:tcPr>
                </a:tc>
                <a:tc>
                  <a:txBody>
                    <a:bodyPr/>
                    <a:lstStyle/>
                    <a:p>
                      <a:pPr indent="0" marL="0">
                        <a:buNone/>
                      </a:pPr>
                      <a:r>
                        <a:rPr lang="en-US" sz="1400" dirty="0">
                          <a:solidFill>
                            <a:schemeClr val="tx1"/>
                          </a:solidFill>
                        </a:rPr>
                        <a:t>18.0</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rgbClr val="FCE9C8"/>
                    </a:solidFill>
                  </a:tcPr>
                </a:tc>
              </a:tr>
              <a:tr h="347472">
                <a:tc>
                  <a:txBody>
                    <a:bodyPr/>
                    <a:lstStyle/>
                    <a:p>
                      <a:pPr indent="0" marL="0">
                        <a:buNone/>
                      </a:pPr>
                      <a:r>
                        <a:rPr lang="en-US" sz="1400" dirty="0">
                          <a:solidFill>
                            <a:schemeClr val="tx1"/>
                          </a:solidFill>
                        </a:rPr>
                        <a:t>Wearable ECG</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Dr. M. Khan</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ECE</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DST</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22.0</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457200" y="2697480"/>
            <a:ext cx="8229600" cy="274320"/>
          </a:xfrm>
          <a:prstGeom prst="rect">
            <a:avLst/>
          </a:prstGeom>
          <a:noFill/>
          <a:ln/>
        </p:spPr>
        <p:txBody>
          <a:bodyPr wrap="square" lIns="0" tIns="0" rIns="0" bIns="0" rtlCol="0" anchor="t"/>
          <a:lstStyle/>
          <a:p>
            <a:pPr indent="0" marL="0">
              <a:buNone/>
            </a:pPr>
            <a:r>
              <a:rPr lang="en-US" sz="1400" dirty="0">
                <a:solidFill>
                  <a:schemeClr val="accent6"/>
                </a:solidFill>
              </a:rPr>
              <a:t>Highlighted cells repeat for every investigator on the same project.</a:t>
            </a:r>
            <a:endParaRPr lang="en-US" sz="1400" dirty="0"/>
          </a:p>
        </p:txBody>
      </p:sp>
      <p:sp>
        <p:nvSpPr>
          <p:cNvPr id="6" name="Anomaly card"/>
          <p:cNvSpPr/>
          <p:nvPr/>
        </p:nvSpPr>
        <p:spPr>
          <a:xfrm>
            <a:off x="457200" y="3200400"/>
            <a:ext cx="2651760" cy="1325880"/>
          </a:xfrm>
          <a:prstGeom prst="roundRect">
            <a:avLst>
              <a:gd name="adj" fmla="val 5517"/>
            </a:avLst>
          </a:prstGeom>
          <a:solidFill>
            <a:schemeClr val="bg2"/>
          </a:solidFill>
          <a:ln/>
        </p:spPr>
      </p:sp>
      <p:sp>
        <p:nvSpPr>
          <p:cNvPr id="7" name="Anomaly icon"/>
          <p:cNvSpPr/>
          <p:nvPr/>
        </p:nvSpPr>
        <p:spPr>
          <a:xfrm>
            <a:off x="594360" y="3337560"/>
            <a:ext cx="457200" cy="457200"/>
          </a:xfrm>
          <a:prstGeom prst="ellipse">
            <a:avLst/>
          </a:prstGeom>
          <a:solidFill>
            <a:schemeClr val="accent5"/>
          </a:solidFill>
          <a:ln/>
        </p:spPr>
      </p:sp>
      <p:pic>
        <p:nvPicPr>
          <p:cNvPr id="8" name="Image 0" descr="Edit icon">    </p:cNvPr>
          <p:cNvPicPr>
            <a:picLocks noChangeAspect="1"/>
          </p:cNvPicPr>
          <p:nvPr/>
        </p:nvPicPr>
        <p:blipFill>
          <a:blip r:embed="rId1"/>
          <a:stretch>
            <a:fillRect/>
          </a:stretch>
        </p:blipFill>
        <p:spPr>
          <a:xfrm>
            <a:off x="713232" y="3456432"/>
            <a:ext cx="219456" cy="219456"/>
          </a:xfrm>
          <a:prstGeom prst="rect">
            <a:avLst/>
          </a:prstGeom>
        </p:spPr>
      </p:pic>
      <p:sp>
        <p:nvSpPr>
          <p:cNvPr id="9" name="Text 4"/>
          <p:cNvSpPr txBox="1"/>
          <p:nvPr/>
        </p:nvSpPr>
        <p:spPr>
          <a:xfrm>
            <a:off x="1170432" y="3337560"/>
            <a:ext cx="1828800" cy="457200"/>
          </a:xfrm>
          <a:prstGeom prst="rect">
            <a:avLst/>
          </a:prstGeom>
          <a:noFill/>
          <a:ln/>
        </p:spPr>
        <p:txBody>
          <a:bodyPr wrap="square" lIns="0" tIns="0" rIns="0" bIns="0" rtlCol="0" anchor="ctr"/>
          <a:lstStyle/>
          <a:p>
            <a:pPr indent="0" marL="0">
              <a:buNone/>
            </a:pPr>
            <a:r>
              <a:rPr lang="en-US" sz="1600" b="1" dirty="0">
                <a:solidFill>
                  <a:schemeClr val="tx1"/>
                </a:solidFill>
              </a:rPr>
              <a:t>Update anomaly</a:t>
            </a:r>
            <a:endParaRPr lang="en-US" sz="1600" dirty="0"/>
          </a:p>
        </p:txBody>
      </p:sp>
      <p:sp>
        <p:nvSpPr>
          <p:cNvPr id="10" name="Text 5"/>
          <p:cNvSpPr txBox="1"/>
          <p:nvPr/>
        </p:nvSpPr>
        <p:spPr>
          <a:xfrm>
            <a:off x="594360" y="3886200"/>
            <a:ext cx="2377440" cy="594360"/>
          </a:xfrm>
          <a:prstGeom prst="rect">
            <a:avLst/>
          </a:prstGeom>
          <a:noFill/>
          <a:ln/>
        </p:spPr>
        <p:txBody>
          <a:bodyPr wrap="square" lIns="0" tIns="0" rIns="0" bIns="0" rtlCol="0" anchor="t"/>
          <a:lstStyle/>
          <a:p>
            <a:pPr indent="0" marL="0">
              <a:buNone/>
            </a:pPr>
            <a:r>
              <a:rPr lang="en-US" sz="1400" dirty="0">
                <a:solidFill>
                  <a:schemeClr val="tx1"/>
                </a:solidFill>
              </a:rPr>
              <a:t>Rename a department and every matching row must change.</a:t>
            </a:r>
            <a:endParaRPr lang="en-US" sz="1400" dirty="0"/>
          </a:p>
        </p:txBody>
      </p:sp>
      <p:sp>
        <p:nvSpPr>
          <p:cNvPr id="11" name="Anomaly card"/>
          <p:cNvSpPr/>
          <p:nvPr/>
        </p:nvSpPr>
        <p:spPr>
          <a:xfrm>
            <a:off x="3246120" y="3200400"/>
            <a:ext cx="2651760" cy="1325880"/>
          </a:xfrm>
          <a:prstGeom prst="roundRect">
            <a:avLst>
              <a:gd name="adj" fmla="val 5517"/>
            </a:avLst>
          </a:prstGeom>
          <a:solidFill>
            <a:schemeClr val="bg2"/>
          </a:solidFill>
          <a:ln/>
        </p:spPr>
      </p:sp>
      <p:sp>
        <p:nvSpPr>
          <p:cNvPr id="12" name="Anomaly icon"/>
          <p:cNvSpPr/>
          <p:nvPr/>
        </p:nvSpPr>
        <p:spPr>
          <a:xfrm>
            <a:off x="3383280" y="3337560"/>
            <a:ext cx="457200" cy="457200"/>
          </a:xfrm>
          <a:prstGeom prst="ellipse">
            <a:avLst/>
          </a:prstGeom>
          <a:solidFill>
            <a:schemeClr val="accent5"/>
          </a:solidFill>
          <a:ln/>
        </p:spPr>
      </p:sp>
      <p:pic>
        <p:nvPicPr>
          <p:cNvPr id="13" name="Image 1" descr="PlusCircle icon">    </p:cNvPr>
          <p:cNvPicPr>
            <a:picLocks noChangeAspect="1"/>
          </p:cNvPicPr>
          <p:nvPr/>
        </p:nvPicPr>
        <p:blipFill>
          <a:blip r:embed="rId2"/>
          <a:stretch>
            <a:fillRect/>
          </a:stretch>
        </p:blipFill>
        <p:spPr>
          <a:xfrm>
            <a:off x="3502152" y="3456432"/>
            <a:ext cx="219456" cy="219456"/>
          </a:xfrm>
          <a:prstGeom prst="rect">
            <a:avLst/>
          </a:prstGeom>
        </p:spPr>
      </p:pic>
      <p:sp>
        <p:nvSpPr>
          <p:cNvPr id="14" name="Text 8"/>
          <p:cNvSpPr txBox="1"/>
          <p:nvPr/>
        </p:nvSpPr>
        <p:spPr>
          <a:xfrm>
            <a:off x="3959352" y="3337560"/>
            <a:ext cx="1828800" cy="457200"/>
          </a:xfrm>
          <a:prstGeom prst="rect">
            <a:avLst/>
          </a:prstGeom>
          <a:noFill/>
          <a:ln/>
        </p:spPr>
        <p:txBody>
          <a:bodyPr wrap="square" lIns="0" tIns="0" rIns="0" bIns="0" rtlCol="0" anchor="ctr"/>
          <a:lstStyle/>
          <a:p>
            <a:pPr indent="0" marL="0">
              <a:buNone/>
            </a:pPr>
            <a:r>
              <a:rPr lang="en-US" sz="1600" b="1" dirty="0">
                <a:solidFill>
                  <a:schemeClr val="tx1"/>
                </a:solidFill>
              </a:rPr>
              <a:t>Insert anomaly</a:t>
            </a:r>
            <a:endParaRPr lang="en-US" sz="1600" dirty="0"/>
          </a:p>
        </p:txBody>
      </p:sp>
      <p:sp>
        <p:nvSpPr>
          <p:cNvPr id="15" name="Text 9"/>
          <p:cNvSpPr txBox="1"/>
          <p:nvPr/>
        </p:nvSpPr>
        <p:spPr>
          <a:xfrm>
            <a:off x="3383280" y="3886200"/>
            <a:ext cx="2377440" cy="594360"/>
          </a:xfrm>
          <a:prstGeom prst="rect">
            <a:avLst/>
          </a:prstGeom>
          <a:noFill/>
          <a:ln/>
        </p:spPr>
        <p:txBody>
          <a:bodyPr wrap="square" lIns="0" tIns="0" rIns="0" bIns="0" rtlCol="0" anchor="t"/>
          <a:lstStyle/>
          <a:p>
            <a:pPr indent="0" marL="0">
              <a:buNone/>
            </a:pPr>
            <a:r>
              <a:rPr lang="en-US" sz="1400" dirty="0">
                <a:solidFill>
                  <a:schemeClr val="tx1"/>
                </a:solidFill>
              </a:rPr>
              <a:t>A new researcher cannot be stored until a project exists.</a:t>
            </a:r>
            <a:endParaRPr lang="en-US" sz="1400" dirty="0"/>
          </a:p>
        </p:txBody>
      </p:sp>
      <p:sp>
        <p:nvSpPr>
          <p:cNvPr id="16" name="Anomaly card"/>
          <p:cNvSpPr/>
          <p:nvPr/>
        </p:nvSpPr>
        <p:spPr>
          <a:xfrm>
            <a:off x="6035040" y="3200400"/>
            <a:ext cx="2651760" cy="1325880"/>
          </a:xfrm>
          <a:prstGeom prst="roundRect">
            <a:avLst>
              <a:gd name="adj" fmla="val 5517"/>
            </a:avLst>
          </a:prstGeom>
          <a:solidFill>
            <a:schemeClr val="bg2"/>
          </a:solidFill>
          <a:ln/>
        </p:spPr>
      </p:sp>
      <p:sp>
        <p:nvSpPr>
          <p:cNvPr id="17" name="Anomaly icon"/>
          <p:cNvSpPr/>
          <p:nvPr/>
        </p:nvSpPr>
        <p:spPr>
          <a:xfrm>
            <a:off x="6172200" y="3337560"/>
            <a:ext cx="457200" cy="457200"/>
          </a:xfrm>
          <a:prstGeom prst="ellipse">
            <a:avLst/>
          </a:prstGeom>
          <a:solidFill>
            <a:schemeClr val="accent5"/>
          </a:solidFill>
          <a:ln/>
        </p:spPr>
      </p:sp>
      <p:pic>
        <p:nvPicPr>
          <p:cNvPr id="18" name="Image 2" descr="TrashAlt icon">    </p:cNvPr>
          <p:cNvPicPr>
            <a:picLocks noChangeAspect="1"/>
          </p:cNvPicPr>
          <p:nvPr/>
        </p:nvPicPr>
        <p:blipFill>
          <a:blip r:embed="rId3"/>
          <a:stretch>
            <a:fillRect/>
          </a:stretch>
        </p:blipFill>
        <p:spPr>
          <a:xfrm>
            <a:off x="6291072" y="3456432"/>
            <a:ext cx="219456" cy="219456"/>
          </a:xfrm>
          <a:prstGeom prst="rect">
            <a:avLst/>
          </a:prstGeom>
        </p:spPr>
      </p:pic>
      <p:sp>
        <p:nvSpPr>
          <p:cNvPr id="19" name="Text 12"/>
          <p:cNvSpPr txBox="1"/>
          <p:nvPr/>
        </p:nvSpPr>
        <p:spPr>
          <a:xfrm>
            <a:off x="6748272" y="3337560"/>
            <a:ext cx="1828800" cy="457200"/>
          </a:xfrm>
          <a:prstGeom prst="rect">
            <a:avLst/>
          </a:prstGeom>
          <a:noFill/>
          <a:ln/>
        </p:spPr>
        <p:txBody>
          <a:bodyPr wrap="square" lIns="0" tIns="0" rIns="0" bIns="0" rtlCol="0" anchor="ctr"/>
          <a:lstStyle/>
          <a:p>
            <a:pPr indent="0" marL="0">
              <a:buNone/>
            </a:pPr>
            <a:r>
              <a:rPr lang="en-US" sz="1600" b="1" dirty="0">
                <a:solidFill>
                  <a:schemeClr val="tx1"/>
                </a:solidFill>
              </a:rPr>
              <a:t>Delete anomaly</a:t>
            </a:r>
            <a:endParaRPr lang="en-US" sz="1600" dirty="0"/>
          </a:p>
        </p:txBody>
      </p:sp>
      <p:sp>
        <p:nvSpPr>
          <p:cNvPr id="20" name="Text 13"/>
          <p:cNvSpPr txBox="1"/>
          <p:nvPr/>
        </p:nvSpPr>
        <p:spPr>
          <a:xfrm>
            <a:off x="6172200" y="3886200"/>
            <a:ext cx="2377440" cy="594360"/>
          </a:xfrm>
          <a:prstGeom prst="rect">
            <a:avLst/>
          </a:prstGeom>
          <a:noFill/>
          <a:ln/>
        </p:spPr>
        <p:txBody>
          <a:bodyPr wrap="square" lIns="0" tIns="0" rIns="0" bIns="0" rtlCol="0" anchor="t"/>
          <a:lstStyle/>
          <a:p>
            <a:pPr indent="0" marL="0">
              <a:buNone/>
            </a:pPr>
            <a:r>
              <a:rPr lang="en-US" sz="1400" dirty="0">
                <a:solidFill>
                  <a:schemeClr val="tx1"/>
                </a:solidFill>
              </a:rPr>
              <a:t>Deleting the last project also erases the researcher.</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The Path to 3NF</a:t>
            </a:r>
            <a:endParaRPr lang="en-US" sz="3200" dirty="0"/>
          </a:p>
        </p:txBody>
      </p:sp>
      <p:sp>
        <p:nvSpPr>
          <p:cNvPr id="4" name="Normal form card"/>
          <p:cNvSpPr/>
          <p:nvPr/>
        </p:nvSpPr>
        <p:spPr>
          <a:xfrm>
            <a:off x="457200" y="1188720"/>
            <a:ext cx="1920240" cy="2788920"/>
          </a:xfrm>
          <a:prstGeom prst="roundRect">
            <a:avLst>
              <a:gd name="adj" fmla="val 3810"/>
            </a:avLst>
          </a:prstGeom>
          <a:solidFill>
            <a:schemeClr val="bg2"/>
          </a:solidFill>
          <a:ln/>
        </p:spPr>
      </p:sp>
      <p:sp>
        <p:nvSpPr>
          <p:cNvPr id="5" name="Normal form header"/>
          <p:cNvSpPr/>
          <p:nvPr/>
        </p:nvSpPr>
        <p:spPr>
          <a:xfrm>
            <a:off x="457200" y="1188720"/>
            <a:ext cx="1920240" cy="1097280"/>
          </a:xfrm>
          <a:prstGeom prst="roundRect">
            <a:avLst>
              <a:gd name="adj" fmla="val 6667"/>
            </a:avLst>
          </a:prstGeom>
          <a:solidFill>
            <a:schemeClr val="accent6"/>
          </a:solidFill>
          <a:ln/>
        </p:spPr>
      </p:sp>
      <p:sp>
        <p:nvSpPr>
          <p:cNvPr id="6" name="Text 3"/>
          <p:cNvSpPr txBox="1"/>
          <p:nvPr/>
        </p:nvSpPr>
        <p:spPr>
          <a:xfrm>
            <a:off x="594360" y="1234440"/>
            <a:ext cx="1645920" cy="457200"/>
          </a:xfrm>
          <a:prstGeom prst="rect">
            <a:avLst/>
          </a:prstGeom>
          <a:noFill/>
          <a:ln/>
        </p:spPr>
        <p:txBody>
          <a:bodyPr wrap="square" lIns="0" tIns="0" rIns="0" bIns="0" rtlCol="0" anchor="ctr"/>
          <a:lstStyle/>
          <a:p>
            <a:pPr indent="0" marL="0">
              <a:buNone/>
            </a:pPr>
            <a:r>
              <a:rPr lang="en-US" sz="2800" b="1" dirty="0">
                <a:solidFill>
                  <a:schemeClr val="bg1"/>
                </a:solidFill>
              </a:rPr>
              <a:t>UNF</a:t>
            </a:r>
            <a:endParaRPr lang="en-US" sz="2800" dirty="0"/>
          </a:p>
        </p:txBody>
      </p:sp>
      <p:sp>
        <p:nvSpPr>
          <p:cNvPr id="7" name="Text 4"/>
          <p:cNvSpPr txBox="1"/>
          <p:nvPr/>
        </p:nvSpPr>
        <p:spPr>
          <a:xfrm>
            <a:off x="594360" y="1691640"/>
            <a:ext cx="1645920" cy="502920"/>
          </a:xfrm>
          <a:prstGeom prst="rect">
            <a:avLst/>
          </a:prstGeom>
          <a:noFill/>
          <a:ln/>
        </p:spPr>
        <p:txBody>
          <a:bodyPr wrap="square" lIns="0" tIns="0" rIns="0" bIns="0" rtlCol="0" anchor="t"/>
          <a:lstStyle/>
          <a:p>
            <a:pPr indent="0" marL="0">
              <a:buNone/>
            </a:pPr>
            <a:r>
              <a:rPr lang="en-US" sz="1300" dirty="0">
                <a:solidFill>
                  <a:schemeClr val="bg1"/>
                </a:solidFill>
              </a:rPr>
              <a:t>Unnormalized</a:t>
            </a:r>
            <a:endParaRPr lang="en-US" sz="1300" dirty="0"/>
          </a:p>
        </p:txBody>
      </p:sp>
      <p:sp>
        <p:nvSpPr>
          <p:cNvPr id="8" name="Text 5"/>
          <p:cNvSpPr txBox="1"/>
          <p:nvPr/>
        </p:nvSpPr>
        <p:spPr>
          <a:xfrm>
            <a:off x="594360" y="2468880"/>
            <a:ext cx="1645920" cy="1417320"/>
          </a:xfrm>
          <a:prstGeom prst="rect">
            <a:avLst/>
          </a:prstGeom>
          <a:noFill/>
          <a:ln/>
        </p:spPr>
        <p:txBody>
          <a:bodyPr wrap="square" lIns="0" tIns="0" rIns="0" bIns="0" rtlCol="0" anchor="t"/>
          <a:lstStyle/>
          <a:p>
            <a:pPr indent="0" marL="0">
              <a:buNone/>
            </a:pPr>
            <a:r>
              <a:rPr lang="en-US" sz="1400" dirty="0">
                <a:solidFill>
                  <a:schemeClr val="tx1"/>
                </a:solidFill>
              </a:rPr>
              <a:t>One flat sheet with repeating groups: many investigators, grants and DOIs per row.</a:t>
            </a:r>
            <a:endParaRPr lang="en-US" sz="1400" dirty="0"/>
          </a:p>
        </p:txBody>
      </p:sp>
      <p:sp>
        <p:nvSpPr>
          <p:cNvPr id="9" name="Normal form card"/>
          <p:cNvSpPr/>
          <p:nvPr/>
        </p:nvSpPr>
        <p:spPr>
          <a:xfrm>
            <a:off x="2560320" y="1188720"/>
            <a:ext cx="1920240" cy="2788920"/>
          </a:xfrm>
          <a:prstGeom prst="roundRect">
            <a:avLst>
              <a:gd name="adj" fmla="val 3810"/>
            </a:avLst>
          </a:prstGeom>
          <a:solidFill>
            <a:schemeClr val="bg2"/>
          </a:solidFill>
          <a:ln/>
        </p:spPr>
      </p:sp>
      <p:sp>
        <p:nvSpPr>
          <p:cNvPr id="10" name="Normal form header"/>
          <p:cNvSpPr/>
          <p:nvPr/>
        </p:nvSpPr>
        <p:spPr>
          <a:xfrm>
            <a:off x="2560320" y="1188720"/>
            <a:ext cx="1920240" cy="1097280"/>
          </a:xfrm>
          <a:prstGeom prst="roundRect">
            <a:avLst>
              <a:gd name="adj" fmla="val 6667"/>
            </a:avLst>
          </a:prstGeom>
          <a:solidFill>
            <a:schemeClr val="accent3"/>
          </a:solidFill>
          <a:ln/>
        </p:spPr>
      </p:sp>
      <p:sp>
        <p:nvSpPr>
          <p:cNvPr id="11" name="Text 8"/>
          <p:cNvSpPr txBox="1"/>
          <p:nvPr/>
        </p:nvSpPr>
        <p:spPr>
          <a:xfrm>
            <a:off x="2697480" y="1234440"/>
            <a:ext cx="1645920" cy="457200"/>
          </a:xfrm>
          <a:prstGeom prst="rect">
            <a:avLst/>
          </a:prstGeom>
          <a:noFill/>
          <a:ln/>
        </p:spPr>
        <p:txBody>
          <a:bodyPr wrap="square" lIns="0" tIns="0" rIns="0" bIns="0" rtlCol="0" anchor="ctr"/>
          <a:lstStyle/>
          <a:p>
            <a:pPr indent="0" marL="0">
              <a:buNone/>
            </a:pPr>
            <a:r>
              <a:rPr lang="en-US" sz="2800" b="1" dirty="0">
                <a:solidFill>
                  <a:schemeClr val="bg1"/>
                </a:solidFill>
              </a:rPr>
              <a:t>1NF</a:t>
            </a:r>
            <a:endParaRPr lang="en-US" sz="2800" dirty="0"/>
          </a:p>
        </p:txBody>
      </p:sp>
      <p:sp>
        <p:nvSpPr>
          <p:cNvPr id="12" name="Text 9"/>
          <p:cNvSpPr txBox="1"/>
          <p:nvPr/>
        </p:nvSpPr>
        <p:spPr>
          <a:xfrm>
            <a:off x="2697480" y="1691640"/>
            <a:ext cx="1645920" cy="502920"/>
          </a:xfrm>
          <a:prstGeom prst="rect">
            <a:avLst/>
          </a:prstGeom>
          <a:noFill/>
          <a:ln/>
        </p:spPr>
        <p:txBody>
          <a:bodyPr wrap="square" lIns="0" tIns="0" rIns="0" bIns="0" rtlCol="0" anchor="t"/>
          <a:lstStyle/>
          <a:p>
            <a:pPr indent="0" marL="0">
              <a:buNone/>
            </a:pPr>
            <a:r>
              <a:rPr lang="en-US" sz="1300" dirty="0">
                <a:solidFill>
                  <a:schemeClr val="bg1"/>
                </a:solidFill>
              </a:rPr>
              <a:t>Atomic values</a:t>
            </a:r>
            <a:endParaRPr lang="en-US" sz="1300" dirty="0"/>
          </a:p>
        </p:txBody>
      </p:sp>
      <p:sp>
        <p:nvSpPr>
          <p:cNvPr id="13" name="Text 10"/>
          <p:cNvSpPr txBox="1"/>
          <p:nvPr/>
        </p:nvSpPr>
        <p:spPr>
          <a:xfrm>
            <a:off x="2697480" y="2468880"/>
            <a:ext cx="1645920" cy="1417320"/>
          </a:xfrm>
          <a:prstGeom prst="rect">
            <a:avLst/>
          </a:prstGeom>
          <a:noFill/>
          <a:ln/>
        </p:spPr>
        <p:txBody>
          <a:bodyPr wrap="square" lIns="0" tIns="0" rIns="0" bIns="0" rtlCol="0" anchor="t"/>
          <a:lstStyle/>
          <a:p>
            <a:pPr indent="0" marL="0">
              <a:buNone/>
            </a:pPr>
            <a:r>
              <a:rPr lang="en-US" sz="1400" dirty="0">
                <a:solidFill>
                  <a:schemeClr val="tx1"/>
                </a:solidFill>
              </a:rPr>
              <a:t>One value per cell. Each repeating group moves into its own rows.</a:t>
            </a:r>
            <a:endParaRPr lang="en-US" sz="1400" dirty="0"/>
          </a:p>
        </p:txBody>
      </p:sp>
      <p:sp>
        <p:nvSpPr>
          <p:cNvPr id="14" name="Normal form card"/>
          <p:cNvSpPr/>
          <p:nvPr/>
        </p:nvSpPr>
        <p:spPr>
          <a:xfrm>
            <a:off x="4663440" y="1188720"/>
            <a:ext cx="1920240" cy="2788920"/>
          </a:xfrm>
          <a:prstGeom prst="roundRect">
            <a:avLst>
              <a:gd name="adj" fmla="val 3810"/>
            </a:avLst>
          </a:prstGeom>
          <a:solidFill>
            <a:schemeClr val="bg2"/>
          </a:solidFill>
          <a:ln/>
        </p:spPr>
      </p:sp>
      <p:sp>
        <p:nvSpPr>
          <p:cNvPr id="15" name="Normal form header"/>
          <p:cNvSpPr/>
          <p:nvPr/>
        </p:nvSpPr>
        <p:spPr>
          <a:xfrm>
            <a:off x="4663440" y="1188720"/>
            <a:ext cx="1920240" cy="1097280"/>
          </a:xfrm>
          <a:prstGeom prst="roundRect">
            <a:avLst>
              <a:gd name="adj" fmla="val 6667"/>
            </a:avLst>
          </a:prstGeom>
          <a:solidFill>
            <a:schemeClr val="accent1"/>
          </a:solidFill>
          <a:ln/>
        </p:spPr>
      </p:sp>
      <p:sp>
        <p:nvSpPr>
          <p:cNvPr id="16" name="Text 13"/>
          <p:cNvSpPr txBox="1"/>
          <p:nvPr/>
        </p:nvSpPr>
        <p:spPr>
          <a:xfrm>
            <a:off x="4800600" y="1234440"/>
            <a:ext cx="1645920" cy="457200"/>
          </a:xfrm>
          <a:prstGeom prst="rect">
            <a:avLst/>
          </a:prstGeom>
          <a:noFill/>
          <a:ln/>
        </p:spPr>
        <p:txBody>
          <a:bodyPr wrap="square" lIns="0" tIns="0" rIns="0" bIns="0" rtlCol="0" anchor="ctr"/>
          <a:lstStyle/>
          <a:p>
            <a:pPr indent="0" marL="0">
              <a:buNone/>
            </a:pPr>
            <a:r>
              <a:rPr lang="en-US" sz="2800" b="1" dirty="0">
                <a:solidFill>
                  <a:schemeClr val="bg1"/>
                </a:solidFill>
              </a:rPr>
              <a:t>2NF</a:t>
            </a:r>
            <a:endParaRPr lang="en-US" sz="2800" dirty="0"/>
          </a:p>
        </p:txBody>
      </p:sp>
      <p:sp>
        <p:nvSpPr>
          <p:cNvPr id="17" name="Text 14"/>
          <p:cNvSpPr txBox="1"/>
          <p:nvPr/>
        </p:nvSpPr>
        <p:spPr>
          <a:xfrm>
            <a:off x="4800600" y="1691640"/>
            <a:ext cx="1645920" cy="502920"/>
          </a:xfrm>
          <a:prstGeom prst="rect">
            <a:avLst/>
          </a:prstGeom>
          <a:noFill/>
          <a:ln/>
        </p:spPr>
        <p:txBody>
          <a:bodyPr wrap="square" lIns="0" tIns="0" rIns="0" bIns="0" rtlCol="0" anchor="t"/>
          <a:lstStyle/>
          <a:p>
            <a:pPr indent="0" marL="0">
              <a:buNone/>
            </a:pPr>
            <a:r>
              <a:rPr lang="en-US" sz="1300" dirty="0">
                <a:solidFill>
                  <a:schemeClr val="bg1"/>
                </a:solidFill>
              </a:rPr>
              <a:t>No partial dependency</a:t>
            </a:r>
            <a:endParaRPr lang="en-US" sz="1300" dirty="0"/>
          </a:p>
        </p:txBody>
      </p:sp>
      <p:sp>
        <p:nvSpPr>
          <p:cNvPr id="18" name="Text 15"/>
          <p:cNvSpPr txBox="1"/>
          <p:nvPr/>
        </p:nvSpPr>
        <p:spPr>
          <a:xfrm>
            <a:off x="4800600" y="2468880"/>
            <a:ext cx="1645920" cy="1417320"/>
          </a:xfrm>
          <a:prstGeom prst="rect">
            <a:avLst/>
          </a:prstGeom>
          <a:noFill/>
          <a:ln/>
        </p:spPr>
        <p:txBody>
          <a:bodyPr wrap="square" lIns="0" tIns="0" rIns="0" bIns="0" rtlCol="0" anchor="t"/>
          <a:lstStyle/>
          <a:p>
            <a:pPr indent="0" marL="0">
              <a:buNone/>
            </a:pPr>
            <a:r>
              <a:rPr lang="en-US" sz="1400" dirty="0">
                <a:solidFill>
                  <a:schemeClr val="tx1"/>
                </a:solidFill>
              </a:rPr>
              <a:t>Researcher details depend on researcher_id alone, not on project plus researcher.</a:t>
            </a:r>
            <a:endParaRPr lang="en-US" sz="1400" dirty="0"/>
          </a:p>
        </p:txBody>
      </p:sp>
      <p:sp>
        <p:nvSpPr>
          <p:cNvPr id="19" name="Normal form card"/>
          <p:cNvSpPr/>
          <p:nvPr/>
        </p:nvSpPr>
        <p:spPr>
          <a:xfrm>
            <a:off x="6766560" y="1188720"/>
            <a:ext cx="1920240" cy="2788920"/>
          </a:xfrm>
          <a:prstGeom prst="roundRect">
            <a:avLst>
              <a:gd name="adj" fmla="val 3810"/>
            </a:avLst>
          </a:prstGeom>
          <a:solidFill>
            <a:schemeClr val="bg2"/>
          </a:solidFill>
          <a:ln/>
        </p:spPr>
      </p:sp>
      <p:sp>
        <p:nvSpPr>
          <p:cNvPr id="20" name="Normal form header"/>
          <p:cNvSpPr/>
          <p:nvPr/>
        </p:nvSpPr>
        <p:spPr>
          <a:xfrm>
            <a:off x="6766560" y="1188720"/>
            <a:ext cx="1920240" cy="1097280"/>
          </a:xfrm>
          <a:prstGeom prst="roundRect">
            <a:avLst>
              <a:gd name="adj" fmla="val 6667"/>
            </a:avLst>
          </a:prstGeom>
          <a:solidFill>
            <a:schemeClr val="accent4"/>
          </a:solidFill>
          <a:ln/>
        </p:spPr>
      </p:sp>
      <p:sp>
        <p:nvSpPr>
          <p:cNvPr id="21" name="Text 18"/>
          <p:cNvSpPr txBox="1"/>
          <p:nvPr/>
        </p:nvSpPr>
        <p:spPr>
          <a:xfrm>
            <a:off x="6903720" y="1234440"/>
            <a:ext cx="1645920" cy="457200"/>
          </a:xfrm>
          <a:prstGeom prst="rect">
            <a:avLst/>
          </a:prstGeom>
          <a:noFill/>
          <a:ln/>
        </p:spPr>
        <p:txBody>
          <a:bodyPr wrap="square" lIns="0" tIns="0" rIns="0" bIns="0" rtlCol="0" anchor="ctr"/>
          <a:lstStyle/>
          <a:p>
            <a:pPr indent="0" marL="0">
              <a:buNone/>
            </a:pPr>
            <a:r>
              <a:rPr lang="en-US" sz="2800" b="1" dirty="0">
                <a:solidFill>
                  <a:schemeClr val="bg1"/>
                </a:solidFill>
              </a:rPr>
              <a:t>3NF</a:t>
            </a:r>
            <a:endParaRPr lang="en-US" sz="2800" dirty="0"/>
          </a:p>
        </p:txBody>
      </p:sp>
      <p:sp>
        <p:nvSpPr>
          <p:cNvPr id="22" name="Text 19"/>
          <p:cNvSpPr txBox="1"/>
          <p:nvPr/>
        </p:nvSpPr>
        <p:spPr>
          <a:xfrm>
            <a:off x="6903720" y="1691640"/>
            <a:ext cx="1645920" cy="502920"/>
          </a:xfrm>
          <a:prstGeom prst="rect">
            <a:avLst/>
          </a:prstGeom>
          <a:noFill/>
          <a:ln/>
        </p:spPr>
        <p:txBody>
          <a:bodyPr wrap="square" lIns="0" tIns="0" rIns="0" bIns="0" rtlCol="0" anchor="t"/>
          <a:lstStyle/>
          <a:p>
            <a:pPr indent="0" marL="0">
              <a:buNone/>
            </a:pPr>
            <a:r>
              <a:rPr lang="en-US" sz="1300" dirty="0">
                <a:solidFill>
                  <a:schemeClr val="bg1"/>
                </a:solidFill>
              </a:rPr>
              <a:t>No transitive dependency</a:t>
            </a:r>
            <a:endParaRPr lang="en-US" sz="1300" dirty="0"/>
          </a:p>
        </p:txBody>
      </p:sp>
      <p:sp>
        <p:nvSpPr>
          <p:cNvPr id="23" name="Text 20"/>
          <p:cNvSpPr txBox="1"/>
          <p:nvPr/>
        </p:nvSpPr>
        <p:spPr>
          <a:xfrm>
            <a:off x="6903720" y="2468880"/>
            <a:ext cx="1645920" cy="1417320"/>
          </a:xfrm>
          <a:prstGeom prst="rect">
            <a:avLst/>
          </a:prstGeom>
          <a:noFill/>
          <a:ln/>
        </p:spPr>
        <p:txBody>
          <a:bodyPr wrap="square" lIns="0" tIns="0" rIns="0" bIns="0" rtlCol="0" anchor="t"/>
          <a:lstStyle/>
          <a:p>
            <a:pPr indent="0" marL="0">
              <a:buNone/>
            </a:pPr>
            <a:r>
              <a:rPr lang="en-US" sz="1400" dirty="0">
                <a:solidFill>
                  <a:schemeClr val="tx1"/>
                </a:solidFill>
              </a:rPr>
              <a:t>dept_name comes via dept_id, agency_name via agency_id. Budget is derived from grants.</a:t>
            </a:r>
            <a:endParaRPr lang="en-US" sz="1400" dirty="0"/>
          </a:p>
        </p:txBody>
      </p:sp>
      <p:sp>
        <p:nvSpPr>
          <p:cNvPr id="24" name="Text 21"/>
          <p:cNvSpPr txBox="1"/>
          <p:nvPr/>
        </p:nvSpPr>
        <p:spPr>
          <a:xfrm>
            <a:off x="457200" y="4160520"/>
            <a:ext cx="8229600" cy="411480"/>
          </a:xfrm>
          <a:prstGeom prst="rect">
            <a:avLst/>
          </a:prstGeom>
          <a:noFill/>
          <a:ln/>
        </p:spPr>
        <p:txBody>
          <a:bodyPr wrap="square" lIns="0" tIns="0" rIns="0" bIns="0" rtlCol="0" anchor="ctr"/>
          <a:lstStyle/>
          <a:p>
            <a:pPr algn="ctr" indent="0" marL="0">
              <a:buNone/>
            </a:pPr>
            <a:r>
              <a:rPr lang="en-US" sz="1600" b="1" i="1" dirty="0">
                <a:solidFill>
                  <a:schemeClr val="accent1"/>
                </a:solidFill>
              </a:rPr>
              <a:t>Every non-key attribute depends on the key, the whole key, and nothing but the key.</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Functional Dependencies</a:t>
            </a:r>
            <a:endParaRPr lang="en-US" sz="3200" dirty="0"/>
          </a:p>
        </p:txBody>
      </p:sp>
      <p:graphicFrame>
        <p:nvGraphicFramePr>
          <p:cNvPr id="6" name="FD table"/>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03120"/>
                <a:gridCol w="6126480"/>
              </a:tblGrid>
              <a:tr h="256032">
                <a:tc>
                  <a:txBody>
                    <a:bodyPr/>
                    <a:lstStyle/>
                    <a:p>
                      <a:pPr indent="0" marL="0">
                        <a:buNone/>
                      </a:pPr>
                      <a:r>
                        <a:rPr lang="en-US" sz="1100" b="1" dirty="0">
                          <a:solidFill>
                            <a:schemeClr val="bg1"/>
                          </a:solidFill>
                        </a:rPr>
                        <a:t>Table</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Functional dependency</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r>
              <a:tr h="256032">
                <a:tc>
                  <a:txBody>
                    <a:bodyPr/>
                    <a:lstStyle/>
                    <a:p>
                      <a:pPr indent="0" marL="0">
                        <a:buNone/>
                      </a:pPr>
                      <a:r>
                        <a:rPr lang="en-US" sz="1100" b="1" dirty="0">
                          <a:solidFill>
                            <a:schemeClr val="tx1"/>
                          </a:solidFill>
                        </a:rPr>
                        <a:t>department</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dept_id  -&gt;  dept_name, hod_name, building</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56032">
                <a:tc>
                  <a:txBody>
                    <a:bodyPr/>
                    <a:lstStyle/>
                    <a:p>
                      <a:pPr indent="0" marL="0">
                        <a:buNone/>
                      </a:pPr>
                      <a:r>
                        <a:rPr lang="en-US" sz="1100" b="1" dirty="0">
                          <a:solidFill>
                            <a:schemeClr val="tx1"/>
                          </a:solidFill>
                        </a:rPr>
                        <a:t>researcher</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researcher_id  -&gt;  full_name, email, designation, dept_id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56032">
                <a:tc>
                  <a:txBody>
                    <a:bodyPr/>
                    <a:lstStyle/>
                    <a:p>
                      <a:pPr indent="0" marL="0">
                        <a:buNone/>
                      </a:pPr>
                      <a:r>
                        <a:rPr lang="en-US" sz="1100" b="1" dirty="0">
                          <a:solidFill>
                            <a:schemeClr val="tx1"/>
                          </a:solidFill>
                        </a:rPr>
                        <a:t>funding_agency</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agency_id  -&gt;  agency_name, agency_type, contact_email</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56032">
                <a:tc>
                  <a:txBody>
                    <a:bodyPr/>
                    <a:lstStyle/>
                    <a:p>
                      <a:pPr indent="0" marL="0">
                        <a:buNone/>
                      </a:pPr>
                      <a:r>
                        <a:rPr lang="en-US" sz="1100" b="1" dirty="0">
                          <a:solidFill>
                            <a:schemeClr val="tx1"/>
                          </a:solidFill>
                        </a:rPr>
                        <a:t>project</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project_id  -&gt;  title, dept_id, start_date, end_date, status</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56032">
                <a:tc>
                  <a:txBody>
                    <a:bodyPr/>
                    <a:lstStyle/>
                    <a:p>
                      <a:pPr indent="0" marL="0">
                        <a:buNone/>
                      </a:pPr>
                      <a:r>
                        <a:rPr lang="en-US" sz="1100" b="1" dirty="0">
                          <a:solidFill>
                            <a:schemeClr val="tx1"/>
                          </a:solidFill>
                        </a:rPr>
                        <a:t>project_investigator</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(project_id, researcher_id)  -&gt;  role, assigned_on</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56032">
                <a:tc>
                  <a:txBody>
                    <a:bodyPr/>
                    <a:lstStyle/>
                    <a:p>
                      <a:pPr indent="0" marL="0">
                        <a:buNone/>
                      </a:pPr>
                      <a:r>
                        <a:rPr lang="en-US" sz="1100" b="1" dirty="0">
                          <a:solidFill>
                            <a:schemeClr val="tx1"/>
                          </a:solidFill>
                        </a:rPr>
                        <a:t>grant_award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grant_id  -&gt;  project_id, agency_id, grant_amount, sanction_date</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56032">
                <a:tc>
                  <a:txBody>
                    <a:bodyPr/>
                    <a:lstStyle/>
                    <a:p>
                      <a:pPr indent="0" marL="0">
                        <a:buNone/>
                      </a:pPr>
                      <a:r>
                        <a:rPr lang="en-US" sz="1100" b="1" dirty="0">
                          <a:solidFill>
                            <a:schemeClr val="tx1"/>
                          </a:solidFill>
                        </a:rPr>
                        <a:t>milestone</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milestone_id  -&gt;  project_id, title, due_date, status</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56032">
                <a:tc>
                  <a:txBody>
                    <a:bodyPr/>
                    <a:lstStyle/>
                    <a:p>
                      <a:pPr indent="0" marL="0">
                        <a:buNone/>
                      </a:pPr>
                      <a:r>
                        <a:rPr lang="en-US" sz="1100" b="1" dirty="0">
                          <a:solidFill>
                            <a:schemeClr val="tx1"/>
                          </a:solidFill>
                        </a:rPr>
                        <a:t>expenditure</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expense_id  -&gt;  grant_id, category, amount, spent_on</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56032">
                <a:tc>
                  <a:txBody>
                    <a:bodyPr/>
                    <a:lstStyle/>
                    <a:p>
                      <a:pPr indent="0" marL="0">
                        <a:buNone/>
                      </a:pPr>
                      <a:r>
                        <a:rPr lang="en-US" sz="1100" b="1" dirty="0">
                          <a:solidFill>
                            <a:schemeClr val="tx1"/>
                          </a:solidFill>
                        </a:rPr>
                        <a:t>publication</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pub_id  -&gt;  title, venue, pub_year, doi      and      doi  -&gt;  pub_id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56032">
                <a:tc>
                  <a:txBody>
                    <a:bodyPr/>
                    <a:lstStyle/>
                    <a:p>
                      <a:pPr indent="0" marL="0">
                        <a:buNone/>
                      </a:pPr>
                      <a:r>
                        <a:rPr lang="en-US" sz="1100" b="1" dirty="0">
                          <a:solidFill>
                            <a:schemeClr val="tx1"/>
                          </a:solidFill>
                        </a:rPr>
                        <a:t>publication_author</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(pub_id, researcher_id)  -&gt;  author_order</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56032">
                <a:tc>
                  <a:txBody>
                    <a:bodyPr/>
                    <a:lstStyle/>
                    <a:p>
                      <a:pPr indent="0" marL="0">
                        <a:buNone/>
                      </a:pPr>
                      <a:r>
                        <a:rPr lang="en-US" sz="1100" b="1" dirty="0">
                          <a:solidFill>
                            <a:schemeClr val="tx1"/>
                          </a:solidFill>
                        </a:rPr>
                        <a:t>patent</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patent_id  -&gt;  project_id, title, patent_no, filing_date, status</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56032">
                <a:tc>
                  <a:txBody>
                    <a:bodyPr/>
                    <a:lstStyle/>
                    <a:p>
                      <a:pPr indent="0" marL="0">
                        <a:buNone/>
                      </a:pPr>
                      <a:r>
                        <a:rPr lang="en-US" sz="1100" b="1" dirty="0">
                          <a:solidFill>
                            <a:schemeClr val="tx1"/>
                          </a:solidFill>
                        </a:rPr>
                        <a:t>report</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report_id  -&gt;  project_id, report_type, generated_on</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457200" y="4480560"/>
            <a:ext cx="8229600" cy="228600"/>
          </a:xfrm>
          <a:prstGeom prst="rect">
            <a:avLst/>
          </a:prstGeom>
          <a:noFill/>
          <a:ln/>
        </p:spPr>
        <p:txBody>
          <a:bodyPr wrap="square" lIns="0" tIns="0" rIns="0" bIns="0" rtlCol="0" anchor="t"/>
          <a:lstStyle/>
          <a:p>
            <a:pPr indent="0" marL="0">
              <a:buNone/>
            </a:pPr>
            <a:r>
              <a:rPr lang="en-US" sz="1100" dirty="0">
                <a:solidFill>
                  <a:schemeClr val="accent6"/>
                </a:solidFill>
              </a:rPr>
              <a:t>project_publication holds only its two-part key, so it has no further dependencies.</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Data Dictionary</a:t>
            </a:r>
            <a:endParaRPr lang="en-US" sz="3200" dirty="0"/>
          </a:p>
        </p:txBody>
      </p:sp>
      <p:graphicFrame>
        <p:nvGraphicFramePr>
          <p:cNvPr id="7" name="Data dictionary table"/>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783080"/>
                <a:gridCol w="1828800"/>
                <a:gridCol w="1600200"/>
                <a:gridCol w="3017520"/>
              </a:tblGrid>
              <a:tr h="246888">
                <a:tc>
                  <a:txBody>
                    <a:bodyPr/>
                    <a:lstStyle/>
                    <a:p>
                      <a:pPr indent="0" marL="0">
                        <a:buNone/>
                      </a:pPr>
                      <a:r>
                        <a:rPr lang="en-US" sz="1100" b="1" dirty="0">
                          <a:solidFill>
                            <a:schemeClr val="bg1"/>
                          </a:solidFill>
                        </a:rPr>
                        <a:t>Table</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Primary key</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Foreign keys</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Key constraints</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r>
              <a:tr h="246888">
                <a:tc>
                  <a:txBody>
                    <a:bodyPr/>
                    <a:lstStyle/>
                    <a:p>
                      <a:pPr indent="0" marL="0">
                        <a:buNone/>
                      </a:pPr>
                      <a:r>
                        <a:rPr lang="en-US" sz="1100" b="1" dirty="0">
                          <a:solidFill>
                            <a:schemeClr val="tx1"/>
                          </a:solidFill>
                        </a:rPr>
                        <a:t>department</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dept_id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dept_name UNIQUE, NOT NULL</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46888">
                <a:tc>
                  <a:txBody>
                    <a:bodyPr/>
                    <a:lstStyle/>
                    <a:p>
                      <a:pPr indent="0" marL="0">
                        <a:buNone/>
                      </a:pPr>
                      <a:r>
                        <a:rPr lang="en-US" sz="1100" b="1" dirty="0">
                          <a:solidFill>
                            <a:schemeClr val="tx1"/>
                          </a:solidFill>
                        </a:rPr>
                        <a:t>researcher</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researcher_id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dept_id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email UNIQUE, NOT NULL</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46888">
                <a:tc>
                  <a:txBody>
                    <a:bodyPr/>
                    <a:lstStyle/>
                    <a:p>
                      <a:pPr indent="0" marL="0">
                        <a:buNone/>
                      </a:pPr>
                      <a:r>
                        <a:rPr lang="en-US" sz="1100" b="1" dirty="0">
                          <a:solidFill>
                            <a:schemeClr val="tx1"/>
                          </a:solidFill>
                        </a:rPr>
                        <a:t>funding_agency</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agency_id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agency_name UNIQUE, NOT NULL</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46888">
                <a:tc>
                  <a:txBody>
                    <a:bodyPr/>
                    <a:lstStyle/>
                    <a:p>
                      <a:pPr indent="0" marL="0">
                        <a:buNone/>
                      </a:pPr>
                      <a:r>
                        <a:rPr lang="en-US" sz="1100" b="1" dirty="0">
                          <a:solidFill>
                            <a:schemeClr val="tx1"/>
                          </a:solidFill>
                        </a:rPr>
                        <a:t>project</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project_id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dept_id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CHECK end &gt; start; status DEFAULT</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46888">
                <a:tc>
                  <a:txBody>
                    <a:bodyPr/>
                    <a:lstStyle/>
                    <a:p>
                      <a:pPr indent="0" marL="0">
                        <a:buNone/>
                      </a:pPr>
                      <a:r>
                        <a:rPr lang="en-US" sz="1100" b="1" dirty="0">
                          <a:solidFill>
                            <a:schemeClr val="tx1"/>
                          </a:solidFill>
                        </a:rPr>
                        <a:t>project_investigator</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project_id + researcher_id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both columns</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role DEFAULT 'Member'</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46888">
                <a:tc>
                  <a:txBody>
                    <a:bodyPr/>
                    <a:lstStyle/>
                    <a:p>
                      <a:pPr indent="0" marL="0">
                        <a:buNone/>
                      </a:pPr>
                      <a:r>
                        <a:rPr lang="en-US" sz="1100" b="1" dirty="0">
                          <a:solidFill>
                            <a:schemeClr val="tx1"/>
                          </a:solidFill>
                        </a:rPr>
                        <a:t>grant_award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grant_id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project_id, agency_id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CHECK grant_amount &gt; 0</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46888">
                <a:tc>
                  <a:txBody>
                    <a:bodyPr/>
                    <a:lstStyle/>
                    <a:p>
                      <a:pPr indent="0" marL="0">
                        <a:buNone/>
                      </a:pPr>
                      <a:r>
                        <a:rPr lang="en-US" sz="1100" b="1" dirty="0">
                          <a:solidFill>
                            <a:schemeClr val="tx1"/>
                          </a:solidFill>
                        </a:rPr>
                        <a:t>milestone</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milestone_id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project_id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Date-in-project trigger; status DEFAULT</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46888">
                <a:tc>
                  <a:txBody>
                    <a:bodyPr/>
                    <a:lstStyle/>
                    <a:p>
                      <a:pPr indent="0" marL="0">
                        <a:buNone/>
                      </a:pPr>
                      <a:r>
                        <a:rPr lang="en-US" sz="1100" b="1" dirty="0">
                          <a:solidFill>
                            <a:schemeClr val="tx1"/>
                          </a:solidFill>
                        </a:rPr>
                        <a:t>expenditure</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expense_id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grant_id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CHECK amount &gt; 0; budget trigger</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46888">
                <a:tc>
                  <a:txBody>
                    <a:bodyPr/>
                    <a:lstStyle/>
                    <a:p>
                      <a:pPr indent="0" marL="0">
                        <a:buNone/>
                      </a:pPr>
                      <a:r>
                        <a:rPr lang="en-US" sz="1100" b="1" dirty="0">
                          <a:solidFill>
                            <a:schemeClr val="tx1"/>
                          </a:solidFill>
                        </a:rPr>
                        <a:t>publication</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pub_id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doi UNIQUE, NOT NULL</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46888">
                <a:tc>
                  <a:txBody>
                    <a:bodyPr/>
                    <a:lstStyle/>
                    <a:p>
                      <a:pPr indent="0" marL="0">
                        <a:buNone/>
                      </a:pPr>
                      <a:r>
                        <a:rPr lang="en-US" sz="1100" b="1" dirty="0">
                          <a:solidFill>
                            <a:schemeClr val="tx1"/>
                          </a:solidFill>
                        </a:rPr>
                        <a:t>project_publication</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project_id + pub_id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both columns</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Junction table (M:N)</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46888">
                <a:tc>
                  <a:txBody>
                    <a:bodyPr/>
                    <a:lstStyle/>
                    <a:p>
                      <a:pPr indent="0" marL="0">
                        <a:buNone/>
                      </a:pPr>
                      <a:r>
                        <a:rPr lang="en-US" sz="1100" b="1" dirty="0">
                          <a:solidFill>
                            <a:schemeClr val="tx1"/>
                          </a:solidFill>
                        </a:rPr>
                        <a:t>publication_author</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pub_id + researcher_id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both columns</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author_order DEFAULT 1</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46888">
                <a:tc>
                  <a:txBody>
                    <a:bodyPr/>
                    <a:lstStyle/>
                    <a:p>
                      <a:pPr indent="0" marL="0">
                        <a:buNone/>
                      </a:pPr>
                      <a:r>
                        <a:rPr lang="en-US" sz="1100" b="1" dirty="0">
                          <a:solidFill>
                            <a:schemeClr val="tx1"/>
                          </a:solidFill>
                        </a:rPr>
                        <a:t>patent</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patent_id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project_id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patent_no UNIQUE, NOT NULL</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46888">
                <a:tc>
                  <a:txBody>
                    <a:bodyPr/>
                    <a:lstStyle/>
                    <a:p>
                      <a:pPr indent="0" marL="0">
                        <a:buNone/>
                      </a:pPr>
                      <a:r>
                        <a:rPr lang="en-US" sz="1100" b="1" dirty="0">
                          <a:solidFill>
                            <a:schemeClr val="tx1"/>
                          </a:solidFill>
                        </a:rPr>
                        <a:t>report</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report_id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project_id</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generated_on DEFAULT today</a:t>
                      </a:r>
                      <a:endParaRPr lang="en-US" sz="11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Rules Enforced in the Database</a:t>
            </a:r>
            <a:endParaRPr lang="en-US" sz="3200" dirty="0"/>
          </a:p>
        </p:txBody>
      </p:sp>
      <p:graphicFrame>
        <p:nvGraphicFramePr>
          <p:cNvPr id="8" name="Rules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3017520"/>
                <a:gridCol w="1463040"/>
                <a:gridCol w="3749040"/>
              </a:tblGrid>
              <a:tr h="457200">
                <a:tc>
                  <a:txBody>
                    <a:bodyPr/>
                    <a:lstStyle/>
                    <a:p>
                      <a:pPr indent="0" marL="0">
                        <a:buNone/>
                      </a:pPr>
                      <a:r>
                        <a:rPr lang="en-US" sz="1400" b="1" dirty="0">
                          <a:solidFill>
                            <a:schemeClr val="bg1"/>
                          </a:solidFill>
                        </a:rPr>
                        <a:t>Business rule</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Mechanism</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Detail</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r>
              <a:tr h="457200">
                <a:tc>
                  <a:txBody>
                    <a:bodyPr/>
                    <a:lstStyle/>
                    <a:p>
                      <a:pPr indent="0" marL="0">
                        <a:buNone/>
                      </a:pPr>
                      <a:r>
                        <a:rPr lang="en-US" sz="1400" b="1" dirty="0">
                          <a:solidFill>
                            <a:schemeClr val="tx1"/>
                          </a:solidFill>
                        </a:rPr>
                        <a:t>Valid project dates</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CHECK</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end_date &gt; start_date</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Expenditure within budget</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Trigger</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Running total per grant &lt;= grant_amount</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Milestone dates within project</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Trigger</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due_date between project start and end</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Unique publication identifiers</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UNIQUE</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One DOI per publication</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Positive grant values</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CHECK</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grant_amount &gt; 0</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bl>
          </a:graphicData>
        </a:graphic>
      </p:graphicFrame>
      <p:sp>
        <p:nvSpPr>
          <p:cNvPr id="5" name="Trigger note"/>
          <p:cNvSpPr/>
          <p:nvPr/>
        </p:nvSpPr>
        <p:spPr>
          <a:xfrm>
            <a:off x="457200" y="4069080"/>
            <a:ext cx="8229600" cy="548640"/>
          </a:xfrm>
          <a:prstGeom prst="roundRect">
            <a:avLst>
              <a:gd name="adj" fmla="val 13333"/>
            </a:avLst>
          </a:prstGeom>
          <a:solidFill>
            <a:schemeClr val="tx1"/>
          </a:solidFill>
          <a:ln/>
        </p:spPr>
      </p:sp>
      <p:sp>
        <p:nvSpPr>
          <p:cNvPr id="6" name="Text 2"/>
          <p:cNvSpPr txBox="1"/>
          <p:nvPr/>
        </p:nvSpPr>
        <p:spPr>
          <a:xfrm>
            <a:off x="685800" y="4069080"/>
            <a:ext cx="7772400" cy="548640"/>
          </a:xfrm>
          <a:prstGeom prst="rect">
            <a:avLst/>
          </a:prstGeom>
          <a:noFill/>
          <a:ln/>
        </p:spPr>
        <p:txBody>
          <a:bodyPr wrap="square" lIns="0" tIns="0" rIns="0" bIns="0" rtlCol="0" anchor="ctr"/>
          <a:lstStyle/>
          <a:p>
            <a:pPr indent="0" marL="0">
              <a:buNone/>
            </a:pPr>
            <a:r>
              <a:rPr lang="en-US" sz="1400" b="1" dirty="0">
                <a:solidFill>
                  <a:schemeClr val="accent2"/>
                </a:solidFill>
              </a:rPr>
              <a:t>Why triggers?  </a:t>
            </a:r>
            <a:pPr indent="0" marL="0">
              <a:buNone/>
            </a:pPr>
            <a:r>
              <a:rPr lang="en-US" sz="1400" dirty="0">
                <a:solidFill>
                  <a:schemeClr val="bg1"/>
                </a:solidFill>
              </a:rPr>
              <a:t>CHECK cannot read other tables, so cross-table rules run as BEFORE triggers.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DDL: Project and Grant</a:t>
            </a:r>
            <a:endParaRPr lang="en-US" sz="3200" dirty="0"/>
          </a:p>
        </p:txBody>
      </p:sp>
      <p:sp>
        <p:nvSpPr>
          <p:cNvPr id="4" name="Project DDL"/>
          <p:cNvSpPr/>
          <p:nvPr/>
        </p:nvSpPr>
        <p:spPr>
          <a:xfrm>
            <a:off x="457200" y="1097280"/>
            <a:ext cx="4114800" cy="2514600"/>
          </a:xfrm>
          <a:prstGeom prst="roundRect">
            <a:avLst>
              <a:gd name="adj" fmla="val 2909"/>
            </a:avLst>
          </a:prstGeom>
          <a:solidFill>
            <a:schemeClr val="tx1"/>
          </a:solidFill>
          <a:ln/>
        </p:spPr>
      </p:sp>
      <p:sp>
        <p:nvSpPr>
          <p:cNvPr id="5" name="Project DDL text"/>
          <p:cNvSpPr txBox="1"/>
          <p:nvPr/>
        </p:nvSpPr>
        <p:spPr>
          <a:xfrm>
            <a:off x="594360" y="1207008"/>
            <a:ext cx="3840480" cy="2295144"/>
          </a:xfrm>
          <a:prstGeom prst="rect">
            <a:avLst/>
          </a:prstGeom>
          <a:noFill/>
          <a:ln/>
        </p:spPr>
        <p:txBody>
          <a:bodyPr wrap="square" lIns="0" tIns="0" rIns="0" bIns="0" rtlCol="0" anchor="t"/>
          <a:lstStyle/>
          <a:p>
            <a:pPr algn="l" indent="0" marL="0">
              <a:buNone/>
            </a:pPr>
            <a:r>
              <a:rPr lang="en-US" sz="1100" dirty="0">
                <a:solidFill>
                  <a:schemeClr val="accent2"/>
                </a:solidFill>
                <a:latin typeface="Courier New" pitchFamily="34" charset="0"/>
                <a:ea typeface="Courier New" pitchFamily="34" charset="-122"/>
                <a:cs typeface="Courier New" pitchFamily="34" charset="-120"/>
              </a:rPr>
              <a:t>CREATE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TABLE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project</a:t>
            </a:r>
            <a:pPr algn="l" indent="0" marL="0">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project_id</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INT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AUTO_INCREMENT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PRIMARY</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KEY</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title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VARCHAR</a:t>
            </a:r>
            <a:pPr algn="l" indent="0" marL="0">
              <a:buNone/>
            </a:pPr>
            <a:r>
              <a:rPr lang="en-US" sz="1100" dirty="0">
                <a:solidFill>
                  <a:schemeClr val="bg2"/>
                </a:solidFill>
                <a:latin typeface="Courier New" pitchFamily="34" charset="0"/>
                <a:ea typeface="Courier New" pitchFamily="34" charset="-122"/>
                <a:cs typeface="Courier New" pitchFamily="34" charset="-120"/>
              </a:rPr>
              <a:t>(200) </a:t>
            </a:r>
            <a:pPr algn="l" indent="0" marL="0">
              <a:buNone/>
            </a:pPr>
            <a:r>
              <a:rPr lang="en-US" sz="1100" dirty="0">
                <a:solidFill>
                  <a:schemeClr val="accent2"/>
                </a:solidFill>
                <a:latin typeface="Courier New" pitchFamily="34" charset="0"/>
                <a:ea typeface="Courier New" pitchFamily="34" charset="-122"/>
                <a:cs typeface="Courier New" pitchFamily="34" charset="-120"/>
              </a:rPr>
              <a:t>NOT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NULL</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dept_id</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INT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NOT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NULL</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start_date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DATE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NOT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NULL</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end_date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DATE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NOT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NULL</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status</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ENUM</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rgbClr val="8FD3B6"/>
                </a:solidFill>
                <a:latin typeface="Courier New" pitchFamily="34" charset="0"/>
                <a:ea typeface="Courier New" pitchFamily="34" charset="-122"/>
                <a:cs typeface="Courier New" pitchFamily="34" charset="-120"/>
              </a:rPr>
              <a:t>'Planned'</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rgbClr val="8FD3B6"/>
                </a:solidFill>
                <a:latin typeface="Courier New" pitchFamily="34" charset="0"/>
                <a:ea typeface="Courier New" pitchFamily="34" charset="-122"/>
                <a:cs typeface="Courier New" pitchFamily="34" charset="-120"/>
              </a:rPr>
              <a:t>'Active'</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rgbClr val="8FD3B6"/>
                </a:solidFill>
                <a:latin typeface="Courier New" pitchFamily="34" charset="0"/>
                <a:ea typeface="Courier New" pitchFamily="34" charset="-122"/>
                <a:cs typeface="Courier New" pitchFamily="34" charset="-120"/>
              </a:rPr>
              <a:t>'Completed'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NOT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NULL</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DEFAULT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rgbClr val="8FD3B6"/>
                </a:solidFill>
                <a:latin typeface="Courier New" pitchFamily="34" charset="0"/>
                <a:ea typeface="Courier New" pitchFamily="34" charset="-122"/>
                <a:cs typeface="Courier New" pitchFamily="34" charset="-120"/>
              </a:rPr>
              <a:t>'Planned'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CONSTRAINT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chk_dates</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CHECK</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end_date</a:t>
            </a:r>
            <a:pPr algn="l" indent="0" marL="0">
              <a:buNone/>
            </a:pPr>
            <a:r>
              <a:rPr lang="en-US" sz="1100" dirty="0">
                <a:solidFill>
                  <a:schemeClr val="bg2"/>
                </a:solidFill>
                <a:latin typeface="Courier New" pitchFamily="34" charset="0"/>
                <a:ea typeface="Courier New" pitchFamily="34" charset="-122"/>
                <a:cs typeface="Courier New" pitchFamily="34" charset="-120"/>
              </a:rPr>
              <a:t> &gt; </a:t>
            </a:r>
            <a:pPr algn="l" indent="0" marL="0">
              <a:buNone/>
            </a:pPr>
            <a:r>
              <a:rPr lang="en-US" sz="1100" dirty="0">
                <a:solidFill>
                  <a:schemeClr val="bg2"/>
                </a:solidFill>
                <a:latin typeface="Courier New" pitchFamily="34" charset="0"/>
                <a:ea typeface="Courier New" pitchFamily="34" charset="-122"/>
                <a:cs typeface="Courier New" pitchFamily="34" charset="-120"/>
              </a:rPr>
              <a:t>start_date</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FOREIGN</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KEY</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dept_id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REFERENCES</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department</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dept_id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6" name="Grant DDL"/>
          <p:cNvSpPr/>
          <p:nvPr/>
        </p:nvSpPr>
        <p:spPr>
          <a:xfrm>
            <a:off x="4663440" y="1097280"/>
            <a:ext cx="4023360" cy="2514600"/>
          </a:xfrm>
          <a:prstGeom prst="roundRect">
            <a:avLst>
              <a:gd name="adj" fmla="val 2909"/>
            </a:avLst>
          </a:prstGeom>
          <a:solidFill>
            <a:schemeClr val="tx1"/>
          </a:solidFill>
          <a:ln/>
        </p:spPr>
      </p:sp>
      <p:sp>
        <p:nvSpPr>
          <p:cNvPr id="7" name="Grant DDL text"/>
          <p:cNvSpPr txBox="1"/>
          <p:nvPr/>
        </p:nvSpPr>
        <p:spPr>
          <a:xfrm>
            <a:off x="4800600" y="1207008"/>
            <a:ext cx="3749040" cy="2295144"/>
          </a:xfrm>
          <a:prstGeom prst="rect">
            <a:avLst/>
          </a:prstGeom>
          <a:noFill/>
          <a:ln/>
        </p:spPr>
        <p:txBody>
          <a:bodyPr wrap="square" lIns="0" tIns="0" rIns="0" bIns="0" rtlCol="0" anchor="t"/>
          <a:lstStyle/>
          <a:p>
            <a:pPr algn="l" indent="0" marL="0">
              <a:buNone/>
            </a:pPr>
            <a:r>
              <a:rPr lang="en-US" sz="1100" dirty="0">
                <a:solidFill>
                  <a:schemeClr val="accent2"/>
                </a:solidFill>
                <a:latin typeface="Courier New" pitchFamily="34" charset="0"/>
                <a:ea typeface="Courier New" pitchFamily="34" charset="-122"/>
                <a:cs typeface="Courier New" pitchFamily="34" charset="-120"/>
              </a:rPr>
              <a:t>CREATE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TABLE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grant_award</a:t>
            </a:r>
            <a:pPr algn="l" indent="0" marL="0">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grant_id</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INT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AUTO_INCREMENT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PRIMARY</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KEY</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project_id</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INT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NOT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NULL</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agency_id</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INT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NOT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NULL</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grant_amount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DECIMAL</a:t>
            </a:r>
            <a:pPr algn="l" indent="0" marL="0">
              <a:buNone/>
            </a:pPr>
            <a:r>
              <a:rPr lang="en-US" sz="1100" dirty="0">
                <a:solidFill>
                  <a:schemeClr val="bg2"/>
                </a:solidFill>
                <a:latin typeface="Courier New" pitchFamily="34" charset="0"/>
                <a:ea typeface="Courier New" pitchFamily="34" charset="-122"/>
                <a:cs typeface="Courier New" pitchFamily="34" charset="-120"/>
              </a:rPr>
              <a:t>(12,2) </a:t>
            </a:r>
            <a:pPr algn="l" indent="0" marL="0">
              <a:buNone/>
            </a:pPr>
            <a:r>
              <a:rPr lang="en-US" sz="1100" dirty="0">
                <a:solidFill>
                  <a:schemeClr val="accent2"/>
                </a:solidFill>
                <a:latin typeface="Courier New" pitchFamily="34" charset="0"/>
                <a:ea typeface="Courier New" pitchFamily="34" charset="-122"/>
                <a:cs typeface="Courier New" pitchFamily="34" charset="-120"/>
              </a:rPr>
              <a:t>NOT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NULL</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CHECK</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grant_amount</a:t>
            </a:r>
            <a:pPr algn="l" indent="0" marL="0">
              <a:buNone/>
            </a:pPr>
            <a:r>
              <a:rPr lang="en-US" sz="1100" dirty="0">
                <a:solidFill>
                  <a:schemeClr val="bg2"/>
                </a:solidFill>
                <a:latin typeface="Courier New" pitchFamily="34" charset="0"/>
                <a:ea typeface="Courier New" pitchFamily="34" charset="-122"/>
                <a:cs typeface="Courier New" pitchFamily="34" charset="-120"/>
              </a:rPr>
              <a:t> &gt; 0),</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sanction_date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DATE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NOT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NULL</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FOREIGN</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KEY</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project_id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REFERENCES</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project</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project_id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FOREIGN</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KEY</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agency_id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REFERENCES</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funding_agency</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agency_id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8" name="Text 5"/>
          <p:cNvSpPr txBox="1"/>
          <p:nvPr/>
        </p:nvSpPr>
        <p:spPr>
          <a:xfrm>
            <a:off x="457200" y="3840480"/>
            <a:ext cx="4114800" cy="548640"/>
          </a:xfrm>
          <a:prstGeom prst="rect">
            <a:avLst/>
          </a:prstGeom>
          <a:noFill/>
          <a:ln/>
        </p:spPr>
        <p:txBody>
          <a:bodyPr wrap="square" lIns="0" tIns="0" rIns="0" bIns="0" rtlCol="0" anchor="t"/>
          <a:lstStyle/>
          <a:p>
            <a:pPr indent="0" marL="0">
              <a:buNone/>
            </a:pPr>
            <a:r>
              <a:rPr lang="en-US" sz="1500" b="1" dirty="0">
                <a:solidFill>
                  <a:schemeClr val="accent1"/>
                </a:solidFill>
              </a:rPr>
              <a:t>Valid dates: </a:t>
            </a:r>
            <a:pPr indent="0" marL="0">
              <a:buNone/>
            </a:pPr>
            <a:r>
              <a:rPr lang="en-US" sz="1500" dirty="0">
                <a:solidFill>
                  <a:schemeClr val="tx1"/>
                </a:solidFill>
              </a:rPr>
              <a:t>a project cannot end before it starts.</a:t>
            </a:r>
            <a:endParaRPr lang="en-US" sz="1500" dirty="0"/>
          </a:p>
        </p:txBody>
      </p:sp>
      <p:sp>
        <p:nvSpPr>
          <p:cNvPr id="9" name="Text 6"/>
          <p:cNvSpPr txBox="1"/>
          <p:nvPr/>
        </p:nvSpPr>
        <p:spPr>
          <a:xfrm>
            <a:off x="4663440" y="3840480"/>
            <a:ext cx="4023360" cy="548640"/>
          </a:xfrm>
          <a:prstGeom prst="rect">
            <a:avLst/>
          </a:prstGeom>
          <a:noFill/>
          <a:ln/>
        </p:spPr>
        <p:txBody>
          <a:bodyPr wrap="square" lIns="0" tIns="0" rIns="0" bIns="0" rtlCol="0" anchor="t"/>
          <a:lstStyle/>
          <a:p>
            <a:pPr indent="0" marL="0">
              <a:buNone/>
            </a:pPr>
            <a:r>
              <a:rPr lang="en-US" sz="1500" b="1" dirty="0">
                <a:solidFill>
                  <a:schemeClr val="accent1"/>
                </a:solidFill>
              </a:rPr>
              <a:t>Positive values: </a:t>
            </a:r>
            <a:pPr indent="0" marL="0">
              <a:buNone/>
            </a:pPr>
            <a:r>
              <a:rPr lang="en-US" sz="1500" dirty="0">
                <a:solidFill>
                  <a:schemeClr val="tx1"/>
                </a:solidFill>
              </a:rPr>
              <a:t>zero or negative grants are rejected.</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DDL: Publication and Expenditure</a:t>
            </a:r>
            <a:endParaRPr lang="en-US" sz="3200" dirty="0"/>
          </a:p>
        </p:txBody>
      </p:sp>
      <p:sp>
        <p:nvSpPr>
          <p:cNvPr id="4" name="Publication DDL"/>
          <p:cNvSpPr/>
          <p:nvPr/>
        </p:nvSpPr>
        <p:spPr>
          <a:xfrm>
            <a:off x="457200" y="1097280"/>
            <a:ext cx="4114800" cy="1783080"/>
          </a:xfrm>
          <a:prstGeom prst="roundRect">
            <a:avLst>
              <a:gd name="adj" fmla="val 4103"/>
            </a:avLst>
          </a:prstGeom>
          <a:solidFill>
            <a:schemeClr val="tx1"/>
          </a:solidFill>
          <a:ln/>
        </p:spPr>
      </p:sp>
      <p:sp>
        <p:nvSpPr>
          <p:cNvPr id="5" name="Publication DDL text"/>
          <p:cNvSpPr txBox="1"/>
          <p:nvPr/>
        </p:nvSpPr>
        <p:spPr>
          <a:xfrm>
            <a:off x="594360" y="1207008"/>
            <a:ext cx="3840480" cy="1563624"/>
          </a:xfrm>
          <a:prstGeom prst="rect">
            <a:avLst/>
          </a:prstGeom>
          <a:noFill/>
          <a:ln/>
        </p:spPr>
        <p:txBody>
          <a:bodyPr wrap="square" lIns="0" tIns="0" rIns="0" bIns="0" rtlCol="0" anchor="t"/>
          <a:lstStyle/>
          <a:p>
            <a:pPr algn="l" indent="0" marL="0">
              <a:buNone/>
            </a:pPr>
            <a:r>
              <a:rPr lang="en-US" sz="1100" dirty="0">
                <a:solidFill>
                  <a:schemeClr val="accent2"/>
                </a:solidFill>
                <a:latin typeface="Courier New" pitchFamily="34" charset="0"/>
                <a:ea typeface="Courier New" pitchFamily="34" charset="-122"/>
                <a:cs typeface="Courier New" pitchFamily="34" charset="-120"/>
              </a:rPr>
              <a:t>CREATE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TABLE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publication</a:t>
            </a:r>
            <a:pPr algn="l" indent="0" marL="0">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pub_id</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INT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AUTO_INCREMENT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PRIMARY</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KEY</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title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VARCHAR</a:t>
            </a:r>
            <a:pPr algn="l" indent="0" marL="0">
              <a:buNone/>
            </a:pPr>
            <a:r>
              <a:rPr lang="en-US" sz="1100" dirty="0">
                <a:solidFill>
                  <a:schemeClr val="bg2"/>
                </a:solidFill>
                <a:latin typeface="Courier New" pitchFamily="34" charset="0"/>
                <a:ea typeface="Courier New" pitchFamily="34" charset="-122"/>
                <a:cs typeface="Courier New" pitchFamily="34" charset="-120"/>
              </a:rPr>
              <a:t>(250) </a:t>
            </a:r>
            <a:pPr algn="l" indent="0" marL="0">
              <a:buNone/>
            </a:pPr>
            <a:r>
              <a:rPr lang="en-US" sz="1100" dirty="0">
                <a:solidFill>
                  <a:schemeClr val="accent2"/>
                </a:solidFill>
                <a:latin typeface="Courier New" pitchFamily="34" charset="0"/>
                <a:ea typeface="Courier New" pitchFamily="34" charset="-122"/>
                <a:cs typeface="Courier New" pitchFamily="34" charset="-120"/>
              </a:rPr>
              <a:t>NOT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NULL</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venue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VARCHAR</a:t>
            </a:r>
            <a:pPr algn="l" indent="0" marL="0">
              <a:buNone/>
            </a:pPr>
            <a:r>
              <a:rPr lang="en-US" sz="1100" dirty="0">
                <a:solidFill>
                  <a:schemeClr val="bg2"/>
                </a:solidFill>
                <a:latin typeface="Courier New" pitchFamily="34" charset="0"/>
                <a:ea typeface="Courier New" pitchFamily="34" charset="-122"/>
                <a:cs typeface="Courier New" pitchFamily="34" charset="-120"/>
              </a:rPr>
              <a:t>(150),</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pub_year</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YEAR</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NOT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NULL</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doi</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VARCHAR</a:t>
            </a:r>
            <a:pPr algn="l" indent="0" marL="0">
              <a:buNone/>
            </a:pPr>
            <a:r>
              <a:rPr lang="en-US" sz="1100" dirty="0">
                <a:solidFill>
                  <a:schemeClr val="bg2"/>
                </a:solidFill>
                <a:latin typeface="Courier New" pitchFamily="34" charset="0"/>
                <a:ea typeface="Courier New" pitchFamily="34" charset="-122"/>
                <a:cs typeface="Courier New" pitchFamily="34" charset="-120"/>
              </a:rPr>
              <a:t>(100) </a:t>
            </a:r>
            <a:pPr algn="l" indent="0" marL="0">
              <a:buNone/>
            </a:pPr>
            <a:r>
              <a:rPr lang="en-US" sz="1100" dirty="0">
                <a:solidFill>
                  <a:schemeClr val="accent2"/>
                </a:solidFill>
                <a:latin typeface="Courier New" pitchFamily="34" charset="0"/>
                <a:ea typeface="Courier New" pitchFamily="34" charset="-122"/>
                <a:cs typeface="Courier New" pitchFamily="34" charset="-120"/>
              </a:rPr>
              <a:t>NOT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NULL</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CONSTRAINT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uq_pub_doi</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UNIQUE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doi</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6" name="Expenditure DDL"/>
          <p:cNvSpPr/>
          <p:nvPr/>
        </p:nvSpPr>
        <p:spPr>
          <a:xfrm>
            <a:off x="4663440" y="1097280"/>
            <a:ext cx="4023360" cy="2194560"/>
          </a:xfrm>
          <a:prstGeom prst="roundRect">
            <a:avLst>
              <a:gd name="adj" fmla="val 3333"/>
            </a:avLst>
          </a:prstGeom>
          <a:solidFill>
            <a:schemeClr val="tx1"/>
          </a:solidFill>
          <a:ln/>
        </p:spPr>
      </p:sp>
      <p:sp>
        <p:nvSpPr>
          <p:cNvPr id="7" name="Expenditure DDL text"/>
          <p:cNvSpPr txBox="1"/>
          <p:nvPr/>
        </p:nvSpPr>
        <p:spPr>
          <a:xfrm>
            <a:off x="4800600" y="1207008"/>
            <a:ext cx="3749040" cy="1975104"/>
          </a:xfrm>
          <a:prstGeom prst="rect">
            <a:avLst/>
          </a:prstGeom>
          <a:noFill/>
          <a:ln/>
        </p:spPr>
        <p:txBody>
          <a:bodyPr wrap="square" lIns="0" tIns="0" rIns="0" bIns="0" rtlCol="0" anchor="t"/>
          <a:lstStyle/>
          <a:p>
            <a:pPr algn="l" indent="0" marL="0">
              <a:buNone/>
            </a:pPr>
            <a:r>
              <a:rPr lang="en-US" sz="1100" dirty="0">
                <a:solidFill>
                  <a:schemeClr val="accent2"/>
                </a:solidFill>
                <a:latin typeface="Courier New" pitchFamily="34" charset="0"/>
                <a:ea typeface="Courier New" pitchFamily="34" charset="-122"/>
                <a:cs typeface="Courier New" pitchFamily="34" charset="-120"/>
              </a:rPr>
              <a:t>CREATE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TABLE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expenditure</a:t>
            </a:r>
            <a:pPr algn="l" indent="0" marL="0">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expense_id</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INT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AUTO_INCREMENT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PRIMARY</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KEY</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grant_id</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INT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NOT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NULL</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category</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VARCHAR</a:t>
            </a:r>
            <a:pPr algn="l" indent="0" marL="0">
              <a:buNone/>
            </a:pPr>
            <a:r>
              <a:rPr lang="en-US" sz="1100" dirty="0">
                <a:solidFill>
                  <a:schemeClr val="bg2"/>
                </a:solidFill>
                <a:latin typeface="Courier New" pitchFamily="34" charset="0"/>
                <a:ea typeface="Courier New" pitchFamily="34" charset="-122"/>
                <a:cs typeface="Courier New" pitchFamily="34" charset="-120"/>
              </a:rPr>
              <a:t>(50) </a:t>
            </a:r>
            <a:pPr algn="l" indent="0" marL="0">
              <a:buNone/>
            </a:pPr>
            <a:r>
              <a:rPr lang="en-US" sz="1100" dirty="0">
                <a:solidFill>
                  <a:schemeClr val="accent2"/>
                </a:solidFill>
                <a:latin typeface="Courier New" pitchFamily="34" charset="0"/>
                <a:ea typeface="Courier New" pitchFamily="34" charset="-122"/>
                <a:cs typeface="Courier New" pitchFamily="34" charset="-120"/>
              </a:rPr>
              <a:t>NOT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NULL</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amount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DECIMAL</a:t>
            </a:r>
            <a:pPr algn="l" indent="0" marL="0">
              <a:buNone/>
            </a:pPr>
            <a:r>
              <a:rPr lang="en-US" sz="1100" dirty="0">
                <a:solidFill>
                  <a:schemeClr val="bg2"/>
                </a:solidFill>
                <a:latin typeface="Courier New" pitchFamily="34" charset="0"/>
                <a:ea typeface="Courier New" pitchFamily="34" charset="-122"/>
                <a:cs typeface="Courier New" pitchFamily="34" charset="-120"/>
              </a:rPr>
              <a:t>(12,2) </a:t>
            </a:r>
            <a:pPr algn="l" indent="0" marL="0">
              <a:buNone/>
            </a:pPr>
            <a:r>
              <a:rPr lang="en-US" sz="1100" dirty="0">
                <a:solidFill>
                  <a:schemeClr val="accent2"/>
                </a:solidFill>
                <a:latin typeface="Courier New" pitchFamily="34" charset="0"/>
                <a:ea typeface="Courier New" pitchFamily="34" charset="-122"/>
                <a:cs typeface="Courier New" pitchFamily="34" charset="-120"/>
              </a:rPr>
              <a:t>NOT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NULL</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CHECK</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amount</a:t>
            </a:r>
            <a:pPr algn="l" indent="0" marL="0">
              <a:buNone/>
            </a:pPr>
            <a:r>
              <a:rPr lang="en-US" sz="1100" dirty="0">
                <a:solidFill>
                  <a:schemeClr val="bg2"/>
                </a:solidFill>
                <a:latin typeface="Courier New" pitchFamily="34" charset="0"/>
                <a:ea typeface="Courier New" pitchFamily="34" charset="-122"/>
                <a:cs typeface="Courier New" pitchFamily="34" charset="-120"/>
              </a:rPr>
              <a:t> &gt; 0),</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spent_on</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DATE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NOT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NULL</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FOREIGN</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KEY</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grant_id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REFERENCES</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grant_award</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grant_id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8" name="Text 5"/>
          <p:cNvSpPr txBox="1"/>
          <p:nvPr/>
        </p:nvSpPr>
        <p:spPr>
          <a:xfrm>
            <a:off x="457200" y="3108960"/>
            <a:ext cx="4114800" cy="548640"/>
          </a:xfrm>
          <a:prstGeom prst="rect">
            <a:avLst/>
          </a:prstGeom>
          <a:noFill/>
          <a:ln/>
        </p:spPr>
        <p:txBody>
          <a:bodyPr wrap="square" lIns="0" tIns="0" rIns="0" bIns="0" rtlCol="0" anchor="t"/>
          <a:lstStyle/>
          <a:p>
            <a:pPr indent="0" marL="0">
              <a:buNone/>
            </a:pPr>
            <a:r>
              <a:rPr lang="en-US" sz="1500" b="1" dirty="0">
                <a:solidFill>
                  <a:schemeClr val="accent1"/>
                </a:solidFill>
              </a:rPr>
              <a:t>Unique identifiers: </a:t>
            </a:r>
            <a:pPr indent="0" marL="0">
              <a:buNone/>
            </a:pPr>
            <a:r>
              <a:rPr lang="en-US" sz="1500" dirty="0">
                <a:solidFill>
                  <a:schemeClr val="tx1"/>
                </a:solidFill>
              </a:rPr>
              <a:t>a duplicate DOI is rejected by the database.</a:t>
            </a:r>
            <a:endParaRPr lang="en-US" sz="1500" dirty="0"/>
          </a:p>
        </p:txBody>
      </p:sp>
      <p:sp>
        <p:nvSpPr>
          <p:cNvPr id="9" name="Text 6"/>
          <p:cNvSpPr txBox="1"/>
          <p:nvPr/>
        </p:nvSpPr>
        <p:spPr>
          <a:xfrm>
            <a:off x="4663440" y="3520440"/>
            <a:ext cx="4023360" cy="548640"/>
          </a:xfrm>
          <a:prstGeom prst="rect">
            <a:avLst/>
          </a:prstGeom>
          <a:noFill/>
          <a:ln/>
        </p:spPr>
        <p:txBody>
          <a:bodyPr wrap="square" lIns="0" tIns="0" rIns="0" bIns="0" rtlCol="0" anchor="t"/>
          <a:lstStyle/>
          <a:p>
            <a:pPr indent="0" marL="0">
              <a:buNone/>
            </a:pPr>
            <a:r>
              <a:rPr lang="en-US" sz="1500" b="1" dirty="0">
                <a:solidFill>
                  <a:schemeClr val="accent1"/>
                </a:solidFill>
              </a:rPr>
              <a:t>Spending: </a:t>
            </a:r>
            <a:pPr indent="0" marL="0">
              <a:buNone/>
            </a:pPr>
            <a:r>
              <a:rPr lang="en-US" sz="1500" dirty="0">
                <a:solidFill>
                  <a:schemeClr val="tx1"/>
                </a:solidFill>
              </a:rPr>
              <a:t>every expense belongs to a real grant.</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Triggers for Cross-Table Rules</a:t>
            </a:r>
            <a:endParaRPr lang="en-US" sz="3200" dirty="0"/>
          </a:p>
        </p:txBody>
      </p:sp>
      <p:sp>
        <p:nvSpPr>
          <p:cNvPr id="4" name="Budget trigger"/>
          <p:cNvSpPr/>
          <p:nvPr/>
        </p:nvSpPr>
        <p:spPr>
          <a:xfrm>
            <a:off x="457200" y="1097280"/>
            <a:ext cx="4114800" cy="2743200"/>
          </a:xfrm>
          <a:prstGeom prst="roundRect">
            <a:avLst>
              <a:gd name="adj" fmla="val 2667"/>
            </a:avLst>
          </a:prstGeom>
          <a:solidFill>
            <a:schemeClr val="tx1"/>
          </a:solidFill>
          <a:ln/>
        </p:spPr>
      </p:sp>
      <p:sp>
        <p:nvSpPr>
          <p:cNvPr id="5" name="Budget trigger text"/>
          <p:cNvSpPr txBox="1"/>
          <p:nvPr/>
        </p:nvSpPr>
        <p:spPr>
          <a:xfrm>
            <a:off x="594360" y="1207008"/>
            <a:ext cx="3840480" cy="2523744"/>
          </a:xfrm>
          <a:prstGeom prst="rect">
            <a:avLst/>
          </a:prstGeom>
          <a:noFill/>
          <a:ln/>
        </p:spPr>
        <p:txBody>
          <a:bodyPr wrap="square" lIns="0" tIns="0" rIns="0" bIns="0" rtlCol="0" anchor="t"/>
          <a:lstStyle/>
          <a:p>
            <a:pPr algn="l" indent="0" marL="0">
              <a:buNone/>
            </a:pPr>
            <a:r>
              <a:rPr lang="en-US" sz="1100" dirty="0">
                <a:solidFill>
                  <a:schemeClr val="accent2"/>
                </a:solidFill>
                <a:latin typeface="Courier New" pitchFamily="34" charset="0"/>
                <a:ea typeface="Courier New" pitchFamily="34" charset="-122"/>
                <a:cs typeface="Courier New" pitchFamily="34" charset="-120"/>
              </a:rPr>
              <a:t>CREATE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TRIGGER</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trg_exp_budget</a:t>
            </a:r>
            <a:endParaRPr lang="en-US" sz="1100" dirty="0"/>
          </a:p>
          <a:p>
            <a:pPr algn="l" indent="0" marL="0">
              <a:buNone/>
            </a:pPr>
            <a:r>
              <a:rPr lang="en-US" sz="1100" dirty="0">
                <a:solidFill>
                  <a:schemeClr val="accent2"/>
                </a:solidFill>
                <a:latin typeface="Courier New" pitchFamily="34" charset="0"/>
                <a:ea typeface="Courier New" pitchFamily="34" charset="-122"/>
                <a:cs typeface="Courier New" pitchFamily="34" charset="-120"/>
              </a:rPr>
              <a:t>BEFORE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INSERT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ON</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expenditure</a:t>
            </a:r>
            <a:endParaRPr lang="en-US" sz="1100" dirty="0"/>
          </a:p>
          <a:p>
            <a:pPr algn="l" indent="0" marL="0">
              <a:buNone/>
            </a:pPr>
            <a:r>
              <a:rPr lang="en-US" sz="1100" dirty="0">
                <a:solidFill>
                  <a:schemeClr val="accent2"/>
                </a:solidFill>
                <a:latin typeface="Courier New" pitchFamily="34" charset="0"/>
                <a:ea typeface="Courier New" pitchFamily="34" charset="-122"/>
                <a:cs typeface="Courier New" pitchFamily="34" charset="-120"/>
              </a:rPr>
              <a:t>FOR</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EACH</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ROW</a:t>
            </a:r>
            <a:endParaRPr lang="en-US" sz="1100" dirty="0"/>
          </a:p>
          <a:p>
            <a:pPr algn="l" indent="0" marL="0">
              <a:buNone/>
            </a:pPr>
            <a:r>
              <a:rPr lang="en-US" sz="1100" dirty="0">
                <a:solidFill>
                  <a:schemeClr val="accent2"/>
                </a:solidFill>
                <a:latin typeface="Courier New" pitchFamily="34" charset="0"/>
                <a:ea typeface="Courier New" pitchFamily="34" charset="-122"/>
                <a:cs typeface="Courier New" pitchFamily="34" charset="-120"/>
              </a:rPr>
              <a:t>BEGIN</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IF</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SELECT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IFNULL</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accent2"/>
                </a:solidFill>
                <a:latin typeface="Courier New" pitchFamily="34" charset="0"/>
                <a:ea typeface="Courier New" pitchFamily="34" charset="-122"/>
                <a:cs typeface="Courier New" pitchFamily="34" charset="-120"/>
              </a:rPr>
              <a:t>SUM</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amount</a:t>
            </a:r>
            <a:pPr algn="l" indent="0" marL="0">
              <a:buNone/>
            </a:pPr>
            <a:r>
              <a:rPr lang="en-US" sz="1100" dirty="0">
                <a:solidFill>
                  <a:schemeClr val="bg2"/>
                </a:solidFill>
                <a:latin typeface="Courier New" pitchFamily="34" charset="0"/>
                <a:ea typeface="Courier New" pitchFamily="34" charset="-122"/>
                <a:cs typeface="Courier New" pitchFamily="34" charset="-120"/>
              </a:rPr>
              <a:t>), 0)</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FROM</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expenditure</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WHERE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grant_id</a:t>
            </a:r>
            <a:pPr algn="l" indent="0" marL="0">
              <a:buNone/>
            </a:pPr>
            <a:r>
              <a:rPr lang="en-US" sz="1100" dirty="0">
                <a:solidFill>
                  <a:schemeClr val="bg2"/>
                </a:solidFill>
                <a:latin typeface="Courier New" pitchFamily="34" charset="0"/>
                <a:ea typeface="Courier New" pitchFamily="34" charset="-122"/>
                <a:cs typeface="Courier New" pitchFamily="34" charset="-120"/>
              </a:rPr>
              <a:t> = </a:t>
            </a:r>
            <a:pPr algn="l" indent="0" marL="0">
              <a:buNone/>
            </a:pPr>
            <a:r>
              <a:rPr lang="en-US" sz="1100" dirty="0">
                <a:solidFill>
                  <a:schemeClr val="bg2"/>
                </a:solidFill>
                <a:latin typeface="Courier New" pitchFamily="34" charset="0"/>
                <a:ea typeface="Courier New" pitchFamily="34" charset="-122"/>
                <a:cs typeface="Courier New" pitchFamily="34" charset="-120"/>
              </a:rPr>
              <a:t>NEW</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grant_id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 </a:t>
            </a:r>
            <a:pPr algn="l" indent="0" marL="0">
              <a:buNone/>
            </a:pPr>
            <a:r>
              <a:rPr lang="en-US" sz="1100" dirty="0">
                <a:solidFill>
                  <a:schemeClr val="bg2"/>
                </a:solidFill>
                <a:latin typeface="Courier New" pitchFamily="34" charset="0"/>
                <a:ea typeface="Courier New" pitchFamily="34" charset="-122"/>
                <a:cs typeface="Courier New" pitchFamily="34" charset="-120"/>
              </a:rPr>
              <a:t>NEW</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amount</a:t>
            </a:r>
            <a:pPr algn="l" indent="0" marL="0">
              <a:buNone/>
            </a:pPr>
            <a:r>
              <a:rPr lang="en-US" sz="1100" dirty="0">
                <a:solidFill>
                  <a:schemeClr val="bg2"/>
                </a:solidFill>
                <a:latin typeface="Courier New" pitchFamily="34" charset="0"/>
                <a:ea typeface="Courier New" pitchFamily="34" charset="-122"/>
                <a:cs typeface="Courier New" pitchFamily="34" charset="-120"/>
              </a:rPr>
              <a:t> &gt;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SELECT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grant_amount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FROM</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grant_award</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WHERE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grant_id</a:t>
            </a:r>
            <a:pPr algn="l" indent="0" marL="0">
              <a:buNone/>
            </a:pPr>
            <a:r>
              <a:rPr lang="en-US" sz="1100" dirty="0">
                <a:solidFill>
                  <a:schemeClr val="bg2"/>
                </a:solidFill>
                <a:latin typeface="Courier New" pitchFamily="34" charset="0"/>
                <a:ea typeface="Courier New" pitchFamily="34" charset="-122"/>
                <a:cs typeface="Courier New" pitchFamily="34" charset="-120"/>
              </a:rPr>
              <a:t> = </a:t>
            </a:r>
            <a:pPr algn="l" indent="0" marL="0">
              <a:buNone/>
            </a:pPr>
            <a:r>
              <a:rPr lang="en-US" sz="1100" dirty="0">
                <a:solidFill>
                  <a:schemeClr val="bg2"/>
                </a:solidFill>
                <a:latin typeface="Courier New" pitchFamily="34" charset="0"/>
                <a:ea typeface="Courier New" pitchFamily="34" charset="-122"/>
                <a:cs typeface="Courier New" pitchFamily="34" charset="-120"/>
              </a:rPr>
              <a:t>NEW</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grant_id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THEN</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SIGNAL</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SQLSTATE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rgbClr val="8FD3B6"/>
                </a:solidFill>
                <a:latin typeface="Courier New" pitchFamily="34" charset="0"/>
                <a:ea typeface="Courier New" pitchFamily="34" charset="-122"/>
                <a:cs typeface="Courier New" pitchFamily="34" charset="-120"/>
              </a:rPr>
              <a:t>'45000'</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SET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MESSAGE_TEXT</a:t>
            </a:r>
            <a:pPr algn="l" indent="0" marL="0">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rgbClr val="8FD3B6"/>
                </a:solidFill>
                <a:latin typeface="Courier New" pitchFamily="34" charset="0"/>
                <a:ea typeface="Courier New" pitchFamily="34" charset="-122"/>
                <a:cs typeface="Courier New" pitchFamily="34" charset="-120"/>
              </a:rPr>
              <a:t>'Expenditure exceeds grant'</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END</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IF</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accent2"/>
                </a:solidFill>
                <a:latin typeface="Courier New" pitchFamily="34" charset="0"/>
                <a:ea typeface="Courier New" pitchFamily="34" charset="-122"/>
                <a:cs typeface="Courier New" pitchFamily="34" charset="-120"/>
              </a:rPr>
              <a:t>END</a:t>
            </a:r>
            <a:endParaRPr lang="en-US" sz="1100" dirty="0"/>
          </a:p>
        </p:txBody>
      </p:sp>
      <p:sp>
        <p:nvSpPr>
          <p:cNvPr id="6" name="Milestone trigger"/>
          <p:cNvSpPr/>
          <p:nvPr/>
        </p:nvSpPr>
        <p:spPr>
          <a:xfrm>
            <a:off x="4663440" y="1097280"/>
            <a:ext cx="4023360" cy="2743200"/>
          </a:xfrm>
          <a:prstGeom prst="roundRect">
            <a:avLst>
              <a:gd name="adj" fmla="val 2667"/>
            </a:avLst>
          </a:prstGeom>
          <a:solidFill>
            <a:schemeClr val="tx1"/>
          </a:solidFill>
          <a:ln/>
        </p:spPr>
      </p:sp>
      <p:sp>
        <p:nvSpPr>
          <p:cNvPr id="7" name="Milestone trigger text"/>
          <p:cNvSpPr txBox="1"/>
          <p:nvPr/>
        </p:nvSpPr>
        <p:spPr>
          <a:xfrm>
            <a:off x="4800600" y="1207008"/>
            <a:ext cx="3749040" cy="2523744"/>
          </a:xfrm>
          <a:prstGeom prst="rect">
            <a:avLst/>
          </a:prstGeom>
          <a:noFill/>
          <a:ln/>
        </p:spPr>
        <p:txBody>
          <a:bodyPr wrap="square" lIns="0" tIns="0" rIns="0" bIns="0" rtlCol="0" anchor="t"/>
          <a:lstStyle/>
          <a:p>
            <a:pPr algn="l" indent="0" marL="0">
              <a:buNone/>
            </a:pPr>
            <a:r>
              <a:rPr lang="en-US" sz="1100" dirty="0">
                <a:solidFill>
                  <a:schemeClr val="accent2"/>
                </a:solidFill>
                <a:latin typeface="Courier New" pitchFamily="34" charset="0"/>
                <a:ea typeface="Courier New" pitchFamily="34" charset="-122"/>
                <a:cs typeface="Courier New" pitchFamily="34" charset="-120"/>
              </a:rPr>
              <a:t>CREATE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TRIGGER</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trg_ms_dates</a:t>
            </a:r>
            <a:endParaRPr lang="en-US" sz="1100" dirty="0"/>
          </a:p>
          <a:p>
            <a:pPr algn="l" indent="0" marL="0">
              <a:buNone/>
            </a:pPr>
            <a:r>
              <a:rPr lang="en-US" sz="1100" dirty="0">
                <a:solidFill>
                  <a:schemeClr val="accent2"/>
                </a:solidFill>
                <a:latin typeface="Courier New" pitchFamily="34" charset="0"/>
                <a:ea typeface="Courier New" pitchFamily="34" charset="-122"/>
                <a:cs typeface="Courier New" pitchFamily="34" charset="-120"/>
              </a:rPr>
              <a:t>BEFORE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INSERT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ON</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milestone</a:t>
            </a:r>
            <a:endParaRPr lang="en-US" sz="1100" dirty="0"/>
          </a:p>
          <a:p>
            <a:pPr algn="l" indent="0" marL="0">
              <a:buNone/>
            </a:pPr>
            <a:r>
              <a:rPr lang="en-US" sz="1100" dirty="0">
                <a:solidFill>
                  <a:schemeClr val="accent2"/>
                </a:solidFill>
                <a:latin typeface="Courier New" pitchFamily="34" charset="0"/>
                <a:ea typeface="Courier New" pitchFamily="34" charset="-122"/>
                <a:cs typeface="Courier New" pitchFamily="34" charset="-120"/>
              </a:rPr>
              <a:t>FOR</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EACH</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ROW</a:t>
            </a:r>
            <a:endParaRPr lang="en-US" sz="1100" dirty="0"/>
          </a:p>
          <a:p>
            <a:pPr algn="l" indent="0" marL="0">
              <a:buNone/>
            </a:pPr>
            <a:r>
              <a:rPr lang="en-US" sz="1100" dirty="0">
                <a:solidFill>
                  <a:schemeClr val="accent2"/>
                </a:solidFill>
                <a:latin typeface="Courier New" pitchFamily="34" charset="0"/>
                <a:ea typeface="Courier New" pitchFamily="34" charset="-122"/>
                <a:cs typeface="Courier New" pitchFamily="34" charset="-120"/>
              </a:rPr>
              <a:t>BEGIN</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IF</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NEW</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due_date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NOT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BETWEEN</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SELECT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start_date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FROM</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project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WHERE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project_id</a:t>
            </a:r>
            <a:pPr algn="l" indent="0" marL="0">
              <a:buNone/>
            </a:pPr>
            <a:r>
              <a:rPr lang="en-US" sz="1100" dirty="0">
                <a:solidFill>
                  <a:schemeClr val="bg2"/>
                </a:solidFill>
                <a:latin typeface="Courier New" pitchFamily="34" charset="0"/>
                <a:ea typeface="Courier New" pitchFamily="34" charset="-122"/>
                <a:cs typeface="Courier New" pitchFamily="34" charset="-120"/>
              </a:rPr>
              <a:t> = </a:t>
            </a:r>
            <a:pPr algn="l" indent="0" marL="0">
              <a:buNone/>
            </a:pPr>
            <a:r>
              <a:rPr lang="en-US" sz="1100" dirty="0">
                <a:solidFill>
                  <a:schemeClr val="bg2"/>
                </a:solidFill>
                <a:latin typeface="Courier New" pitchFamily="34" charset="0"/>
                <a:ea typeface="Courier New" pitchFamily="34" charset="-122"/>
                <a:cs typeface="Courier New" pitchFamily="34" charset="-120"/>
              </a:rPr>
              <a:t>NEW</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project_id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AND</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SELECT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end_date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FROM</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project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WHERE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project_id</a:t>
            </a:r>
            <a:pPr algn="l" indent="0" marL="0">
              <a:buNone/>
            </a:pPr>
            <a:r>
              <a:rPr lang="en-US" sz="1100" dirty="0">
                <a:solidFill>
                  <a:schemeClr val="bg2"/>
                </a:solidFill>
                <a:latin typeface="Courier New" pitchFamily="34" charset="0"/>
                <a:ea typeface="Courier New" pitchFamily="34" charset="-122"/>
                <a:cs typeface="Courier New" pitchFamily="34" charset="-120"/>
              </a:rPr>
              <a:t> = </a:t>
            </a:r>
            <a:pPr algn="l" indent="0" marL="0">
              <a:buNone/>
            </a:pPr>
            <a:r>
              <a:rPr lang="en-US" sz="1100" dirty="0">
                <a:solidFill>
                  <a:schemeClr val="bg2"/>
                </a:solidFill>
                <a:latin typeface="Courier New" pitchFamily="34" charset="0"/>
                <a:ea typeface="Courier New" pitchFamily="34" charset="-122"/>
                <a:cs typeface="Courier New" pitchFamily="34" charset="-120"/>
              </a:rPr>
              <a:t>NEW</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project_id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THEN</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SIGNAL</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SQLSTATE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rgbClr val="8FD3B6"/>
                </a:solidFill>
                <a:latin typeface="Courier New" pitchFamily="34" charset="0"/>
                <a:ea typeface="Courier New" pitchFamily="34" charset="-122"/>
                <a:cs typeface="Courier New" pitchFamily="34" charset="-120"/>
              </a:rPr>
              <a:t>'45000'</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SET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MESSAGE_TEXT</a:t>
            </a:r>
            <a:pPr algn="l" indent="0" marL="0">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rgbClr val="8FD3B6"/>
                </a:solidFill>
                <a:latin typeface="Courier New" pitchFamily="34" charset="0"/>
                <a:ea typeface="Courier New" pitchFamily="34" charset="-122"/>
                <a:cs typeface="Courier New" pitchFamily="34" charset="-120"/>
              </a:rPr>
              <a:t>'Milestone outside project'</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END</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IF</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accent2"/>
                </a:solidFill>
                <a:latin typeface="Courier New" pitchFamily="34" charset="0"/>
                <a:ea typeface="Courier New" pitchFamily="34" charset="-122"/>
                <a:cs typeface="Courier New" pitchFamily="34" charset="-120"/>
              </a:rPr>
              <a:t>END</a:t>
            </a:r>
            <a:endParaRPr lang="en-US" sz="1100" dirty="0"/>
          </a:p>
        </p:txBody>
      </p:sp>
      <p:sp>
        <p:nvSpPr>
          <p:cNvPr id="8" name="Text 5"/>
          <p:cNvSpPr txBox="1"/>
          <p:nvPr/>
        </p:nvSpPr>
        <p:spPr>
          <a:xfrm>
            <a:off x="457200" y="4023360"/>
            <a:ext cx="4114800" cy="594360"/>
          </a:xfrm>
          <a:prstGeom prst="rect">
            <a:avLst/>
          </a:prstGeom>
          <a:noFill/>
          <a:ln/>
        </p:spPr>
        <p:txBody>
          <a:bodyPr wrap="square" lIns="0" tIns="0" rIns="0" bIns="0" rtlCol="0" anchor="t"/>
          <a:lstStyle/>
          <a:p>
            <a:pPr indent="0" marL="0">
              <a:buNone/>
            </a:pPr>
            <a:r>
              <a:rPr lang="en-US" sz="1400" b="1" dirty="0">
                <a:solidFill>
                  <a:schemeClr val="accent1"/>
                </a:solidFill>
              </a:rPr>
              <a:t>Budget rule: </a:t>
            </a:r>
            <a:pPr indent="0" marL="0">
              <a:buNone/>
            </a:pPr>
            <a:r>
              <a:rPr lang="en-US" sz="1400" dirty="0">
                <a:solidFill>
                  <a:schemeClr val="tx1"/>
                </a:solidFill>
              </a:rPr>
              <a:t>total spent plus the new amount may not exceed the grant.</a:t>
            </a:r>
            <a:endParaRPr lang="en-US" sz="1400" dirty="0"/>
          </a:p>
        </p:txBody>
      </p:sp>
      <p:sp>
        <p:nvSpPr>
          <p:cNvPr id="9" name="Text 6"/>
          <p:cNvSpPr txBox="1"/>
          <p:nvPr/>
        </p:nvSpPr>
        <p:spPr>
          <a:xfrm>
            <a:off x="4663440" y="4023360"/>
            <a:ext cx="4023360" cy="594360"/>
          </a:xfrm>
          <a:prstGeom prst="rect">
            <a:avLst/>
          </a:prstGeom>
          <a:noFill/>
          <a:ln/>
        </p:spPr>
        <p:txBody>
          <a:bodyPr wrap="square" lIns="0" tIns="0" rIns="0" bIns="0" rtlCol="0" anchor="t"/>
          <a:lstStyle/>
          <a:p>
            <a:pPr indent="0" marL="0">
              <a:buNone/>
            </a:pPr>
            <a:r>
              <a:rPr lang="en-US" sz="1400" b="1" dirty="0">
                <a:solidFill>
                  <a:schemeClr val="accent1"/>
                </a:solidFill>
              </a:rPr>
              <a:t>Date rule: </a:t>
            </a:r>
            <a:pPr indent="0" marL="0">
              <a:buNone/>
            </a:pPr>
            <a:r>
              <a:rPr lang="en-US" sz="1400" dirty="0">
                <a:solidFill>
                  <a:schemeClr val="tx1"/>
                </a:solidFill>
              </a:rPr>
              <a:t>due date must fall inside the project dates.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Sample Data Loaded</a:t>
            </a:r>
            <a:endParaRPr lang="en-US" sz="3200" dirty="0"/>
          </a:p>
        </p:txBody>
      </p:sp>
      <p:graphicFrame>
        <p:nvGraphicFramePr>
          <p:cNvPr id="4" name="Chart 0" descr=""/>
          <p:cNvGraphicFramePr/>
          <p:nvPr/>
        </p:nvGraphicFramePr>
        <p:xfrm>
          <a:off x="365760" y="1051560"/>
          <a:ext cx="5486400" cy="3611880"/>
        </p:xfrm>
        <a:graphic xmlns:a="http://schemas.openxmlformats.org/drawingml/2006/main">
          <a:graphicData uri="http://schemas.openxmlformats.org/drawingml/2006/chart">
            <c:chart xmlns:c="http://schemas.openxmlformats.org/drawingml/2006/chart" r:id="rId1"/>
          </a:graphicData>
        </a:graphic>
      </p:graphicFrame>
      <p:sp>
        <p:nvSpPr>
          <p:cNvPr id="5" name="Stat card"/>
          <p:cNvSpPr/>
          <p:nvPr/>
        </p:nvSpPr>
        <p:spPr>
          <a:xfrm>
            <a:off x="6126480" y="1188720"/>
            <a:ext cx="2560320" cy="1280160"/>
          </a:xfrm>
          <a:prstGeom prst="roundRect">
            <a:avLst>
              <a:gd name="adj" fmla="val 5714"/>
            </a:avLst>
          </a:prstGeom>
          <a:solidFill>
            <a:schemeClr val="accent1"/>
          </a:solidFill>
          <a:ln/>
        </p:spPr>
      </p:sp>
      <p:sp>
        <p:nvSpPr>
          <p:cNvPr id="6" name="Text 2"/>
          <p:cNvSpPr txBox="1"/>
          <p:nvPr/>
        </p:nvSpPr>
        <p:spPr>
          <a:xfrm>
            <a:off x="6309360" y="1234440"/>
            <a:ext cx="2194560" cy="731520"/>
          </a:xfrm>
          <a:prstGeom prst="rect">
            <a:avLst/>
          </a:prstGeom>
          <a:noFill/>
          <a:ln/>
        </p:spPr>
        <p:txBody>
          <a:bodyPr wrap="square" lIns="0" tIns="0" rIns="0" bIns="0" rtlCol="0" anchor="ctr"/>
          <a:lstStyle/>
          <a:p>
            <a:pPr indent="0" marL="0">
              <a:buNone/>
            </a:pPr>
            <a:r>
              <a:rPr lang="en-US" sz="4400" b="1" dirty="0">
                <a:solidFill>
                  <a:schemeClr val="bg1"/>
                </a:solidFill>
              </a:rPr>
              <a:t>286</a:t>
            </a:r>
            <a:endParaRPr lang="en-US" sz="4400" dirty="0"/>
          </a:p>
        </p:txBody>
      </p:sp>
      <p:sp>
        <p:nvSpPr>
          <p:cNvPr id="7" name="Text 3"/>
          <p:cNvSpPr txBox="1"/>
          <p:nvPr/>
        </p:nvSpPr>
        <p:spPr>
          <a:xfrm>
            <a:off x="6309360" y="1965960"/>
            <a:ext cx="2194560" cy="320040"/>
          </a:xfrm>
          <a:prstGeom prst="rect">
            <a:avLst/>
          </a:prstGeom>
          <a:noFill/>
          <a:ln/>
        </p:spPr>
        <p:txBody>
          <a:bodyPr wrap="square" lIns="0" tIns="0" rIns="0" bIns="0" rtlCol="0" anchor="t"/>
          <a:lstStyle/>
          <a:p>
            <a:pPr indent="0" marL="0">
              <a:buNone/>
            </a:pPr>
            <a:r>
              <a:rPr lang="en-US" sz="1400" dirty="0">
                <a:solidFill>
                  <a:schemeClr val="bg1"/>
                </a:solidFill>
              </a:rPr>
              <a:t>rows across 13 tables</a:t>
            </a:r>
            <a:endParaRPr lang="en-US" sz="1400" dirty="0"/>
          </a:p>
        </p:txBody>
      </p:sp>
      <p:sp>
        <p:nvSpPr>
          <p:cNvPr id="8" name="Text 4"/>
          <p:cNvSpPr txBox="1"/>
          <p:nvPr/>
        </p:nvSpPr>
        <p:spPr>
          <a:xfrm>
            <a:off x="6126480" y="2697480"/>
            <a:ext cx="256032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Loaded parents first, then children</a:t>
            </a:r>
            <a:endParaRPr lang="en-US" sz="1400" dirty="0"/>
          </a:p>
          <a:p>
            <a:pPr marL="342900" indent="-342900">
              <a:spcAft>
                <a:spcPts val="600"/>
              </a:spcAft>
              <a:buSzPct val="100000"/>
              <a:buChar char="•"/>
            </a:pPr>
            <a:r>
              <a:rPr lang="en-US" sz="1400" dirty="0">
                <a:solidFill>
                  <a:schemeClr val="tx1"/>
                </a:solidFill>
              </a:rPr>
              <a:t>Agencies: DST, SERB, DBT, ICMR, CSIR</a:t>
            </a:r>
            <a:endParaRPr lang="en-US" sz="1400" dirty="0"/>
          </a:p>
          <a:p>
            <a:pPr marL="342900" indent="-342900">
              <a:spcAft>
                <a:spcPts val="600"/>
              </a:spcAft>
              <a:buSzPct val="100000"/>
              <a:buChar char="•"/>
            </a:pPr>
            <a:r>
              <a:rPr lang="en-US" sz="1400" dirty="0">
                <a:solidFill>
                  <a:schemeClr val="tx1"/>
                </a:solidFill>
              </a:rPr>
              <a:t>Includes invalid rows to test every rule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Query: Project Progress</a:t>
            </a:r>
            <a:endParaRPr lang="en-US" sz="3200" dirty="0"/>
          </a:p>
        </p:txBody>
      </p:sp>
      <p:sp>
        <p:nvSpPr>
          <p:cNvPr id="4" name="Progress query"/>
          <p:cNvSpPr/>
          <p:nvPr/>
        </p:nvSpPr>
        <p:spPr>
          <a:xfrm>
            <a:off x="457200" y="1143000"/>
            <a:ext cx="5029200" cy="1783080"/>
          </a:xfrm>
          <a:prstGeom prst="roundRect">
            <a:avLst>
              <a:gd name="adj" fmla="val 4103"/>
            </a:avLst>
          </a:prstGeom>
          <a:solidFill>
            <a:schemeClr val="tx1"/>
          </a:solidFill>
          <a:ln/>
        </p:spPr>
      </p:sp>
      <p:sp>
        <p:nvSpPr>
          <p:cNvPr id="5" name="Progress query text"/>
          <p:cNvSpPr txBox="1"/>
          <p:nvPr/>
        </p:nvSpPr>
        <p:spPr>
          <a:xfrm>
            <a:off x="594360" y="1252728"/>
            <a:ext cx="4754880" cy="1563624"/>
          </a:xfrm>
          <a:prstGeom prst="rect">
            <a:avLst/>
          </a:prstGeom>
          <a:noFill/>
          <a:ln/>
        </p:spPr>
        <p:txBody>
          <a:bodyPr wrap="square" lIns="0" tIns="0" rIns="0" bIns="0" rtlCol="0" anchor="t"/>
          <a:lstStyle/>
          <a:p>
            <a:pPr algn="l" indent="0" marL="0">
              <a:buNone/>
            </a:pPr>
            <a:r>
              <a:rPr lang="en-US" sz="1100" dirty="0">
                <a:solidFill>
                  <a:schemeClr val="accent2"/>
                </a:solidFill>
                <a:latin typeface="Courier New" pitchFamily="34" charset="0"/>
                <a:ea typeface="Courier New" pitchFamily="34" charset="-122"/>
                <a:cs typeface="Courier New" pitchFamily="34" charset="-120"/>
              </a:rPr>
              <a:t>SELECT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title</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SUM</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m</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status</a:t>
            </a:r>
            <a:pPr algn="l" indent="0" marL="0">
              <a:buNone/>
            </a:pPr>
            <a:r>
              <a:rPr lang="en-US" sz="1100" dirty="0">
                <a:solidFill>
                  <a:schemeClr val="bg2"/>
                </a:solidFill>
                <a:latin typeface="Courier New" pitchFamily="34" charset="0"/>
                <a:ea typeface="Courier New" pitchFamily="34" charset="-122"/>
                <a:cs typeface="Courier New" pitchFamily="34" charset="-120"/>
              </a:rPr>
              <a:t> = </a:t>
            </a:r>
            <a:pPr algn="l" indent="0" marL="0">
              <a:buNone/>
            </a:pPr>
            <a:r>
              <a:rPr lang="en-US" sz="1100" dirty="0">
                <a:solidFill>
                  <a:srgbClr val="8FD3B6"/>
                </a:solidFill>
                <a:latin typeface="Courier New" pitchFamily="34" charset="0"/>
                <a:ea typeface="Courier New" pitchFamily="34" charset="-122"/>
                <a:cs typeface="Courier New" pitchFamily="34" charset="-120"/>
              </a:rPr>
              <a:t>'Completed'</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AS</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done</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COUNT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AS</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total</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ROUND</a:t>
            </a:r>
            <a:pPr algn="l" indent="0" marL="0">
              <a:buNone/>
            </a:pPr>
            <a:r>
              <a:rPr lang="en-US" sz="1100" dirty="0">
                <a:solidFill>
                  <a:schemeClr val="bg2"/>
                </a:solidFill>
                <a:latin typeface="Courier New" pitchFamily="34" charset="0"/>
                <a:ea typeface="Courier New" pitchFamily="34" charset="-122"/>
                <a:cs typeface="Courier New" pitchFamily="34" charset="-120"/>
              </a:rPr>
              <a:t>(100 * </a:t>
            </a:r>
            <a:pPr algn="l" indent="0" marL="0">
              <a:buNone/>
            </a:pPr>
            <a:r>
              <a:rPr lang="en-US" sz="1100" dirty="0">
                <a:solidFill>
                  <a:schemeClr val="accent2"/>
                </a:solidFill>
                <a:latin typeface="Courier New" pitchFamily="34" charset="0"/>
                <a:ea typeface="Courier New" pitchFamily="34" charset="-122"/>
                <a:cs typeface="Courier New" pitchFamily="34" charset="-120"/>
              </a:rPr>
              <a:t>SUM</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m</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status</a:t>
            </a:r>
            <a:pPr algn="l" indent="0" marL="0">
              <a:buNone/>
            </a:pPr>
            <a:r>
              <a:rPr lang="en-US" sz="1100" dirty="0">
                <a:solidFill>
                  <a:schemeClr val="bg2"/>
                </a:solidFill>
                <a:latin typeface="Courier New" pitchFamily="34" charset="0"/>
                <a:ea typeface="Courier New" pitchFamily="34" charset="-122"/>
                <a:cs typeface="Courier New" pitchFamily="34" charset="-120"/>
              </a:rPr>
              <a:t> = </a:t>
            </a:r>
            <a:pPr algn="l" indent="0" marL="0">
              <a:buNone/>
            </a:pPr>
            <a:r>
              <a:rPr lang="en-US" sz="1100" dirty="0">
                <a:solidFill>
                  <a:srgbClr val="8FD3B6"/>
                </a:solidFill>
                <a:latin typeface="Courier New" pitchFamily="34" charset="0"/>
                <a:ea typeface="Courier New" pitchFamily="34" charset="-122"/>
                <a:cs typeface="Courier New" pitchFamily="34" charset="-120"/>
              </a:rPr>
              <a:t>'Completed'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 </a:t>
            </a:r>
            <a:pPr algn="l" indent="0" marL="0">
              <a:buNone/>
            </a:pPr>
            <a:r>
              <a:rPr lang="en-US" sz="1100" dirty="0">
                <a:solidFill>
                  <a:schemeClr val="accent2"/>
                </a:solidFill>
                <a:latin typeface="Courier New" pitchFamily="34" charset="0"/>
                <a:ea typeface="Courier New" pitchFamily="34" charset="-122"/>
                <a:cs typeface="Courier New" pitchFamily="34" charset="-120"/>
              </a:rPr>
              <a:t>COUNT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AS</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pct</a:t>
            </a:r>
            <a:endParaRPr lang="en-US" sz="1100" dirty="0"/>
          </a:p>
          <a:p>
            <a:pPr algn="l" indent="0" marL="0">
              <a:buNone/>
            </a:pPr>
            <a:r>
              <a:rPr lang="en-US" sz="1100" dirty="0">
                <a:solidFill>
                  <a:schemeClr val="accent2"/>
                </a:solidFill>
                <a:latin typeface="Courier New" pitchFamily="34" charset="0"/>
                <a:ea typeface="Courier New" pitchFamily="34" charset="-122"/>
                <a:cs typeface="Courier New" pitchFamily="34" charset="-120"/>
              </a:rPr>
              <a:t>FROM</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project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a:t>
            </a:r>
            <a:endParaRPr lang="en-US" sz="1100" dirty="0"/>
          </a:p>
          <a:p>
            <a:pPr algn="l" indent="0" marL="0">
              <a:buNone/>
            </a:pPr>
            <a:r>
              <a:rPr lang="en-US" sz="1100" dirty="0">
                <a:solidFill>
                  <a:schemeClr val="accent2"/>
                </a:solidFill>
                <a:latin typeface="Courier New" pitchFamily="34" charset="0"/>
                <a:ea typeface="Courier New" pitchFamily="34" charset="-122"/>
                <a:cs typeface="Courier New" pitchFamily="34" charset="-120"/>
              </a:rPr>
              <a:t>JOIN</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milestone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m</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USING</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project_id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accent2"/>
                </a:solidFill>
                <a:latin typeface="Courier New" pitchFamily="34" charset="0"/>
                <a:ea typeface="Courier New" pitchFamily="34" charset="-122"/>
                <a:cs typeface="Courier New" pitchFamily="34" charset="-120"/>
              </a:rPr>
              <a:t>GROUP</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BY</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project_id</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title</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graphicFrame>
        <p:nvGraphicFramePr>
          <p:cNvPr id="13" name="Progress result"/>
          <p:cNvGraphicFramePr>
            <a:graphicFrameLocks noGrp="1"/>
          </p:cNvGraphicFramePr>
          <p:nvPr>
            <p:extLst>
              <p:ext uri="{D42A27DB-BD31-4B8C-83A1-F6EECF244321}">
                <p14:modId xmlns:p14="http://schemas.microsoft.com/office/powerpoint/2010/main" val="1579011935"/>
              </p:ext>
            </p:extLst>
          </p:nvPr>
        </p:nvGraphicFramePr>
        <p:xfrm>
          <a:off x="5669280" y="1143000"/>
          <a:ext cx="3017520" cy="914400"/>
        </p:xfrm>
        <a:graphic>
          <a:graphicData uri="http://schemas.openxmlformats.org/drawingml/2006/table">
            <a:tbl>
              <a:tblPr/>
              <a:tblGrid>
                <a:gridCol w="1280160"/>
                <a:gridCol w="594360"/>
                <a:gridCol w="594360"/>
                <a:gridCol w="548640"/>
              </a:tblGrid>
              <a:tr h="310896">
                <a:tc>
                  <a:txBody>
                    <a:bodyPr/>
                    <a:lstStyle/>
                    <a:p>
                      <a:pPr indent="0" marL="0">
                        <a:buNone/>
                      </a:pPr>
                      <a:r>
                        <a:rPr lang="en-US" sz="1200" b="1" dirty="0">
                          <a:solidFill>
                            <a:schemeClr val="bg1"/>
                          </a:solidFill>
                        </a:rPr>
                        <a:t>Project</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Done</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Total</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r>
              <a:tr h="310896">
                <a:tc>
                  <a:txBody>
                    <a:bodyPr/>
                    <a:lstStyle/>
                    <a:p>
                      <a:pPr indent="0" marL="0">
                        <a:buNone/>
                      </a:pPr>
                      <a:r>
                        <a:rPr lang="en-US" sz="1200" b="1" dirty="0">
                          <a:solidFill>
                            <a:schemeClr val="tx1"/>
                          </a:solidFill>
                        </a:rPr>
                        <a:t>AI Crop Disease</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8</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63</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310896">
                <a:tc>
                  <a:txBody>
                    <a:bodyPr/>
                    <a:lstStyle/>
                    <a:p>
                      <a:pPr indent="0" marL="0">
                        <a:buNone/>
                      </a:pPr>
                      <a:r>
                        <a:rPr lang="en-US" sz="1200" b="1" dirty="0">
                          <a:solidFill>
                            <a:schemeClr val="tx1"/>
                          </a:solidFill>
                        </a:rPr>
                        <a:t>Water Purifier</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4</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5</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80</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310896">
                <a:tc>
                  <a:txBody>
                    <a:bodyPr/>
                    <a:lstStyle/>
                    <a:p>
                      <a:pPr indent="0" marL="0">
                        <a:buNone/>
                      </a:pPr>
                      <a:r>
                        <a:rPr lang="en-US" sz="1200" b="1" dirty="0">
                          <a:solidFill>
                            <a:schemeClr val="tx1"/>
                          </a:solidFill>
                        </a:rPr>
                        <a:t>Wearable ECG</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6</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33</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310896">
                <a:tc>
                  <a:txBody>
                    <a:bodyPr/>
                    <a:lstStyle/>
                    <a:p>
                      <a:pPr indent="0" marL="0">
                        <a:buNone/>
                      </a:pPr>
                      <a:r>
                        <a:rPr lang="en-US" sz="1200" b="1" dirty="0">
                          <a:solidFill>
                            <a:schemeClr val="tx1"/>
                          </a:solidFill>
                        </a:rPr>
                        <a:t>Bio-Packaging</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5</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6</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83</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bl>
          </a:graphicData>
        </a:graphic>
      </p:graphicFrame>
      <p:sp>
        <p:nvSpPr>
          <p:cNvPr id="7" name="Technique tag"/>
          <p:cNvSpPr/>
          <p:nvPr/>
        </p:nvSpPr>
        <p:spPr>
          <a:xfrm>
            <a:off x="457200" y="3383280"/>
            <a:ext cx="914400" cy="329184"/>
          </a:xfrm>
          <a:prstGeom prst="roundRect">
            <a:avLst>
              <a:gd name="adj" fmla="val 50000"/>
            </a:avLst>
          </a:prstGeom>
          <a:solidFill>
            <a:schemeClr val="accent3"/>
          </a:solidFill>
          <a:ln/>
        </p:spPr>
      </p:sp>
      <p:sp>
        <p:nvSpPr>
          <p:cNvPr id="8" name="Text 4"/>
          <p:cNvSpPr txBox="1"/>
          <p:nvPr/>
        </p:nvSpPr>
        <p:spPr>
          <a:xfrm>
            <a:off x="457200" y="3383280"/>
            <a:ext cx="914400" cy="329184"/>
          </a:xfrm>
          <a:prstGeom prst="rect">
            <a:avLst/>
          </a:prstGeom>
          <a:noFill/>
          <a:ln/>
        </p:spPr>
        <p:txBody>
          <a:bodyPr wrap="square" lIns="0" tIns="0" rIns="0" bIns="0" rtlCol="0" anchor="ctr"/>
          <a:lstStyle/>
          <a:p>
            <a:pPr algn="ctr" indent="0" marL="0">
              <a:buNone/>
            </a:pPr>
            <a:r>
              <a:rPr lang="en-US" sz="1300" b="1" dirty="0">
                <a:solidFill>
                  <a:schemeClr val="bg1"/>
                </a:solidFill>
              </a:rPr>
              <a:t>JOIN</a:t>
            </a:r>
            <a:endParaRPr lang="en-US" sz="1300" dirty="0"/>
          </a:p>
        </p:txBody>
      </p:sp>
      <p:sp>
        <p:nvSpPr>
          <p:cNvPr id="9" name="Technique tag"/>
          <p:cNvSpPr/>
          <p:nvPr/>
        </p:nvSpPr>
        <p:spPr>
          <a:xfrm>
            <a:off x="1508760" y="3383280"/>
            <a:ext cx="1280160" cy="329184"/>
          </a:xfrm>
          <a:prstGeom prst="roundRect">
            <a:avLst>
              <a:gd name="adj" fmla="val 50000"/>
            </a:avLst>
          </a:prstGeom>
          <a:solidFill>
            <a:schemeClr val="accent3"/>
          </a:solidFill>
          <a:ln/>
        </p:spPr>
      </p:sp>
      <p:sp>
        <p:nvSpPr>
          <p:cNvPr id="10" name="Text 6"/>
          <p:cNvSpPr txBox="1"/>
          <p:nvPr/>
        </p:nvSpPr>
        <p:spPr>
          <a:xfrm>
            <a:off x="1508760" y="3383280"/>
            <a:ext cx="1280160" cy="329184"/>
          </a:xfrm>
          <a:prstGeom prst="rect">
            <a:avLst/>
          </a:prstGeom>
          <a:noFill/>
          <a:ln/>
        </p:spPr>
        <p:txBody>
          <a:bodyPr wrap="square" lIns="0" tIns="0" rIns="0" bIns="0" rtlCol="0" anchor="ctr"/>
          <a:lstStyle/>
          <a:p>
            <a:pPr algn="ctr" indent="0" marL="0">
              <a:buNone/>
            </a:pPr>
            <a:r>
              <a:rPr lang="en-US" sz="1300" b="1" dirty="0">
                <a:solidFill>
                  <a:schemeClr val="bg1"/>
                </a:solidFill>
              </a:rPr>
              <a:t>GROUP BY</a:t>
            </a:r>
            <a:endParaRPr lang="en-US" sz="1300" dirty="0"/>
          </a:p>
        </p:txBody>
      </p:sp>
      <p:sp>
        <p:nvSpPr>
          <p:cNvPr id="11" name="Technique tag"/>
          <p:cNvSpPr/>
          <p:nvPr/>
        </p:nvSpPr>
        <p:spPr>
          <a:xfrm>
            <a:off x="2926080" y="3383280"/>
            <a:ext cx="2011680" cy="329184"/>
          </a:xfrm>
          <a:prstGeom prst="roundRect">
            <a:avLst>
              <a:gd name="adj" fmla="val 50000"/>
            </a:avLst>
          </a:prstGeom>
          <a:solidFill>
            <a:schemeClr val="accent3"/>
          </a:solidFill>
          <a:ln/>
        </p:spPr>
      </p:sp>
      <p:sp>
        <p:nvSpPr>
          <p:cNvPr id="12" name="Text 8"/>
          <p:cNvSpPr txBox="1"/>
          <p:nvPr/>
        </p:nvSpPr>
        <p:spPr>
          <a:xfrm>
            <a:off x="2926080" y="3383280"/>
            <a:ext cx="2011680" cy="329184"/>
          </a:xfrm>
          <a:prstGeom prst="rect">
            <a:avLst/>
          </a:prstGeom>
          <a:noFill/>
          <a:ln/>
        </p:spPr>
        <p:txBody>
          <a:bodyPr wrap="square" lIns="0" tIns="0" rIns="0" bIns="0" rtlCol="0" anchor="ctr"/>
          <a:lstStyle/>
          <a:p>
            <a:pPr algn="ctr" indent="0" marL="0">
              <a:buNone/>
            </a:pPr>
            <a:r>
              <a:rPr lang="en-US" sz="1300" b="1" dirty="0">
                <a:solidFill>
                  <a:schemeClr val="bg1"/>
                </a:solidFill>
              </a:rPr>
              <a:t>Aggregate functions</a:t>
            </a:r>
            <a:endParaRPr lang="en-US" sz="1300" dirty="0"/>
          </a:p>
        </p:txBody>
      </p:sp>
      <p:sp>
        <p:nvSpPr>
          <p:cNvPr id="13" name="Text 9"/>
          <p:cNvSpPr txBox="1"/>
          <p:nvPr/>
        </p:nvSpPr>
        <p:spPr>
          <a:xfrm>
            <a:off x="457200" y="3931920"/>
            <a:ext cx="8229600" cy="320040"/>
          </a:xfrm>
          <a:prstGeom prst="rect">
            <a:avLst/>
          </a:prstGeom>
          <a:noFill/>
          <a:ln/>
        </p:spPr>
        <p:txBody>
          <a:bodyPr wrap="square" lIns="0" tIns="0" rIns="0" bIns="0" rtlCol="0" anchor="t"/>
          <a:lstStyle/>
          <a:p>
            <a:pPr indent="0" marL="0">
              <a:buNone/>
            </a:pPr>
            <a:r>
              <a:rPr lang="en-US" sz="1400" dirty="0">
                <a:solidFill>
                  <a:schemeClr val="accent6"/>
                </a:solidFill>
              </a:rPr>
              <a:t>Sample output shown on the right. Percentages are rounded.</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View: Budget Utilization</a:t>
            </a:r>
            <a:endParaRPr lang="en-US" sz="3200" dirty="0"/>
          </a:p>
        </p:txBody>
      </p:sp>
      <p:sp>
        <p:nvSpPr>
          <p:cNvPr id="4" name="Budget view"/>
          <p:cNvSpPr/>
          <p:nvPr/>
        </p:nvSpPr>
        <p:spPr>
          <a:xfrm>
            <a:off x="457200" y="1097280"/>
            <a:ext cx="4937760" cy="3200400"/>
          </a:xfrm>
          <a:prstGeom prst="roundRect">
            <a:avLst>
              <a:gd name="adj" fmla="val 2286"/>
            </a:avLst>
          </a:prstGeom>
          <a:solidFill>
            <a:schemeClr val="tx1"/>
          </a:solidFill>
          <a:ln/>
        </p:spPr>
      </p:sp>
      <p:sp>
        <p:nvSpPr>
          <p:cNvPr id="5" name="Budget view text"/>
          <p:cNvSpPr txBox="1"/>
          <p:nvPr/>
        </p:nvSpPr>
        <p:spPr>
          <a:xfrm>
            <a:off x="594360" y="1207008"/>
            <a:ext cx="4663440" cy="2980944"/>
          </a:xfrm>
          <a:prstGeom prst="rect">
            <a:avLst/>
          </a:prstGeom>
          <a:noFill/>
          <a:ln/>
        </p:spPr>
        <p:txBody>
          <a:bodyPr wrap="square" lIns="0" tIns="0" rIns="0" bIns="0" rtlCol="0" anchor="t"/>
          <a:lstStyle/>
          <a:p>
            <a:pPr algn="l" indent="0" marL="0">
              <a:buNone/>
            </a:pPr>
            <a:r>
              <a:rPr lang="en-US" sz="1100" dirty="0">
                <a:solidFill>
                  <a:schemeClr val="accent2"/>
                </a:solidFill>
                <a:latin typeface="Courier New" pitchFamily="34" charset="0"/>
                <a:ea typeface="Courier New" pitchFamily="34" charset="-122"/>
                <a:cs typeface="Courier New" pitchFamily="34" charset="-120"/>
              </a:rPr>
              <a:t>CREATE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VIEW</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v_budget_utilization</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AS</a:t>
            </a:r>
            <a:endParaRPr lang="en-US" sz="1100" dirty="0"/>
          </a:p>
          <a:p>
            <a:pPr algn="l" indent="0" marL="0">
              <a:buNone/>
            </a:pPr>
            <a:r>
              <a:rPr lang="en-US" sz="1100" dirty="0">
                <a:solidFill>
                  <a:schemeClr val="accent2"/>
                </a:solidFill>
                <a:latin typeface="Courier New" pitchFamily="34" charset="0"/>
                <a:ea typeface="Courier New" pitchFamily="34" charset="-122"/>
                <a:cs typeface="Courier New" pitchFamily="34" charset="-120"/>
              </a:rPr>
              <a:t>SELECT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title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g</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sanctioned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IFNULL</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e</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spent</a:t>
            </a:r>
            <a:pPr algn="l" indent="0" marL="0">
              <a:buNone/>
            </a:pPr>
            <a:r>
              <a:rPr lang="en-US" sz="1100" dirty="0">
                <a:solidFill>
                  <a:schemeClr val="bg2"/>
                </a:solidFill>
                <a:latin typeface="Courier New" pitchFamily="34" charset="0"/>
                <a:ea typeface="Courier New" pitchFamily="34" charset="-122"/>
                <a:cs typeface="Courier New" pitchFamily="34" charset="-120"/>
              </a:rPr>
              <a:t>, 0) </a:t>
            </a:r>
            <a:pPr algn="l" indent="0" marL="0">
              <a:buNone/>
            </a:pPr>
            <a:r>
              <a:rPr lang="en-US" sz="1100" dirty="0">
                <a:solidFill>
                  <a:schemeClr val="accent2"/>
                </a:solidFill>
                <a:latin typeface="Courier New" pitchFamily="34" charset="0"/>
                <a:ea typeface="Courier New" pitchFamily="34" charset="-122"/>
                <a:cs typeface="Courier New" pitchFamily="34" charset="-120"/>
              </a:rPr>
              <a:t>AS</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spent</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ROUND</a:t>
            </a:r>
            <a:pPr algn="l" indent="0" marL="0">
              <a:buNone/>
            </a:pPr>
            <a:r>
              <a:rPr lang="en-US" sz="1100" dirty="0">
                <a:solidFill>
                  <a:schemeClr val="bg2"/>
                </a:solidFill>
                <a:latin typeface="Courier New" pitchFamily="34" charset="0"/>
                <a:ea typeface="Courier New" pitchFamily="34" charset="-122"/>
                <a:cs typeface="Courier New" pitchFamily="34" charset="-120"/>
              </a:rPr>
              <a:t>(100 * </a:t>
            </a:r>
            <a:pPr algn="l" indent="0" marL="0">
              <a:buNone/>
            </a:pPr>
            <a:r>
              <a:rPr lang="en-US" sz="1100" dirty="0">
                <a:solidFill>
                  <a:schemeClr val="accent2"/>
                </a:solidFill>
                <a:latin typeface="Courier New" pitchFamily="34" charset="0"/>
                <a:ea typeface="Courier New" pitchFamily="34" charset="-122"/>
                <a:cs typeface="Courier New" pitchFamily="34" charset="-120"/>
              </a:rPr>
              <a:t>IFNULL</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e</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spent</a:t>
            </a:r>
            <a:pPr algn="l" indent="0" marL="0">
              <a:buNone/>
            </a:pPr>
            <a:r>
              <a:rPr lang="en-US" sz="1100" dirty="0">
                <a:solidFill>
                  <a:schemeClr val="bg2"/>
                </a:solidFill>
                <a:latin typeface="Courier New" pitchFamily="34" charset="0"/>
                <a:ea typeface="Courier New" pitchFamily="34" charset="-122"/>
                <a:cs typeface="Courier New" pitchFamily="34" charset="-120"/>
              </a:rPr>
              <a:t>, 0)</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 </a:t>
            </a:r>
            <a:pPr algn="l" indent="0" marL="0">
              <a:buNone/>
            </a:pPr>
            <a:r>
              <a:rPr lang="en-US" sz="1100" dirty="0">
                <a:solidFill>
                  <a:schemeClr val="bg2"/>
                </a:solidFill>
                <a:latin typeface="Courier New" pitchFamily="34" charset="0"/>
                <a:ea typeface="Courier New" pitchFamily="34" charset="-122"/>
                <a:cs typeface="Courier New" pitchFamily="34" charset="-120"/>
              </a:rPr>
              <a:t>g</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sanctioned</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AS</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pct</a:t>
            </a:r>
            <a:endParaRPr lang="en-US" sz="1100" dirty="0"/>
          </a:p>
          <a:p>
            <a:pPr algn="l" indent="0" marL="0">
              <a:buNone/>
            </a:pPr>
            <a:r>
              <a:rPr lang="en-US" sz="1100" dirty="0">
                <a:solidFill>
                  <a:schemeClr val="accent2"/>
                </a:solidFill>
                <a:latin typeface="Courier New" pitchFamily="34" charset="0"/>
                <a:ea typeface="Courier New" pitchFamily="34" charset="-122"/>
                <a:cs typeface="Courier New" pitchFamily="34" charset="-120"/>
              </a:rPr>
              <a:t>FROM</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project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a:t>
            </a:r>
            <a:endParaRPr lang="en-US" sz="1100" dirty="0"/>
          </a:p>
          <a:p>
            <a:pPr algn="l" indent="0" marL="0">
              <a:buNone/>
            </a:pPr>
            <a:r>
              <a:rPr lang="en-US" sz="1100" dirty="0">
                <a:solidFill>
                  <a:schemeClr val="accent2"/>
                </a:solidFill>
                <a:latin typeface="Courier New" pitchFamily="34" charset="0"/>
                <a:ea typeface="Courier New" pitchFamily="34" charset="-122"/>
                <a:cs typeface="Courier New" pitchFamily="34" charset="-120"/>
              </a:rPr>
              <a:t>JOIN</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SELECT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project_id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SUM</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grant_amount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AS</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sanctioned</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FROM</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grant_award</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GROUP</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BY</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project_id</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g</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USING</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project_id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accent2"/>
                </a:solidFill>
                <a:latin typeface="Courier New" pitchFamily="34" charset="0"/>
                <a:ea typeface="Courier New" pitchFamily="34" charset="-122"/>
                <a:cs typeface="Courier New" pitchFamily="34" charset="-120"/>
              </a:rPr>
              <a:t>LEFT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JOIN</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SELECT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ga</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project_id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SUM</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x</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amount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AS</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spent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FROM</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expenditure</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x</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JOIN</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grant_award</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ga</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USING</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grant_id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GROUP</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BY</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ga</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project_id</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e</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USING</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project_id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graphicFrame>
        <p:nvGraphicFramePr>
          <p:cNvPr id="14" name="Budget result"/>
          <p:cNvGraphicFramePr>
            <a:graphicFrameLocks noGrp="1"/>
          </p:cNvGraphicFramePr>
          <p:nvPr>
            <p:extLst>
              <p:ext uri="{D42A27DB-BD31-4B8C-83A1-F6EECF244321}">
                <p14:modId xmlns:p14="http://schemas.microsoft.com/office/powerpoint/2010/main" val="1579011935"/>
              </p:ext>
            </p:extLst>
          </p:nvPr>
        </p:nvGraphicFramePr>
        <p:xfrm>
          <a:off x="5577840" y="1097280"/>
          <a:ext cx="3108960" cy="914400"/>
        </p:xfrm>
        <a:graphic>
          <a:graphicData uri="http://schemas.openxmlformats.org/drawingml/2006/table">
            <a:tbl>
              <a:tblPr/>
              <a:tblGrid>
                <a:gridCol w="1280160"/>
                <a:gridCol w="640080"/>
                <a:gridCol w="640080"/>
                <a:gridCol w="548640"/>
              </a:tblGrid>
              <a:tr h="310896">
                <a:tc>
                  <a:txBody>
                    <a:bodyPr/>
                    <a:lstStyle/>
                    <a:p>
                      <a:pPr indent="0" marL="0">
                        <a:buNone/>
                      </a:pPr>
                      <a:r>
                        <a:rPr lang="en-US" sz="1200" b="1" dirty="0">
                          <a:solidFill>
                            <a:schemeClr val="bg1"/>
                          </a:solidFill>
                        </a:rPr>
                        <a:t>Project</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Grant</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Spent</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Used</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r>
              <a:tr h="310896">
                <a:tc>
                  <a:txBody>
                    <a:bodyPr/>
                    <a:lstStyle/>
                    <a:p>
                      <a:pPr indent="0" marL="0">
                        <a:buNone/>
                      </a:pPr>
                      <a:r>
                        <a:rPr lang="en-US" sz="1200" b="1" dirty="0">
                          <a:solidFill>
                            <a:schemeClr val="tx1"/>
                          </a:solidFill>
                        </a:rPr>
                        <a:t>AI Crop Disease</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18.0</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11.7</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65%</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310896">
                <a:tc>
                  <a:txBody>
                    <a:bodyPr/>
                    <a:lstStyle/>
                    <a:p>
                      <a:pPr indent="0" marL="0">
                        <a:buNone/>
                      </a:pPr>
                      <a:r>
                        <a:rPr lang="en-US" sz="1200" b="1" dirty="0">
                          <a:solidFill>
                            <a:schemeClr val="tx1"/>
                          </a:solidFill>
                        </a:rPr>
                        <a:t>Water Purifier</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12.5</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9.5</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76%</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310896">
                <a:tc>
                  <a:txBody>
                    <a:bodyPr/>
                    <a:lstStyle/>
                    <a:p>
                      <a:pPr indent="0" marL="0">
                        <a:buNone/>
                      </a:pPr>
                      <a:r>
                        <a:rPr lang="en-US" sz="1200" b="1" dirty="0">
                          <a:solidFill>
                            <a:schemeClr val="tx1"/>
                          </a:solidFill>
                        </a:rPr>
                        <a:t>Wearable ECG</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22.0</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8.8</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40%</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310896">
                <a:tc>
                  <a:txBody>
                    <a:bodyPr/>
                    <a:lstStyle/>
                    <a:p>
                      <a:pPr indent="0" marL="0">
                        <a:buNone/>
                      </a:pPr>
                      <a:r>
                        <a:rPr lang="en-US" sz="1200" b="1" dirty="0">
                          <a:solidFill>
                            <a:schemeClr val="tx1"/>
                          </a:solidFill>
                        </a:rPr>
                        <a:t>Bio-Packaging</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15.0</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13.5</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90%</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5577840" y="2743200"/>
            <a:ext cx="3108960" cy="274320"/>
          </a:xfrm>
          <a:prstGeom prst="rect">
            <a:avLst/>
          </a:prstGeom>
          <a:noFill/>
          <a:ln/>
        </p:spPr>
        <p:txBody>
          <a:bodyPr wrap="square" lIns="0" tIns="0" rIns="0" bIns="0" rtlCol="0" anchor="t"/>
          <a:lstStyle/>
          <a:p>
            <a:pPr indent="0" marL="0">
              <a:buNone/>
            </a:pPr>
            <a:r>
              <a:rPr lang="en-US" sz="1200" dirty="0">
                <a:solidFill>
                  <a:schemeClr val="accent6"/>
                </a:solidFill>
              </a:rPr>
              <a:t>Amounts in Rs lakh</a:t>
            </a:r>
            <a:endParaRPr lang="en-US" sz="1200" dirty="0"/>
          </a:p>
        </p:txBody>
      </p:sp>
      <p:sp>
        <p:nvSpPr>
          <p:cNvPr id="8" name="View note"/>
          <p:cNvSpPr/>
          <p:nvPr/>
        </p:nvSpPr>
        <p:spPr>
          <a:xfrm>
            <a:off x="5577840" y="3200400"/>
            <a:ext cx="3108960" cy="1097280"/>
          </a:xfrm>
          <a:prstGeom prst="roundRect">
            <a:avLst>
              <a:gd name="adj" fmla="val 6667"/>
            </a:avLst>
          </a:prstGeom>
          <a:solidFill>
            <a:schemeClr val="bg2"/>
          </a:solidFill>
          <a:ln/>
        </p:spPr>
      </p:sp>
      <p:sp>
        <p:nvSpPr>
          <p:cNvPr id="9" name="Text 5"/>
          <p:cNvSpPr txBox="1"/>
          <p:nvPr/>
        </p:nvSpPr>
        <p:spPr>
          <a:xfrm>
            <a:off x="5715000" y="3291840"/>
            <a:ext cx="2834640" cy="914400"/>
          </a:xfrm>
          <a:prstGeom prst="rect">
            <a:avLst/>
          </a:prstGeom>
          <a:noFill/>
          <a:ln/>
        </p:spPr>
        <p:txBody>
          <a:bodyPr wrap="square" lIns="0" tIns="0" rIns="0" bIns="0" rtlCol="0" anchor="t"/>
          <a:lstStyle/>
          <a:p>
            <a:pPr indent="0" marL="0">
              <a:buNone/>
            </a:pPr>
            <a:r>
              <a:rPr lang="en-US" sz="1400" b="1" dirty="0">
                <a:solidFill>
                  <a:schemeClr val="accent1"/>
                </a:solidFill>
              </a:rPr>
              <a:t>Why derived tables? </a:t>
            </a:r>
            <a:pPr indent="0" marL="0">
              <a:buNone/>
            </a:pPr>
            <a:r>
              <a:rPr lang="en-US" sz="1400" dirty="0">
                <a:solidFill>
                  <a:schemeClr val="tx1"/>
                </a:solidFill>
              </a:rPr>
              <a:t>They stop grants being counted once per expense row.</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Nested Query: Researcher Output</a:t>
            </a:r>
            <a:endParaRPr lang="en-US" sz="3200" dirty="0"/>
          </a:p>
        </p:txBody>
      </p:sp>
      <p:sp>
        <p:nvSpPr>
          <p:cNvPr id="4" name="Nested query"/>
          <p:cNvSpPr/>
          <p:nvPr/>
        </p:nvSpPr>
        <p:spPr>
          <a:xfrm>
            <a:off x="457200" y="1143000"/>
            <a:ext cx="5120640" cy="2194560"/>
          </a:xfrm>
          <a:prstGeom prst="roundRect">
            <a:avLst>
              <a:gd name="adj" fmla="val 3333"/>
            </a:avLst>
          </a:prstGeom>
          <a:solidFill>
            <a:schemeClr val="tx1"/>
          </a:solidFill>
          <a:ln/>
        </p:spPr>
      </p:sp>
      <p:sp>
        <p:nvSpPr>
          <p:cNvPr id="5" name="Nested query text"/>
          <p:cNvSpPr txBox="1"/>
          <p:nvPr/>
        </p:nvSpPr>
        <p:spPr>
          <a:xfrm>
            <a:off x="594360" y="1252728"/>
            <a:ext cx="4846320" cy="1975104"/>
          </a:xfrm>
          <a:prstGeom prst="rect">
            <a:avLst/>
          </a:prstGeom>
          <a:noFill/>
          <a:ln/>
        </p:spPr>
        <p:txBody>
          <a:bodyPr wrap="square" lIns="0" tIns="0" rIns="0" bIns="0" rtlCol="0" anchor="t"/>
          <a:lstStyle/>
          <a:p>
            <a:pPr algn="l" indent="0" marL="0">
              <a:buNone/>
            </a:pPr>
            <a:r>
              <a:rPr lang="en-US" sz="1100" dirty="0">
                <a:solidFill>
                  <a:schemeClr val="accent2"/>
                </a:solidFill>
                <a:latin typeface="Courier New" pitchFamily="34" charset="0"/>
                <a:ea typeface="Courier New" pitchFamily="34" charset="-122"/>
                <a:cs typeface="Courier New" pitchFamily="34" charset="-120"/>
              </a:rPr>
              <a:t>SELECT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r</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full_name</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COUNT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AS</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pubs</a:t>
            </a:r>
            <a:endParaRPr lang="en-US" sz="1100" dirty="0"/>
          </a:p>
          <a:p>
            <a:pPr algn="l" indent="0" marL="0">
              <a:buNone/>
            </a:pPr>
            <a:r>
              <a:rPr lang="en-US" sz="1100" dirty="0">
                <a:solidFill>
                  <a:schemeClr val="accent2"/>
                </a:solidFill>
                <a:latin typeface="Courier New" pitchFamily="34" charset="0"/>
                <a:ea typeface="Courier New" pitchFamily="34" charset="-122"/>
                <a:cs typeface="Courier New" pitchFamily="34" charset="-120"/>
              </a:rPr>
              <a:t>FROM</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researcher</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r</a:t>
            </a:r>
            <a:endParaRPr lang="en-US" sz="1100" dirty="0"/>
          </a:p>
          <a:p>
            <a:pPr algn="l" indent="0" marL="0">
              <a:buNone/>
            </a:pPr>
            <a:r>
              <a:rPr lang="en-US" sz="1100" dirty="0">
                <a:solidFill>
                  <a:schemeClr val="accent2"/>
                </a:solidFill>
                <a:latin typeface="Courier New" pitchFamily="34" charset="0"/>
                <a:ea typeface="Courier New" pitchFamily="34" charset="-122"/>
                <a:cs typeface="Courier New" pitchFamily="34" charset="-120"/>
              </a:rPr>
              <a:t>JOIN</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publication_author</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pa</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USING</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researcher_id</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accent2"/>
                </a:solidFill>
                <a:latin typeface="Courier New" pitchFamily="34" charset="0"/>
                <a:ea typeface="Courier New" pitchFamily="34" charset="-122"/>
                <a:cs typeface="Courier New" pitchFamily="34" charset="-120"/>
              </a:rPr>
              <a:t>GROUP</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BY</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r</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researcher_id</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r</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full_name</a:t>
            </a:r>
            <a:endParaRPr lang="en-US" sz="1100" dirty="0"/>
          </a:p>
          <a:p>
            <a:pPr algn="l" indent="0" marL="0">
              <a:buNone/>
            </a:pPr>
            <a:r>
              <a:rPr lang="en-US" sz="1100" dirty="0">
                <a:solidFill>
                  <a:schemeClr val="accent2"/>
                </a:solidFill>
                <a:latin typeface="Courier New" pitchFamily="34" charset="0"/>
                <a:ea typeface="Courier New" pitchFamily="34" charset="-122"/>
                <a:cs typeface="Courier New" pitchFamily="34" charset="-120"/>
              </a:rPr>
              <a:t>HAVING</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COUNT</a:t>
            </a:r>
            <a:pPr algn="l" indent="0" marL="0">
              <a:buNone/>
            </a:pPr>
            <a:r>
              <a:rPr lang="en-US" sz="1100" dirty="0">
                <a:solidFill>
                  <a:schemeClr val="bg2"/>
                </a:solidFill>
                <a:latin typeface="Courier New" pitchFamily="34" charset="0"/>
                <a:ea typeface="Courier New" pitchFamily="34" charset="-122"/>
                <a:cs typeface="Courier New" pitchFamily="34" charset="-120"/>
              </a:rPr>
              <a:t>(*) &gt;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SELECT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AVG</a:t>
            </a:r>
            <a:pPr algn="l" indent="0" marL="0">
              <a:buNone/>
            </a:pPr>
            <a:r>
              <a:rPr lang="en-US" sz="1100" dirty="0">
                <a:solidFill>
                  <a:schemeClr val="bg2"/>
                </a:solidFill>
                <a:latin typeface="Courier New" pitchFamily="34" charset="0"/>
                <a:ea typeface="Courier New" pitchFamily="34" charset="-122"/>
                <a:cs typeface="Courier New" pitchFamily="34" charset="-120"/>
              </a:rPr>
              <a:t>(</a:t>
            </a:r>
            <a:pPr algn="l" indent="0" marL="0">
              <a:buNone/>
            </a:pPr>
            <a:r>
              <a:rPr lang="en-US" sz="1100" dirty="0">
                <a:solidFill>
                  <a:schemeClr val="bg2"/>
                </a:solidFill>
                <a:latin typeface="Courier New" pitchFamily="34" charset="0"/>
                <a:ea typeface="Courier New" pitchFamily="34" charset="-122"/>
                <a:cs typeface="Courier New" pitchFamily="34" charset="-120"/>
              </a:rPr>
              <a:t>n</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FROM</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SELECT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COUNT</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AS</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n</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FROM</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publication_author</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GROUP</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accent2"/>
                </a:solidFill>
                <a:latin typeface="Courier New" pitchFamily="34" charset="0"/>
                <a:ea typeface="Courier New" pitchFamily="34" charset="-122"/>
                <a:cs typeface="Courier New" pitchFamily="34" charset="-120"/>
              </a:rPr>
              <a:t>BY</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researcher_id</a:t>
            </a:r>
            <a:pPr algn="l" indent="0" marL="0">
              <a:buNone/>
            </a:pPr>
            <a:r>
              <a:rPr lang="en-US" sz="1100" dirty="0">
                <a:solidFill>
                  <a:schemeClr val="bg2"/>
                </a:solidFill>
                <a:latin typeface="Courier New" pitchFamily="34" charset="0"/>
                <a:ea typeface="Courier New" pitchFamily="34" charset="-122"/>
                <a:cs typeface="Courier New" pitchFamily="34" charset="-120"/>
              </a:rPr>
              <a:t>) </a:t>
            </a:r>
            <a:pPr algn="l" indent="0" marL="0">
              <a:buNone/>
            </a:pPr>
            <a:r>
              <a:rPr lang="en-US" sz="1100" dirty="0">
                <a:solidFill>
                  <a:schemeClr val="bg2"/>
                </a:solidFill>
                <a:latin typeface="Courier New" pitchFamily="34" charset="0"/>
                <a:ea typeface="Courier New" pitchFamily="34" charset="-122"/>
                <a:cs typeface="Courier New" pitchFamily="34" charset="-120"/>
              </a:rPr>
              <a:t>t</a:t>
            </a:r>
            <a:pPr algn="l"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graphicFrame>
        <p:nvGraphicFramePr>
          <p:cNvPr id="15" name="Output result"/>
          <p:cNvGraphicFramePr>
            <a:graphicFrameLocks noGrp="1"/>
          </p:cNvGraphicFramePr>
          <p:nvPr>
            <p:extLst>
              <p:ext uri="{D42A27DB-BD31-4B8C-83A1-F6EECF244321}">
                <p14:modId xmlns:p14="http://schemas.microsoft.com/office/powerpoint/2010/main" val="1579011935"/>
              </p:ext>
            </p:extLst>
          </p:nvPr>
        </p:nvGraphicFramePr>
        <p:xfrm>
          <a:off x="5760720" y="1143000"/>
          <a:ext cx="2926080" cy="914400"/>
        </p:xfrm>
        <a:graphic>
          <a:graphicData uri="http://schemas.openxmlformats.org/drawingml/2006/table">
            <a:tbl>
              <a:tblPr/>
              <a:tblGrid>
                <a:gridCol w="1737360"/>
                <a:gridCol w="1188720"/>
              </a:tblGrid>
              <a:tr h="310896">
                <a:tc>
                  <a:txBody>
                    <a:bodyPr/>
                    <a:lstStyle/>
                    <a:p>
                      <a:pPr indent="0" marL="0">
                        <a:buNone/>
                      </a:pPr>
                      <a:r>
                        <a:rPr lang="en-US" sz="1200" b="1" dirty="0">
                          <a:solidFill>
                            <a:schemeClr val="bg1"/>
                          </a:solidFill>
                        </a:rPr>
                        <a:t>Researcher</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Publications</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r>
              <a:tr h="310896">
                <a:tc>
                  <a:txBody>
                    <a:bodyPr/>
                    <a:lstStyle/>
                    <a:p>
                      <a:pPr indent="0" marL="0">
                        <a:buNone/>
                      </a:pPr>
                      <a:r>
                        <a:rPr lang="en-US" sz="1200" b="1" dirty="0">
                          <a:solidFill>
                            <a:schemeClr val="tx1"/>
                          </a:solidFill>
                        </a:rPr>
                        <a:t>Dr. S. Iyer</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310896">
                <a:tc>
                  <a:txBody>
                    <a:bodyPr/>
                    <a:lstStyle/>
                    <a:p>
                      <a:pPr indent="0" marL="0">
                        <a:buNone/>
                      </a:pPr>
                      <a:r>
                        <a:rPr lang="en-US" sz="1200" b="1" dirty="0">
                          <a:solidFill>
                            <a:schemeClr val="tx1"/>
                          </a:solidFill>
                        </a:rPr>
                        <a:t>Dr. A. Rao</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6</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310896">
                <a:tc>
                  <a:txBody>
                    <a:bodyPr/>
                    <a:lstStyle/>
                    <a:p>
                      <a:pPr indent="0" marL="0">
                        <a:buNone/>
                      </a:pPr>
                      <a:r>
                        <a:rPr lang="en-US" sz="1200" b="1" dirty="0">
                          <a:solidFill>
                            <a:schemeClr val="tx1"/>
                          </a:solidFill>
                        </a:rPr>
                        <a:t>Dr. M. Khan</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bl>
          </a:graphicData>
        </a:graphic>
      </p:graphicFrame>
      <p:sp>
        <p:nvSpPr>
          <p:cNvPr id="7" name="Text 3"/>
          <p:cNvSpPr txBox="1"/>
          <p:nvPr/>
        </p:nvSpPr>
        <p:spPr>
          <a:xfrm>
            <a:off x="5760720" y="2697480"/>
            <a:ext cx="2926080" cy="640080"/>
          </a:xfrm>
          <a:prstGeom prst="rect">
            <a:avLst/>
          </a:prstGeom>
          <a:noFill/>
          <a:ln/>
        </p:spPr>
        <p:txBody>
          <a:bodyPr wrap="square" lIns="0" tIns="0" rIns="0" bIns="0" rtlCol="0" anchor="t"/>
          <a:lstStyle/>
          <a:p>
            <a:pPr indent="0" marL="0">
              <a:buNone/>
            </a:pPr>
            <a:r>
              <a:rPr lang="en-US" sz="1400" dirty="0">
                <a:solidFill>
                  <a:schemeClr val="accent6"/>
                </a:solidFill>
              </a:rPr>
              <a:t>Average is 4.0 publications per author, so three researchers are above it.</a:t>
            </a:r>
            <a:endParaRPr lang="en-US" sz="1400" dirty="0"/>
          </a:p>
        </p:txBody>
      </p:sp>
      <p:sp>
        <p:nvSpPr>
          <p:cNvPr id="8" name="Technique tag"/>
          <p:cNvSpPr/>
          <p:nvPr/>
        </p:nvSpPr>
        <p:spPr>
          <a:xfrm>
            <a:off x="457200" y="3611880"/>
            <a:ext cx="1188720" cy="329184"/>
          </a:xfrm>
          <a:prstGeom prst="roundRect">
            <a:avLst>
              <a:gd name="adj" fmla="val 50000"/>
            </a:avLst>
          </a:prstGeom>
          <a:solidFill>
            <a:schemeClr val="accent3"/>
          </a:solidFill>
          <a:ln/>
        </p:spPr>
      </p:sp>
      <p:sp>
        <p:nvSpPr>
          <p:cNvPr id="9" name="Text 5"/>
          <p:cNvSpPr txBox="1"/>
          <p:nvPr/>
        </p:nvSpPr>
        <p:spPr>
          <a:xfrm>
            <a:off x="457200" y="3611880"/>
            <a:ext cx="1188720" cy="329184"/>
          </a:xfrm>
          <a:prstGeom prst="rect">
            <a:avLst/>
          </a:prstGeom>
          <a:noFill/>
          <a:ln/>
        </p:spPr>
        <p:txBody>
          <a:bodyPr wrap="square" lIns="0" tIns="0" rIns="0" bIns="0" rtlCol="0" anchor="ctr"/>
          <a:lstStyle/>
          <a:p>
            <a:pPr algn="ctr" indent="0" marL="0">
              <a:buNone/>
            </a:pPr>
            <a:r>
              <a:rPr lang="en-US" sz="1300" b="1" dirty="0">
                <a:solidFill>
                  <a:schemeClr val="bg1"/>
                </a:solidFill>
              </a:rPr>
              <a:t>Subquery</a:t>
            </a:r>
            <a:endParaRPr lang="en-US" sz="1300" dirty="0"/>
          </a:p>
        </p:txBody>
      </p:sp>
      <p:sp>
        <p:nvSpPr>
          <p:cNvPr id="10" name="Technique tag"/>
          <p:cNvSpPr/>
          <p:nvPr/>
        </p:nvSpPr>
        <p:spPr>
          <a:xfrm>
            <a:off x="1783080" y="3611880"/>
            <a:ext cx="1097280" cy="329184"/>
          </a:xfrm>
          <a:prstGeom prst="roundRect">
            <a:avLst>
              <a:gd name="adj" fmla="val 50000"/>
            </a:avLst>
          </a:prstGeom>
          <a:solidFill>
            <a:schemeClr val="accent3"/>
          </a:solidFill>
          <a:ln/>
        </p:spPr>
      </p:sp>
      <p:sp>
        <p:nvSpPr>
          <p:cNvPr id="11" name="Text 7"/>
          <p:cNvSpPr txBox="1"/>
          <p:nvPr/>
        </p:nvSpPr>
        <p:spPr>
          <a:xfrm>
            <a:off x="1783080" y="3611880"/>
            <a:ext cx="1097280" cy="329184"/>
          </a:xfrm>
          <a:prstGeom prst="rect">
            <a:avLst/>
          </a:prstGeom>
          <a:noFill/>
          <a:ln/>
        </p:spPr>
        <p:txBody>
          <a:bodyPr wrap="square" lIns="0" tIns="0" rIns="0" bIns="0" rtlCol="0" anchor="ctr"/>
          <a:lstStyle/>
          <a:p>
            <a:pPr algn="ctr" indent="0" marL="0">
              <a:buNone/>
            </a:pPr>
            <a:r>
              <a:rPr lang="en-US" sz="1300" b="1" dirty="0">
                <a:solidFill>
                  <a:schemeClr val="bg1"/>
                </a:solidFill>
              </a:rPr>
              <a:t>HAVING</a:t>
            </a:r>
            <a:endParaRPr lang="en-US" sz="1300" dirty="0"/>
          </a:p>
        </p:txBody>
      </p:sp>
      <p:sp>
        <p:nvSpPr>
          <p:cNvPr id="12" name="Technique tag"/>
          <p:cNvSpPr/>
          <p:nvPr/>
        </p:nvSpPr>
        <p:spPr>
          <a:xfrm>
            <a:off x="3017520" y="3611880"/>
            <a:ext cx="914400" cy="329184"/>
          </a:xfrm>
          <a:prstGeom prst="roundRect">
            <a:avLst>
              <a:gd name="adj" fmla="val 50000"/>
            </a:avLst>
          </a:prstGeom>
          <a:solidFill>
            <a:schemeClr val="accent3"/>
          </a:solidFill>
          <a:ln/>
        </p:spPr>
      </p:sp>
      <p:sp>
        <p:nvSpPr>
          <p:cNvPr id="13" name="Text 9"/>
          <p:cNvSpPr txBox="1"/>
          <p:nvPr/>
        </p:nvSpPr>
        <p:spPr>
          <a:xfrm>
            <a:off x="3017520" y="3611880"/>
            <a:ext cx="914400" cy="329184"/>
          </a:xfrm>
          <a:prstGeom prst="rect">
            <a:avLst/>
          </a:prstGeom>
          <a:noFill/>
          <a:ln/>
        </p:spPr>
        <p:txBody>
          <a:bodyPr wrap="square" lIns="0" tIns="0" rIns="0" bIns="0" rtlCol="0" anchor="ctr"/>
          <a:lstStyle/>
          <a:p>
            <a:pPr algn="ctr" indent="0" marL="0">
              <a:buNone/>
            </a:pPr>
            <a:r>
              <a:rPr lang="en-US" sz="1300" b="1" dirty="0">
                <a:solidFill>
                  <a:schemeClr val="bg1"/>
                </a:solidFill>
              </a:rPr>
              <a:t>JOIN</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Six Reports as Views</a:t>
            </a:r>
            <a:endParaRPr lang="en-US" sz="3200" dirty="0"/>
          </a:p>
        </p:txBody>
      </p:sp>
      <p:sp>
        <p:nvSpPr>
          <p:cNvPr id="4" name="Report card"/>
          <p:cNvSpPr/>
          <p:nvPr/>
        </p:nvSpPr>
        <p:spPr>
          <a:xfrm>
            <a:off x="457200" y="1188720"/>
            <a:ext cx="2651760" cy="1508760"/>
          </a:xfrm>
          <a:prstGeom prst="roundRect">
            <a:avLst>
              <a:gd name="adj" fmla="val 4848"/>
            </a:avLst>
          </a:prstGeom>
          <a:solidFill>
            <a:schemeClr val="bg2"/>
          </a:solidFill>
          <a:ln/>
        </p:spPr>
      </p:sp>
      <p:sp>
        <p:nvSpPr>
          <p:cNvPr id="5" name="Report icon"/>
          <p:cNvSpPr/>
          <p:nvPr/>
        </p:nvSpPr>
        <p:spPr>
          <a:xfrm>
            <a:off x="594360" y="1325880"/>
            <a:ext cx="457200" cy="457200"/>
          </a:xfrm>
          <a:prstGeom prst="ellipse">
            <a:avLst/>
          </a:prstGeom>
          <a:solidFill>
            <a:schemeClr val="accent1"/>
          </a:solidFill>
          <a:ln/>
        </p:spPr>
      </p:sp>
      <p:pic>
        <p:nvPicPr>
          <p:cNvPr id="6" name="Image 0" descr="ProjectDiagram icon">    </p:cNvPr>
          <p:cNvPicPr>
            <a:picLocks noChangeAspect="1"/>
          </p:cNvPicPr>
          <p:nvPr/>
        </p:nvPicPr>
        <p:blipFill>
          <a:blip r:embed="rId1"/>
          <a:stretch>
            <a:fillRect/>
          </a:stretch>
        </p:blipFill>
        <p:spPr>
          <a:xfrm>
            <a:off x="713232" y="1444752"/>
            <a:ext cx="219456" cy="219456"/>
          </a:xfrm>
          <a:prstGeom prst="rect">
            <a:avLst/>
          </a:prstGeom>
        </p:spPr>
      </p:pic>
      <p:sp>
        <p:nvSpPr>
          <p:cNvPr id="7" name="Text 3"/>
          <p:cNvSpPr txBox="1"/>
          <p:nvPr/>
        </p:nvSpPr>
        <p:spPr>
          <a:xfrm>
            <a:off x="1170432" y="1325880"/>
            <a:ext cx="1828800" cy="457200"/>
          </a:xfrm>
          <a:prstGeom prst="rect">
            <a:avLst/>
          </a:prstGeom>
          <a:noFill/>
          <a:ln/>
        </p:spPr>
        <p:txBody>
          <a:bodyPr wrap="square" lIns="0" tIns="0" rIns="0" bIns="0" rtlCol="0" anchor="ctr"/>
          <a:lstStyle/>
          <a:p>
            <a:pPr indent="0" marL="0">
              <a:buNone/>
            </a:pPr>
            <a:r>
              <a:rPr lang="en-US" sz="1500" b="1" dirty="0">
                <a:solidFill>
                  <a:schemeClr val="tx1"/>
                </a:solidFill>
              </a:rPr>
              <a:t>Project progress</a:t>
            </a:r>
            <a:endParaRPr lang="en-US" sz="1500" dirty="0"/>
          </a:p>
        </p:txBody>
      </p:sp>
      <p:sp>
        <p:nvSpPr>
          <p:cNvPr id="8" name="Text 4"/>
          <p:cNvSpPr txBox="1"/>
          <p:nvPr/>
        </p:nvSpPr>
        <p:spPr>
          <a:xfrm>
            <a:off x="594360" y="1965960"/>
            <a:ext cx="2377440" cy="274320"/>
          </a:xfrm>
          <a:prstGeom prst="rect">
            <a:avLst/>
          </a:prstGeom>
          <a:noFill/>
          <a:ln/>
        </p:spPr>
        <p:txBody>
          <a:bodyPr wrap="square" lIns="0" tIns="0" rIns="0" bIns="0" rtlCol="0" anchor="t"/>
          <a:lstStyle/>
          <a:p>
            <a:pPr indent="0" marL="0">
              <a:buNone/>
            </a:pPr>
            <a:r>
              <a:rPr lang="en-US" sz="1300" b="1" dirty="0">
                <a:solidFill>
                  <a:schemeClr val="accent1"/>
                </a:solidFill>
              </a:rPr>
              <a:t>v_project_progress</a:t>
            </a:r>
            <a:endParaRPr lang="en-US" sz="1300" dirty="0"/>
          </a:p>
        </p:txBody>
      </p:sp>
      <p:sp>
        <p:nvSpPr>
          <p:cNvPr id="9" name="Text 5"/>
          <p:cNvSpPr txBox="1"/>
          <p:nvPr/>
        </p:nvSpPr>
        <p:spPr>
          <a:xfrm>
            <a:off x="594360" y="2286000"/>
            <a:ext cx="2377440" cy="320040"/>
          </a:xfrm>
          <a:prstGeom prst="rect">
            <a:avLst/>
          </a:prstGeom>
          <a:noFill/>
          <a:ln/>
        </p:spPr>
        <p:txBody>
          <a:bodyPr wrap="square" lIns="0" tIns="0" rIns="0" bIns="0" rtlCol="0" anchor="t"/>
          <a:lstStyle/>
          <a:p>
            <a:pPr indent="0" marL="0">
              <a:buNone/>
            </a:pPr>
            <a:r>
              <a:rPr lang="en-US" sz="1300" dirty="0">
                <a:solidFill>
                  <a:schemeClr val="accent6"/>
                </a:solidFill>
              </a:rPr>
              <a:t>JOIN with COUNT and SUM</a:t>
            </a:r>
            <a:endParaRPr lang="en-US" sz="1300" dirty="0"/>
          </a:p>
        </p:txBody>
      </p:sp>
      <p:sp>
        <p:nvSpPr>
          <p:cNvPr id="10" name="Report card"/>
          <p:cNvSpPr/>
          <p:nvPr/>
        </p:nvSpPr>
        <p:spPr>
          <a:xfrm>
            <a:off x="3246120" y="1188720"/>
            <a:ext cx="2651760" cy="1508760"/>
          </a:xfrm>
          <a:prstGeom prst="roundRect">
            <a:avLst>
              <a:gd name="adj" fmla="val 4848"/>
            </a:avLst>
          </a:prstGeom>
          <a:solidFill>
            <a:schemeClr val="bg2"/>
          </a:solidFill>
          <a:ln/>
        </p:spPr>
      </p:sp>
      <p:sp>
        <p:nvSpPr>
          <p:cNvPr id="11" name="Report icon"/>
          <p:cNvSpPr/>
          <p:nvPr/>
        </p:nvSpPr>
        <p:spPr>
          <a:xfrm>
            <a:off x="3383280" y="1325880"/>
            <a:ext cx="457200" cy="457200"/>
          </a:xfrm>
          <a:prstGeom prst="ellipse">
            <a:avLst/>
          </a:prstGeom>
          <a:solidFill>
            <a:schemeClr val="accent3"/>
          </a:solidFill>
          <a:ln/>
        </p:spPr>
      </p:sp>
      <p:pic>
        <p:nvPicPr>
          <p:cNvPr id="12" name="Image 1" descr="Coins icon">    </p:cNvPr>
          <p:cNvPicPr>
            <a:picLocks noChangeAspect="1"/>
          </p:cNvPicPr>
          <p:nvPr/>
        </p:nvPicPr>
        <p:blipFill>
          <a:blip r:embed="rId2"/>
          <a:stretch>
            <a:fillRect/>
          </a:stretch>
        </p:blipFill>
        <p:spPr>
          <a:xfrm>
            <a:off x="3502152" y="1444752"/>
            <a:ext cx="219456" cy="219456"/>
          </a:xfrm>
          <a:prstGeom prst="rect">
            <a:avLst/>
          </a:prstGeom>
        </p:spPr>
      </p:pic>
      <p:sp>
        <p:nvSpPr>
          <p:cNvPr id="13" name="Text 8"/>
          <p:cNvSpPr txBox="1"/>
          <p:nvPr/>
        </p:nvSpPr>
        <p:spPr>
          <a:xfrm>
            <a:off x="3959352" y="1325880"/>
            <a:ext cx="1828800" cy="457200"/>
          </a:xfrm>
          <a:prstGeom prst="rect">
            <a:avLst/>
          </a:prstGeom>
          <a:noFill/>
          <a:ln/>
        </p:spPr>
        <p:txBody>
          <a:bodyPr wrap="square" lIns="0" tIns="0" rIns="0" bIns="0" rtlCol="0" anchor="ctr"/>
          <a:lstStyle/>
          <a:p>
            <a:pPr indent="0" marL="0">
              <a:buNone/>
            </a:pPr>
            <a:r>
              <a:rPr lang="en-US" sz="1500" b="1" dirty="0">
                <a:solidFill>
                  <a:schemeClr val="tx1"/>
                </a:solidFill>
              </a:rPr>
              <a:t>Budget utilization</a:t>
            </a:r>
            <a:endParaRPr lang="en-US" sz="1500" dirty="0"/>
          </a:p>
        </p:txBody>
      </p:sp>
      <p:sp>
        <p:nvSpPr>
          <p:cNvPr id="14" name="Text 9"/>
          <p:cNvSpPr txBox="1"/>
          <p:nvPr/>
        </p:nvSpPr>
        <p:spPr>
          <a:xfrm>
            <a:off x="3383280" y="1965960"/>
            <a:ext cx="2377440" cy="274320"/>
          </a:xfrm>
          <a:prstGeom prst="rect">
            <a:avLst/>
          </a:prstGeom>
          <a:noFill/>
          <a:ln/>
        </p:spPr>
        <p:txBody>
          <a:bodyPr wrap="square" lIns="0" tIns="0" rIns="0" bIns="0" rtlCol="0" anchor="t"/>
          <a:lstStyle/>
          <a:p>
            <a:pPr indent="0" marL="0">
              <a:buNone/>
            </a:pPr>
            <a:r>
              <a:rPr lang="en-US" sz="1300" b="1" dirty="0">
                <a:solidFill>
                  <a:schemeClr val="accent1"/>
                </a:solidFill>
              </a:rPr>
              <a:t>v_budget_utilization</a:t>
            </a:r>
            <a:endParaRPr lang="en-US" sz="1300" dirty="0"/>
          </a:p>
        </p:txBody>
      </p:sp>
      <p:sp>
        <p:nvSpPr>
          <p:cNvPr id="15" name="Text 10"/>
          <p:cNvSpPr txBox="1"/>
          <p:nvPr/>
        </p:nvSpPr>
        <p:spPr>
          <a:xfrm>
            <a:off x="3383280" y="2286000"/>
            <a:ext cx="2377440" cy="320040"/>
          </a:xfrm>
          <a:prstGeom prst="rect">
            <a:avLst/>
          </a:prstGeom>
          <a:noFill/>
          <a:ln/>
        </p:spPr>
        <p:txBody>
          <a:bodyPr wrap="square" lIns="0" tIns="0" rIns="0" bIns="0" rtlCol="0" anchor="t"/>
          <a:lstStyle/>
          <a:p>
            <a:pPr indent="0" marL="0">
              <a:buNone/>
            </a:pPr>
            <a:r>
              <a:rPr lang="en-US" sz="1300" dirty="0">
                <a:solidFill>
                  <a:schemeClr val="accent6"/>
                </a:solidFill>
              </a:rPr>
              <a:t>Derived tables, percentage</a:t>
            </a:r>
            <a:endParaRPr lang="en-US" sz="1300" dirty="0"/>
          </a:p>
        </p:txBody>
      </p:sp>
      <p:sp>
        <p:nvSpPr>
          <p:cNvPr id="16" name="Report card"/>
          <p:cNvSpPr/>
          <p:nvPr/>
        </p:nvSpPr>
        <p:spPr>
          <a:xfrm>
            <a:off x="6035040" y="1188720"/>
            <a:ext cx="2651760" cy="1508760"/>
          </a:xfrm>
          <a:prstGeom prst="roundRect">
            <a:avLst>
              <a:gd name="adj" fmla="val 4848"/>
            </a:avLst>
          </a:prstGeom>
          <a:solidFill>
            <a:schemeClr val="bg2"/>
          </a:solidFill>
          <a:ln/>
        </p:spPr>
      </p:sp>
      <p:sp>
        <p:nvSpPr>
          <p:cNvPr id="17" name="Report icon"/>
          <p:cNvSpPr/>
          <p:nvPr/>
        </p:nvSpPr>
        <p:spPr>
          <a:xfrm>
            <a:off x="6172200" y="1325880"/>
            <a:ext cx="457200" cy="457200"/>
          </a:xfrm>
          <a:prstGeom prst="ellipse">
            <a:avLst/>
          </a:prstGeom>
          <a:solidFill>
            <a:schemeClr val="accent1"/>
          </a:solidFill>
          <a:ln/>
        </p:spPr>
      </p:sp>
      <p:pic>
        <p:nvPicPr>
          <p:cNvPr id="18" name="Image 2" descr="FlagCheckered icon">    </p:cNvPr>
          <p:cNvPicPr>
            <a:picLocks noChangeAspect="1"/>
          </p:cNvPicPr>
          <p:nvPr/>
        </p:nvPicPr>
        <p:blipFill>
          <a:blip r:embed="rId3"/>
          <a:stretch>
            <a:fillRect/>
          </a:stretch>
        </p:blipFill>
        <p:spPr>
          <a:xfrm>
            <a:off x="6291072" y="1444752"/>
            <a:ext cx="219456" cy="219456"/>
          </a:xfrm>
          <a:prstGeom prst="rect">
            <a:avLst/>
          </a:prstGeom>
        </p:spPr>
      </p:pic>
      <p:sp>
        <p:nvSpPr>
          <p:cNvPr id="19" name="Text 13"/>
          <p:cNvSpPr txBox="1"/>
          <p:nvPr/>
        </p:nvSpPr>
        <p:spPr>
          <a:xfrm>
            <a:off x="6748272" y="1325880"/>
            <a:ext cx="1828800" cy="457200"/>
          </a:xfrm>
          <a:prstGeom prst="rect">
            <a:avLst/>
          </a:prstGeom>
          <a:noFill/>
          <a:ln/>
        </p:spPr>
        <p:txBody>
          <a:bodyPr wrap="square" lIns="0" tIns="0" rIns="0" bIns="0" rtlCol="0" anchor="ctr"/>
          <a:lstStyle/>
          <a:p>
            <a:pPr indent="0" marL="0">
              <a:buNone/>
            </a:pPr>
            <a:r>
              <a:rPr lang="en-US" sz="1500" b="1" dirty="0">
                <a:solidFill>
                  <a:schemeClr val="tx1"/>
                </a:solidFill>
              </a:rPr>
              <a:t>Milestones</a:t>
            </a:r>
            <a:endParaRPr lang="en-US" sz="1500" dirty="0"/>
          </a:p>
        </p:txBody>
      </p:sp>
      <p:sp>
        <p:nvSpPr>
          <p:cNvPr id="20" name="Text 14"/>
          <p:cNvSpPr txBox="1"/>
          <p:nvPr/>
        </p:nvSpPr>
        <p:spPr>
          <a:xfrm>
            <a:off x="6172200" y="1965960"/>
            <a:ext cx="2377440" cy="274320"/>
          </a:xfrm>
          <a:prstGeom prst="rect">
            <a:avLst/>
          </a:prstGeom>
          <a:noFill/>
          <a:ln/>
        </p:spPr>
        <p:txBody>
          <a:bodyPr wrap="square" lIns="0" tIns="0" rIns="0" bIns="0" rtlCol="0" anchor="t"/>
          <a:lstStyle/>
          <a:p>
            <a:pPr indent="0" marL="0">
              <a:buNone/>
            </a:pPr>
            <a:r>
              <a:rPr lang="en-US" sz="1300" b="1" dirty="0">
                <a:solidFill>
                  <a:schemeClr val="accent1"/>
                </a:solidFill>
              </a:rPr>
              <a:t>v_milestone_status</a:t>
            </a:r>
            <a:endParaRPr lang="en-US" sz="1300" dirty="0"/>
          </a:p>
        </p:txBody>
      </p:sp>
      <p:sp>
        <p:nvSpPr>
          <p:cNvPr id="21" name="Text 15"/>
          <p:cNvSpPr txBox="1"/>
          <p:nvPr/>
        </p:nvSpPr>
        <p:spPr>
          <a:xfrm>
            <a:off x="6172200" y="2286000"/>
            <a:ext cx="2377440" cy="320040"/>
          </a:xfrm>
          <a:prstGeom prst="rect">
            <a:avLst/>
          </a:prstGeom>
          <a:noFill/>
          <a:ln/>
        </p:spPr>
        <p:txBody>
          <a:bodyPr wrap="square" lIns="0" tIns="0" rIns="0" bIns="0" rtlCol="0" anchor="t"/>
          <a:lstStyle/>
          <a:p>
            <a:pPr indent="0" marL="0">
              <a:buNone/>
            </a:pPr>
            <a:r>
              <a:rPr lang="en-US" sz="1300" dirty="0">
                <a:solidFill>
                  <a:schemeClr val="accent6"/>
                </a:solidFill>
              </a:rPr>
              <a:t>JOIN with overdue filter</a:t>
            </a:r>
            <a:endParaRPr lang="en-US" sz="1300" dirty="0"/>
          </a:p>
        </p:txBody>
      </p:sp>
      <p:sp>
        <p:nvSpPr>
          <p:cNvPr id="22" name="Report card"/>
          <p:cNvSpPr/>
          <p:nvPr/>
        </p:nvSpPr>
        <p:spPr>
          <a:xfrm>
            <a:off x="457200" y="2880360"/>
            <a:ext cx="2651760" cy="1508760"/>
          </a:xfrm>
          <a:prstGeom prst="roundRect">
            <a:avLst>
              <a:gd name="adj" fmla="val 4848"/>
            </a:avLst>
          </a:prstGeom>
          <a:solidFill>
            <a:schemeClr val="bg2"/>
          </a:solidFill>
          <a:ln/>
        </p:spPr>
      </p:sp>
      <p:sp>
        <p:nvSpPr>
          <p:cNvPr id="23" name="Report icon"/>
          <p:cNvSpPr/>
          <p:nvPr/>
        </p:nvSpPr>
        <p:spPr>
          <a:xfrm>
            <a:off x="594360" y="3017520"/>
            <a:ext cx="457200" cy="457200"/>
          </a:xfrm>
          <a:prstGeom prst="ellipse">
            <a:avLst/>
          </a:prstGeom>
          <a:solidFill>
            <a:schemeClr val="accent3"/>
          </a:solidFill>
          <a:ln/>
        </p:spPr>
      </p:sp>
      <p:pic>
        <p:nvPicPr>
          <p:cNvPr id="24" name="Image 3" descr="UserTie icon">    </p:cNvPr>
          <p:cNvPicPr>
            <a:picLocks noChangeAspect="1"/>
          </p:cNvPicPr>
          <p:nvPr/>
        </p:nvPicPr>
        <p:blipFill>
          <a:blip r:embed="rId4"/>
          <a:stretch>
            <a:fillRect/>
          </a:stretch>
        </p:blipFill>
        <p:spPr>
          <a:xfrm>
            <a:off x="713232" y="3136392"/>
            <a:ext cx="219456" cy="219456"/>
          </a:xfrm>
          <a:prstGeom prst="rect">
            <a:avLst/>
          </a:prstGeom>
        </p:spPr>
      </p:pic>
      <p:sp>
        <p:nvSpPr>
          <p:cNvPr id="25" name="Text 18"/>
          <p:cNvSpPr txBox="1"/>
          <p:nvPr/>
        </p:nvSpPr>
        <p:spPr>
          <a:xfrm>
            <a:off x="1170432" y="3017520"/>
            <a:ext cx="1828800" cy="457200"/>
          </a:xfrm>
          <a:prstGeom prst="rect">
            <a:avLst/>
          </a:prstGeom>
          <a:noFill/>
          <a:ln/>
        </p:spPr>
        <p:txBody>
          <a:bodyPr wrap="square" lIns="0" tIns="0" rIns="0" bIns="0" rtlCol="0" anchor="ctr"/>
          <a:lstStyle/>
          <a:p>
            <a:pPr indent="0" marL="0">
              <a:buNone/>
            </a:pPr>
            <a:r>
              <a:rPr lang="en-US" sz="1500" b="1" dirty="0">
                <a:solidFill>
                  <a:schemeClr val="tx1"/>
                </a:solidFill>
              </a:rPr>
              <a:t>Researcher output</a:t>
            </a:r>
            <a:endParaRPr lang="en-US" sz="1500" dirty="0"/>
          </a:p>
        </p:txBody>
      </p:sp>
      <p:sp>
        <p:nvSpPr>
          <p:cNvPr id="26" name="Text 19"/>
          <p:cNvSpPr txBox="1"/>
          <p:nvPr/>
        </p:nvSpPr>
        <p:spPr>
          <a:xfrm>
            <a:off x="594360" y="3657600"/>
            <a:ext cx="2377440" cy="274320"/>
          </a:xfrm>
          <a:prstGeom prst="rect">
            <a:avLst/>
          </a:prstGeom>
          <a:noFill/>
          <a:ln/>
        </p:spPr>
        <p:txBody>
          <a:bodyPr wrap="square" lIns="0" tIns="0" rIns="0" bIns="0" rtlCol="0" anchor="t"/>
          <a:lstStyle/>
          <a:p>
            <a:pPr indent="0" marL="0">
              <a:buNone/>
            </a:pPr>
            <a:r>
              <a:rPr lang="en-US" sz="1300" b="1" dirty="0">
                <a:solidFill>
                  <a:schemeClr val="accent1"/>
                </a:solidFill>
              </a:rPr>
              <a:t>v_researcher_output</a:t>
            </a:r>
            <a:endParaRPr lang="en-US" sz="1300" dirty="0"/>
          </a:p>
        </p:txBody>
      </p:sp>
      <p:sp>
        <p:nvSpPr>
          <p:cNvPr id="27" name="Text 20"/>
          <p:cNvSpPr txBox="1"/>
          <p:nvPr/>
        </p:nvSpPr>
        <p:spPr>
          <a:xfrm>
            <a:off x="594360" y="3977640"/>
            <a:ext cx="2377440" cy="320040"/>
          </a:xfrm>
          <a:prstGeom prst="rect">
            <a:avLst/>
          </a:prstGeom>
          <a:noFill/>
          <a:ln/>
        </p:spPr>
        <p:txBody>
          <a:bodyPr wrap="square" lIns="0" tIns="0" rIns="0" bIns="0" rtlCol="0" anchor="t"/>
          <a:lstStyle/>
          <a:p>
            <a:pPr indent="0" marL="0">
              <a:buNone/>
            </a:pPr>
            <a:r>
              <a:rPr lang="en-US" sz="1300" dirty="0">
                <a:solidFill>
                  <a:schemeClr val="accent6"/>
                </a:solidFill>
              </a:rPr>
              <a:t>Nested query, HAVING</a:t>
            </a:r>
            <a:endParaRPr lang="en-US" sz="1300" dirty="0"/>
          </a:p>
        </p:txBody>
      </p:sp>
      <p:sp>
        <p:nvSpPr>
          <p:cNvPr id="28" name="Report card"/>
          <p:cNvSpPr/>
          <p:nvPr/>
        </p:nvSpPr>
        <p:spPr>
          <a:xfrm>
            <a:off x="3246120" y="2880360"/>
            <a:ext cx="2651760" cy="1508760"/>
          </a:xfrm>
          <a:prstGeom prst="roundRect">
            <a:avLst>
              <a:gd name="adj" fmla="val 4848"/>
            </a:avLst>
          </a:prstGeom>
          <a:solidFill>
            <a:schemeClr val="bg2"/>
          </a:solidFill>
          <a:ln/>
        </p:spPr>
      </p:sp>
      <p:sp>
        <p:nvSpPr>
          <p:cNvPr id="29" name="Report icon"/>
          <p:cNvSpPr/>
          <p:nvPr/>
        </p:nvSpPr>
        <p:spPr>
          <a:xfrm>
            <a:off x="3383280" y="3017520"/>
            <a:ext cx="457200" cy="457200"/>
          </a:xfrm>
          <a:prstGeom prst="ellipse">
            <a:avLst/>
          </a:prstGeom>
          <a:solidFill>
            <a:schemeClr val="accent1"/>
          </a:solidFill>
          <a:ln/>
        </p:spPr>
      </p:sp>
      <p:pic>
        <p:nvPicPr>
          <p:cNvPr id="30" name="Image 4" descr="University icon">    </p:cNvPr>
          <p:cNvPicPr>
            <a:picLocks noChangeAspect="1"/>
          </p:cNvPicPr>
          <p:nvPr/>
        </p:nvPicPr>
        <p:blipFill>
          <a:blip r:embed="rId5"/>
          <a:stretch>
            <a:fillRect/>
          </a:stretch>
        </p:blipFill>
        <p:spPr>
          <a:xfrm>
            <a:off x="3502152" y="3136392"/>
            <a:ext cx="219456" cy="219456"/>
          </a:xfrm>
          <a:prstGeom prst="rect">
            <a:avLst/>
          </a:prstGeom>
        </p:spPr>
      </p:pic>
      <p:sp>
        <p:nvSpPr>
          <p:cNvPr id="31" name="Text 23"/>
          <p:cNvSpPr txBox="1"/>
          <p:nvPr/>
        </p:nvSpPr>
        <p:spPr>
          <a:xfrm>
            <a:off x="3959352" y="3017520"/>
            <a:ext cx="1828800" cy="457200"/>
          </a:xfrm>
          <a:prstGeom prst="rect">
            <a:avLst/>
          </a:prstGeom>
          <a:noFill/>
          <a:ln/>
        </p:spPr>
        <p:txBody>
          <a:bodyPr wrap="square" lIns="0" tIns="0" rIns="0" bIns="0" rtlCol="0" anchor="ctr"/>
          <a:lstStyle/>
          <a:p>
            <a:pPr indent="0" marL="0">
              <a:buNone/>
            </a:pPr>
            <a:r>
              <a:rPr lang="en-US" sz="1500" b="1" dirty="0">
                <a:solidFill>
                  <a:schemeClr val="tx1"/>
                </a:solidFill>
              </a:rPr>
              <a:t>Funding-agency portfolio</a:t>
            </a:r>
            <a:endParaRPr lang="en-US" sz="1500" dirty="0"/>
          </a:p>
        </p:txBody>
      </p:sp>
      <p:sp>
        <p:nvSpPr>
          <p:cNvPr id="32" name="Text 24"/>
          <p:cNvSpPr txBox="1"/>
          <p:nvPr/>
        </p:nvSpPr>
        <p:spPr>
          <a:xfrm>
            <a:off x="3383280" y="3657600"/>
            <a:ext cx="2377440" cy="274320"/>
          </a:xfrm>
          <a:prstGeom prst="rect">
            <a:avLst/>
          </a:prstGeom>
          <a:noFill/>
          <a:ln/>
        </p:spPr>
        <p:txBody>
          <a:bodyPr wrap="square" lIns="0" tIns="0" rIns="0" bIns="0" rtlCol="0" anchor="t"/>
          <a:lstStyle/>
          <a:p>
            <a:pPr indent="0" marL="0">
              <a:buNone/>
            </a:pPr>
            <a:r>
              <a:rPr lang="en-US" sz="1300" b="1" dirty="0">
                <a:solidFill>
                  <a:schemeClr val="accent1"/>
                </a:solidFill>
              </a:rPr>
              <a:t>v_agency_portfolio</a:t>
            </a:r>
            <a:endParaRPr lang="en-US" sz="1300" dirty="0"/>
          </a:p>
        </p:txBody>
      </p:sp>
      <p:sp>
        <p:nvSpPr>
          <p:cNvPr id="33" name="Text 25"/>
          <p:cNvSpPr txBox="1"/>
          <p:nvPr/>
        </p:nvSpPr>
        <p:spPr>
          <a:xfrm>
            <a:off x="3383280" y="3977640"/>
            <a:ext cx="2377440" cy="320040"/>
          </a:xfrm>
          <a:prstGeom prst="rect">
            <a:avLst/>
          </a:prstGeom>
          <a:noFill/>
          <a:ln/>
        </p:spPr>
        <p:txBody>
          <a:bodyPr wrap="square" lIns="0" tIns="0" rIns="0" bIns="0" rtlCol="0" anchor="t"/>
          <a:lstStyle/>
          <a:p>
            <a:pPr indent="0" marL="0">
              <a:buNone/>
            </a:pPr>
            <a:r>
              <a:rPr lang="en-US" sz="1300" dirty="0">
                <a:solidFill>
                  <a:schemeClr val="accent6"/>
                </a:solidFill>
              </a:rPr>
              <a:t>LEFT JOIN with SUM</a:t>
            </a:r>
            <a:endParaRPr lang="en-US" sz="1300" dirty="0"/>
          </a:p>
        </p:txBody>
      </p:sp>
      <p:sp>
        <p:nvSpPr>
          <p:cNvPr id="34" name="Report card"/>
          <p:cNvSpPr/>
          <p:nvPr/>
        </p:nvSpPr>
        <p:spPr>
          <a:xfrm>
            <a:off x="6035040" y="2880360"/>
            <a:ext cx="2651760" cy="1508760"/>
          </a:xfrm>
          <a:prstGeom prst="roundRect">
            <a:avLst>
              <a:gd name="adj" fmla="val 4848"/>
            </a:avLst>
          </a:prstGeom>
          <a:solidFill>
            <a:schemeClr val="bg2"/>
          </a:solidFill>
          <a:ln/>
        </p:spPr>
      </p:sp>
      <p:sp>
        <p:nvSpPr>
          <p:cNvPr id="35" name="Report icon"/>
          <p:cNvSpPr/>
          <p:nvPr/>
        </p:nvSpPr>
        <p:spPr>
          <a:xfrm>
            <a:off x="6172200" y="3017520"/>
            <a:ext cx="457200" cy="457200"/>
          </a:xfrm>
          <a:prstGeom prst="ellipse">
            <a:avLst/>
          </a:prstGeom>
          <a:solidFill>
            <a:schemeClr val="accent3"/>
          </a:solidFill>
          <a:ln/>
        </p:spPr>
      </p:sp>
      <p:pic>
        <p:nvPicPr>
          <p:cNvPr id="36" name="Image 5" descr="Book icon">    </p:cNvPr>
          <p:cNvPicPr>
            <a:picLocks noChangeAspect="1"/>
          </p:cNvPicPr>
          <p:nvPr/>
        </p:nvPicPr>
        <p:blipFill>
          <a:blip r:embed="rId6"/>
          <a:stretch>
            <a:fillRect/>
          </a:stretch>
        </p:blipFill>
        <p:spPr>
          <a:xfrm>
            <a:off x="6291072" y="3136392"/>
            <a:ext cx="219456" cy="219456"/>
          </a:xfrm>
          <a:prstGeom prst="rect">
            <a:avLst/>
          </a:prstGeom>
        </p:spPr>
      </p:pic>
      <p:sp>
        <p:nvSpPr>
          <p:cNvPr id="37" name="Text 28"/>
          <p:cNvSpPr txBox="1"/>
          <p:nvPr/>
        </p:nvSpPr>
        <p:spPr>
          <a:xfrm>
            <a:off x="6748272" y="3017520"/>
            <a:ext cx="1828800" cy="457200"/>
          </a:xfrm>
          <a:prstGeom prst="rect">
            <a:avLst/>
          </a:prstGeom>
          <a:noFill/>
          <a:ln/>
        </p:spPr>
        <p:txBody>
          <a:bodyPr wrap="square" lIns="0" tIns="0" rIns="0" bIns="0" rtlCol="0" anchor="ctr"/>
          <a:lstStyle/>
          <a:p>
            <a:pPr indent="0" marL="0">
              <a:buNone/>
            </a:pPr>
            <a:r>
              <a:rPr lang="en-US" sz="1500" b="1" dirty="0">
                <a:solidFill>
                  <a:schemeClr val="tx1"/>
                </a:solidFill>
              </a:rPr>
              <a:t>Publications</a:t>
            </a:r>
            <a:endParaRPr lang="en-US" sz="1500" dirty="0"/>
          </a:p>
        </p:txBody>
      </p:sp>
      <p:sp>
        <p:nvSpPr>
          <p:cNvPr id="38" name="Text 29"/>
          <p:cNvSpPr txBox="1"/>
          <p:nvPr/>
        </p:nvSpPr>
        <p:spPr>
          <a:xfrm>
            <a:off x="6172200" y="3657600"/>
            <a:ext cx="2377440" cy="274320"/>
          </a:xfrm>
          <a:prstGeom prst="rect">
            <a:avLst/>
          </a:prstGeom>
          <a:noFill/>
          <a:ln/>
        </p:spPr>
        <p:txBody>
          <a:bodyPr wrap="square" lIns="0" tIns="0" rIns="0" bIns="0" rtlCol="0" anchor="t"/>
          <a:lstStyle/>
          <a:p>
            <a:pPr indent="0" marL="0">
              <a:buNone/>
            </a:pPr>
            <a:r>
              <a:rPr lang="en-US" sz="1300" b="1" dirty="0">
                <a:solidFill>
                  <a:schemeClr val="accent1"/>
                </a:solidFill>
              </a:rPr>
              <a:t>v_project_publications</a:t>
            </a:r>
            <a:endParaRPr lang="en-US" sz="1300" dirty="0"/>
          </a:p>
        </p:txBody>
      </p:sp>
      <p:sp>
        <p:nvSpPr>
          <p:cNvPr id="39" name="Text 30"/>
          <p:cNvSpPr txBox="1"/>
          <p:nvPr/>
        </p:nvSpPr>
        <p:spPr>
          <a:xfrm>
            <a:off x="6172200" y="3977640"/>
            <a:ext cx="2377440" cy="320040"/>
          </a:xfrm>
          <a:prstGeom prst="rect">
            <a:avLst/>
          </a:prstGeom>
          <a:noFill/>
          <a:ln/>
        </p:spPr>
        <p:txBody>
          <a:bodyPr wrap="square" lIns="0" tIns="0" rIns="0" bIns="0" rtlCol="0" anchor="t"/>
          <a:lstStyle/>
          <a:p>
            <a:pPr indent="0" marL="0">
              <a:buNone/>
            </a:pPr>
            <a:r>
              <a:rPr lang="en-US" sz="1300" dirty="0">
                <a:solidFill>
                  <a:schemeClr val="accent6"/>
                </a:solidFill>
              </a:rPr>
              <a:t>M:N join via junction</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Indexing and Prototype Status</a:t>
            </a:r>
            <a:endParaRPr lang="en-US" sz="3200" dirty="0"/>
          </a:p>
        </p:txBody>
      </p:sp>
      <p:sp>
        <p:nvSpPr>
          <p:cNvPr id="4" name="Index card"/>
          <p:cNvSpPr/>
          <p:nvPr/>
        </p:nvSpPr>
        <p:spPr>
          <a:xfrm>
            <a:off x="457200" y="1188720"/>
            <a:ext cx="3840480" cy="3291840"/>
          </a:xfrm>
          <a:prstGeom prst="roundRect">
            <a:avLst>
              <a:gd name="adj" fmla="val 2222"/>
            </a:avLst>
          </a:prstGeom>
          <a:solidFill>
            <a:schemeClr val="bg2"/>
          </a:solidFill>
          <a:ln/>
        </p:spPr>
      </p:sp>
      <p:sp>
        <p:nvSpPr>
          <p:cNvPr id="5" name="Index icon"/>
          <p:cNvSpPr/>
          <p:nvPr/>
        </p:nvSpPr>
        <p:spPr>
          <a:xfrm>
            <a:off x="640080" y="1325880"/>
            <a:ext cx="457200" cy="457200"/>
          </a:xfrm>
          <a:prstGeom prst="ellipse">
            <a:avLst/>
          </a:prstGeom>
          <a:solidFill>
            <a:schemeClr val="accent3"/>
          </a:solidFill>
          <a:ln/>
        </p:spPr>
      </p:sp>
      <p:pic>
        <p:nvPicPr>
          <p:cNvPr id="6" name="Image 0" descr="Key icon">    </p:cNvPr>
          <p:cNvPicPr>
            <a:picLocks noChangeAspect="1"/>
          </p:cNvPicPr>
          <p:nvPr/>
        </p:nvPicPr>
        <p:blipFill>
          <a:blip r:embed="rId1"/>
          <a:stretch>
            <a:fillRect/>
          </a:stretch>
        </p:blipFill>
        <p:spPr>
          <a:xfrm>
            <a:off x="758952" y="1444752"/>
            <a:ext cx="219456" cy="219456"/>
          </a:xfrm>
          <a:prstGeom prst="rect">
            <a:avLst/>
          </a:prstGeom>
        </p:spPr>
      </p:pic>
      <p:sp>
        <p:nvSpPr>
          <p:cNvPr id="7" name="Text 3"/>
          <p:cNvSpPr txBox="1"/>
          <p:nvPr/>
        </p:nvSpPr>
        <p:spPr>
          <a:xfrm>
            <a:off x="1207008" y="1325880"/>
            <a:ext cx="2926080" cy="457200"/>
          </a:xfrm>
          <a:prstGeom prst="rect">
            <a:avLst/>
          </a:prstGeom>
          <a:noFill/>
          <a:ln/>
        </p:spPr>
        <p:txBody>
          <a:bodyPr wrap="square" lIns="0" tIns="0" rIns="0" bIns="0" rtlCol="0" anchor="ctr"/>
          <a:lstStyle/>
          <a:p>
            <a:pPr indent="0" marL="0">
              <a:buNone/>
            </a:pPr>
            <a:r>
              <a:rPr lang="en-US" sz="1600" b="1" dirty="0">
                <a:solidFill>
                  <a:schemeClr val="tx1"/>
                </a:solidFill>
              </a:rPr>
              <a:t>Indexes on searched columns</a:t>
            </a:r>
            <a:endParaRPr lang="en-US" sz="1600" dirty="0"/>
          </a:p>
        </p:txBody>
      </p:sp>
      <p:sp>
        <p:nvSpPr>
          <p:cNvPr id="8" name="Text 4"/>
          <p:cNvSpPr txBox="1"/>
          <p:nvPr/>
        </p:nvSpPr>
        <p:spPr>
          <a:xfrm>
            <a:off x="685800" y="2011680"/>
            <a:ext cx="347472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project(status)</a:t>
            </a:r>
            <a:endParaRPr lang="en-US" sz="1500" dirty="0"/>
          </a:p>
          <a:p>
            <a:pPr marL="342900" indent="-342900">
              <a:spcAft>
                <a:spcPts val="600"/>
              </a:spcAft>
              <a:buSzPct val="100000"/>
              <a:buChar char="•"/>
            </a:pPr>
            <a:r>
              <a:rPr lang="en-US" sz="1500" dirty="0">
                <a:solidFill>
                  <a:schemeClr val="tx1"/>
                </a:solidFill>
              </a:rPr>
              <a:t>milestone(due_date)</a:t>
            </a:r>
            <a:endParaRPr lang="en-US" sz="1500" dirty="0"/>
          </a:p>
          <a:p>
            <a:pPr marL="342900" indent="-342900">
              <a:spcAft>
                <a:spcPts val="600"/>
              </a:spcAft>
              <a:buSzPct val="100000"/>
              <a:buChar char="•"/>
            </a:pPr>
            <a:r>
              <a:rPr lang="en-US" sz="1500" dirty="0">
                <a:solidFill>
                  <a:schemeClr val="tx1"/>
                </a:solidFill>
              </a:rPr>
              <a:t>publication(pub_year)</a:t>
            </a:r>
            <a:endParaRPr lang="en-US" sz="1500" dirty="0"/>
          </a:p>
          <a:p>
            <a:pPr marL="342900" indent="-342900">
              <a:spcAft>
                <a:spcPts val="600"/>
              </a:spcAft>
              <a:buSzPct val="100000"/>
              <a:buChar char="•"/>
            </a:pPr>
            <a:r>
              <a:rPr lang="en-US" sz="1500" dirty="0">
                <a:solidFill>
                  <a:schemeClr val="tx1"/>
                </a:solidFill>
              </a:rPr>
              <a:t>researcher(full_name)</a:t>
            </a:r>
            <a:endParaRPr lang="en-US" sz="1500" dirty="0"/>
          </a:p>
          <a:p>
            <a:pPr marL="342900" indent="-342900">
              <a:spcAft>
                <a:spcPts val="600"/>
              </a:spcAft>
              <a:buSzPct val="100000"/>
              <a:buChar char="•"/>
            </a:pPr>
            <a:r>
              <a:rPr lang="en-US" sz="1500" dirty="0">
                <a:solidFill>
                  <a:schemeClr val="tx1"/>
                </a:solidFill>
              </a:rPr>
              <a:t>expenditure(spent_on)</a:t>
            </a:r>
            <a:endParaRPr lang="en-US" sz="1500" dirty="0"/>
          </a:p>
        </p:txBody>
      </p:sp>
      <p:sp>
        <p:nvSpPr>
          <p:cNvPr id="9" name="Text 5"/>
          <p:cNvSpPr txBox="1"/>
          <p:nvPr/>
        </p:nvSpPr>
        <p:spPr>
          <a:xfrm>
            <a:off x="640080" y="3840480"/>
            <a:ext cx="3474720" cy="502920"/>
          </a:xfrm>
          <a:prstGeom prst="rect">
            <a:avLst/>
          </a:prstGeom>
          <a:noFill/>
          <a:ln/>
        </p:spPr>
        <p:txBody>
          <a:bodyPr wrap="square" lIns="0" tIns="0" rIns="0" bIns="0" rtlCol="0" anchor="t"/>
          <a:lstStyle/>
          <a:p>
            <a:pPr indent="0" marL="0">
              <a:buNone/>
            </a:pPr>
            <a:r>
              <a:rPr lang="en-US" sz="1300" dirty="0">
                <a:solidFill>
                  <a:schemeClr val="accent6"/>
                </a:solidFill>
              </a:rPr>
              <a:t>Foreign keys are indexed automatically by InnoDB.</a:t>
            </a:r>
            <a:endParaRPr lang="en-US" sz="1300" dirty="0"/>
          </a:p>
        </p:txBody>
      </p:sp>
      <p:graphicFrame>
        <p:nvGraphicFramePr>
          <p:cNvPr id="17" name="Status table"/>
          <p:cNvGraphicFramePr>
            <a:graphicFrameLocks noGrp="1"/>
          </p:cNvGraphicFramePr>
          <p:nvPr>
            <p:extLst>
              <p:ext uri="{D42A27DB-BD31-4B8C-83A1-F6EECF244321}">
                <p14:modId xmlns:p14="http://schemas.microsoft.com/office/powerpoint/2010/main" val="1579011935"/>
              </p:ext>
            </p:extLst>
          </p:nvPr>
        </p:nvGraphicFramePr>
        <p:xfrm>
          <a:off x="4526280" y="1188720"/>
          <a:ext cx="4160520" cy="914400"/>
        </p:xfrm>
        <a:graphic>
          <a:graphicData uri="http://schemas.openxmlformats.org/drawingml/2006/table">
            <a:tbl>
              <a:tblPr/>
              <a:tblGrid>
                <a:gridCol w="2011680"/>
                <a:gridCol w="2148840"/>
              </a:tblGrid>
              <a:tr h="457200">
                <a:tc>
                  <a:txBody>
                    <a:bodyPr/>
                    <a:lstStyle/>
                    <a:p>
                      <a:pPr indent="0" marL="0">
                        <a:buNone/>
                      </a:pPr>
                      <a:r>
                        <a:rPr lang="en-US" sz="1400" b="1" dirty="0">
                          <a:solidFill>
                            <a:schemeClr val="bg1"/>
                          </a:solidFill>
                        </a:rPr>
                        <a:t>Component</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Status</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r>
              <a:tr h="457200">
                <a:tc>
                  <a:txBody>
                    <a:bodyPr/>
                    <a:lstStyle/>
                    <a:p>
                      <a:pPr indent="0" marL="0">
                        <a:buNone/>
                      </a:pPr>
                      <a:r>
                        <a:rPr lang="en-US" sz="1400" b="1" dirty="0">
                          <a:solidFill>
                            <a:schemeClr val="tx1"/>
                          </a:solidFill>
                        </a:rPr>
                        <a:t>Schema (13 tables)</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Created</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Constraints and triggers</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Created</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Sample data</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Loaded</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Reporting views (6)</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Created</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Python front-end</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Connected; demo in Review 3</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p:nvPr>
            <p:ph idx="100" type="title" hasCustomPrompt="1"/>
          </p:nvPr>
        </p:nvSpPr>
        <p:spPr>
          <a:xfrm>
            <a:off x="548640" y="1417320"/>
            <a:ext cx="5760720" cy="1554480"/>
          </a:xfrm>
          <a:prstGeom prst="rect">
            <a:avLst/>
          </a:prstGeom>
          <a:noFill/>
          <a:ln/>
        </p:spPr>
        <p:txBody>
          <a:bodyPr wrap="square" lIns="0" tIns="0" rIns="0" bIns="0" rtlCol="0" anchor="t"/>
          <a:lstStyle/>
          <a:p>
            <a:pPr algn="l" indent="0" marL="0">
              <a:buNone/>
            </a:pPr>
            <a:r>
              <a:rPr lang="en-US" sz="3000" b="1" dirty="0">
                <a:solidFill>
                  <a:schemeClr val="bg1"/>
                </a:solidFill>
              </a:rPr>
              <a:t>Thank You</a:t>
            </a:r>
            <a:endParaRPr lang="en-US" sz="3000" dirty="0"/>
          </a:p>
        </p:txBody>
      </p:sp>
      <p:sp>
        <p:nvSpPr>
          <p:cNvPr id="4" name="Text 1"/>
          <p:cNvSpPr txBox="1"/>
          <p:nvPr/>
        </p:nvSpPr>
        <p:spPr>
          <a:xfrm>
            <a:off x="548640" y="2240280"/>
            <a:ext cx="5577840" cy="822960"/>
          </a:xfrm>
          <a:prstGeom prst="rect">
            <a:avLst/>
          </a:prstGeom>
          <a:noFill/>
          <a:ln/>
        </p:spPr>
        <p:txBody>
          <a:bodyPr wrap="square" lIns="0" tIns="0" rIns="0" bIns="0" rtlCol="0" anchor="t"/>
          <a:lstStyle/>
          <a:p>
            <a:pPr indent="0" marL="0">
              <a:buNone/>
            </a:pPr>
            <a:r>
              <a:rPr lang="en-US" sz="1600" dirty="0">
                <a:solidFill>
                  <a:schemeClr val="bg2"/>
                </a:solidFill>
              </a:rPr>
              <a:t>Questions and feedback welcome</a:t>
            </a:r>
            <a:endParaRPr lang="en-US" sz="1600" dirty="0"/>
          </a:p>
          <a:p>
            <a:pPr indent="0" marL="0">
              <a:buNone/>
            </a:pPr>
            <a:r>
              <a:rPr lang="en-US" sz="1600" dirty="0">
                <a:solidFill>
                  <a:schemeClr val="bg2"/>
                </a:solidFill>
              </a:rPr>
              <a:t>Next: Review 3 - application, demo and testing</a:t>
            </a:r>
            <a:endParaRPr lang="en-US" sz="1600" dirty="0"/>
          </a:p>
        </p:txBody>
      </p:sp>
      <p:sp>
        <p:nvSpPr>
          <p:cNvPr id="5" name="Motif ring"/>
          <p:cNvSpPr/>
          <p:nvPr/>
        </p:nvSpPr>
        <p:spPr>
          <a:xfrm>
            <a:off x="6355080" y="1097280"/>
            <a:ext cx="2651760" cy="2651760"/>
          </a:xfrm>
          <a:prstGeom prst="ellipse">
            <a:avLst/>
          </a:prstGeom>
          <a:ln w="19050">
            <a:solidFill>
              <a:schemeClr val="accent1"/>
            </a:solidFill>
            <a:prstDash val="solid"/>
          </a:ln>
        </p:spPr>
      </p:sp>
      <p:sp>
        <p:nvSpPr>
          <p:cNvPr id="6" name="Check badge"/>
          <p:cNvSpPr/>
          <p:nvPr/>
        </p:nvSpPr>
        <p:spPr>
          <a:xfrm>
            <a:off x="6675120" y="1417320"/>
            <a:ext cx="2011680" cy="2011680"/>
          </a:xfrm>
          <a:prstGeom prst="ellipse">
            <a:avLst/>
          </a:prstGeom>
          <a:solidFill>
            <a:schemeClr val="accent1"/>
          </a:solidFill>
          <a:ln/>
        </p:spPr>
      </p:sp>
      <p:pic>
        <p:nvPicPr>
          <p:cNvPr id="7" name="Image 0" descr="CheckCircle icon">    </p:cNvPr>
          <p:cNvPicPr>
            <a:picLocks noChangeAspect="1"/>
          </p:cNvPicPr>
          <p:nvPr/>
        </p:nvPicPr>
        <p:blipFill>
          <a:blip r:embed="rId1"/>
          <a:stretch>
            <a:fillRect/>
          </a:stretch>
        </p:blipFill>
        <p:spPr>
          <a:xfrm>
            <a:off x="7198157" y="1940357"/>
            <a:ext cx="965606" cy="965606"/>
          </a:xfrm>
          <a:prstGeom prst="rect">
            <a:avLst/>
          </a:prstGeom>
        </p:spPr>
      </p:pic>
      <p:sp>
        <p:nvSpPr>
          <p:cNvPr id="8" name="Text 0"/>
          <p:cNvSpPr/>
          <p:nvPr>
            <p:ph idx="101" type="body" hasCustomPrompt="1"/>
          </p:nvPr>
        </p:nvSpPr>
        <p:spPr>
          <a:xfrm>
            <a:off x="548640" y="3108960"/>
            <a:ext cx="5577840" cy="822960"/>
          </a:xfrm>
          <a:prstGeom prst="rect">
            <a:avLst/>
          </a:prstGeom>
          <a:noFill/>
          <a:ln/>
        </p:spPr>
        <p:txBody>
          <a:bodyPr wrap="square" lIns="0" tIns="0" rIns="0" bIns="0" rtlCol="0" anchor="t"/>
          <a:lstStyle/>
          <a:p>
            <a:pPr algn="l" indent="0" marL="0">
              <a:buNone/>
            </a:pPr>
            <a:endParaRPr lang="en-US" sz="1600" dirty="0"/>
          </a:p>
        </p:txBody>
      </p:sp>
    </p:spTree>
  </p:cSld>
  <p:clrMapOvr>
    <a:masterClrMapping/>
  </p:clrMapOvr>
</p:sld>
</file>

<file path=ppt/theme/theme1.xml><?xml version="1.0" encoding="utf-8"?>
<a:theme xmlns:a="http://schemas.openxmlformats.org/drawingml/2006/main" name="ResearchDB">
  <a:themeElements>
    <a:clrScheme name="ResearchDB">
      <a:dk1>
        <a:srgbClr val="0B1F33"/>
      </a:dk1>
      <a:lt1>
        <a:srgbClr val="FFFFFF"/>
      </a:lt1>
      <a:dk2>
        <a:srgbClr val="0E4D64"/>
      </a:dk2>
      <a:lt2>
        <a:srgbClr val="EAF3F6"/>
      </a:lt2>
      <a:accent1>
        <a:srgbClr val="0E7C86"/>
      </a:accent1>
      <a:accent2>
        <a:srgbClr val="F2A541"/>
      </a:accent2>
      <a:accent3>
        <a:srgbClr val="2F5D9E"/>
      </a:accent3>
      <a:accent4>
        <a:srgbClr val="2F7D5B"/>
      </a:accent4>
      <a:accent5>
        <a:srgbClr val="C8553D"/>
      </a:accent5>
      <a:accent6>
        <a:srgbClr val="5E7083"/>
      </a:accent6>
      <a:hlink>
        <a:srgbClr val="0E7C86"/>
      </a:hlink>
      <a:folHlink>
        <a:srgbClr val="5E7083"/>
      </a:folHlink>
    </a:clrScheme>
    <a:fontScheme name="ResearchD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Project, Publication and Grant Management System - Review 2</dc:title>
  <dc:subject>PptxGenJS Presentation</dc:subject>
  <dc:creator>Varun</dc:creator>
  <cp:lastModifiedBy>Varun</cp:lastModifiedBy>
  <cp:revision>1</cp:revision>
  <dcterms:created xsi:type="dcterms:W3CDTF">2026-10-14T06:19:21Z</dcterms:created>
  <dcterms:modified xsi:type="dcterms:W3CDTF">2026-10-14T06:19:21Z</dcterms:modified>
</cp:coreProperties>
</file>
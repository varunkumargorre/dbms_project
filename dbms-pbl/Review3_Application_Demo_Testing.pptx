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ee20c0c-f257-559c-a117-5d90519bc3a0}">
          <p14:sldIdLst>
            <p14:sldId id="256"/>
            <p14:sldId id="257"/>
          </p14:sldIdLst>
        </p14:section>
        <p14:section name="Application" id="{590d12c6-cb38-57c0-5dc7-bdbd920a70ca}">
          <p14:sldIdLst>
            <p14:sldId id="258"/>
            <p14:sldId id="259"/>
            <p14:sldId id="260"/>
          </p14:sldIdLst>
        </p14:section>
        <p14:section name="Demonstration" id="{22cafe4e-7fea-f950-d981-954c9485651c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esting and Wrap-up" id="{1ddf099a-623d-946d-f032-35e8a4c78930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is the final review: a Python application connected to the MySQL database, with CRUD, search, validation, reports and error handling, followed by testing, the deliverables checklist and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 Review 1 set the requirements and ER design. Review 2 delivered the normalized database with constraints, data and queries. Review 3 puts an application on top and proves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Users interact with the Python application. The application validates input and runs SQL. The MySQL database has the final say: its constraints and triggers reject bad data even if the application misses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application has eight modules. Each one maps to specific tables so it is easy to explain what a screen reads and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typical session follows the life of one project. Each step touches one or two tables, and the database rules fire automatically on every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dashed frame with a screenshot of the project registration and investigator assignment screens. Demonstrate a successful save and then a rejected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dashed frame with screenshots of the grant and expenditure screens. The over-budget attempt shows the trigger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dashed frame with screenshots of milestone tracking and publication linkage. The outside-date and duplicate-DOI attempts show the remaining two business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reports, each answering a question the research office actually asks. They all read from the views created in Review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core entity supports create, read, update and delete from the application, plus search. Deletes are protected by foreign keys: a record that other records depend on cannot be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passes through two gates. The application catches obvious mistakes early with friendly messages. Anything that slips through is stopped by the database rules, and the error is translated into a clear message for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Related inserts run in one transaction. If any statement violates a rule, the application rolls everything back so the database never holds half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Systematic testing: one valid case, one case for each business rule, one referential-integrity case and one search case. Each case has a defined expected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submission package for Review 3. Each item maps directly to the deliverables list in the project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Outcomes: a normalized database, rules enforced where they cannot be bypassed, and reports the research office can use. Future scope shows how the system could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move to the live demonstration. Keep the database open in one window and the application in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5577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Research Project, Publication &amp; Grant Management System  | 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Research Project, Publication &amp; Grant Management System</a:t>
            </a: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108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Design and Implementation of a Database Management System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Application, Demonstration and Testing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REVIEW 3  |  WEEK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Varun  |  B.Tech CSE (AI &amp; ML)  |  Database Management Systems</a:t>
            </a:r>
            <a:endParaRPr lang="en-US" sz="1400" dirty="0"/>
          </a:p>
        </p:txBody>
      </p:sp>
      <p:sp>
        <p:nvSpPr>
          <p:cNvPr id="7" name="Motif ring"/>
          <p:cNvSpPr/>
          <p:nvPr/>
        </p:nvSpPr>
        <p:spPr>
          <a:xfrm>
            <a:off x="6355080" y="1097280"/>
            <a:ext cx="2651760" cy="2651760"/>
          </a:xfrm>
          <a:prstGeom prst="ellipse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8" name="Database badge"/>
          <p:cNvSpPr/>
          <p:nvPr/>
        </p:nvSpPr>
        <p:spPr>
          <a:xfrm>
            <a:off x="6675120" y="14173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57" y="1940357"/>
            <a:ext cx="965606" cy="965606"/>
          </a:xfrm>
          <a:prstGeom prst="rect">
            <a:avLst/>
          </a:prstGeom>
        </p:spPr>
      </p:pic>
      <p:sp>
        <p:nvSpPr>
          <p:cNvPr id="10" name="Motif dot"/>
          <p:cNvSpPr/>
          <p:nvPr/>
        </p:nvSpPr>
        <p:spPr>
          <a:xfrm>
            <a:off x="8183880" y="960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Journey So Far</a:t>
            </a:r>
            <a:endParaRPr lang="en-US" sz="3200" dirty="0"/>
          </a:p>
        </p:txBody>
      </p:sp>
      <p:sp>
        <p:nvSpPr>
          <p:cNvPr id="4" name="Journey card"/>
          <p:cNvSpPr/>
          <p:nvPr/>
        </p:nvSpPr>
        <p:spPr>
          <a:xfrm>
            <a:off x="457200" y="12801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5" name="Journey header"/>
          <p:cNvSpPr/>
          <p:nvPr/>
        </p:nvSpPr>
        <p:spPr>
          <a:xfrm>
            <a:off x="457200" y="12801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Review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Done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Requirements and 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 diagram, 11 entities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Initial schema</a:t>
            </a:r>
            <a:endParaRPr lang="en-US" sz="1500" dirty="0"/>
          </a:p>
        </p:txBody>
      </p:sp>
      <p:sp>
        <p:nvSpPr>
          <p:cNvPr id="9" name="Journey card"/>
          <p:cNvSpPr/>
          <p:nvPr/>
        </p:nvSpPr>
        <p:spPr>
          <a:xfrm>
            <a:off x="3246120" y="12801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Journey header"/>
          <p:cNvSpPr/>
          <p:nvPr/>
        </p:nvSpPr>
        <p:spPr>
          <a:xfrm>
            <a:off x="3246120" y="12801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Review 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Done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3NF design, 13 tables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Constraints and triggers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Sample data and 6 views</a:t>
            </a:r>
            <a:endParaRPr lang="en-US" sz="1500" dirty="0"/>
          </a:p>
        </p:txBody>
      </p:sp>
      <p:sp>
        <p:nvSpPr>
          <p:cNvPr id="14" name="Journey card"/>
          <p:cNvSpPr/>
          <p:nvPr/>
        </p:nvSpPr>
        <p:spPr>
          <a:xfrm>
            <a:off x="6035040" y="12801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5" name="Journey header"/>
          <p:cNvSpPr/>
          <p:nvPr/>
        </p:nvSpPr>
        <p:spPr>
          <a:xfrm>
            <a:off x="6035040" y="12801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Review 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This review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application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CRUD, search,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Testing, report, viva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Foundation  &gt;  Database  &gt;  Application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Users panel"/>
          <p:cNvSpPr/>
          <p:nvPr/>
        </p:nvSpPr>
        <p:spPr>
          <a:xfrm>
            <a:off x="457200" y="1188720"/>
            <a:ext cx="1920240" cy="32004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Users</a:t>
            </a:r>
            <a:endParaRPr lang="en-US" sz="1700" dirty="0"/>
          </a:p>
        </p:txBody>
      </p:sp>
      <p:sp>
        <p:nvSpPr>
          <p:cNvPr id="6" name="Role chip"/>
          <p:cNvSpPr/>
          <p:nvPr/>
        </p:nvSpPr>
        <p:spPr>
          <a:xfrm>
            <a:off x="594360" y="1783080"/>
            <a:ext cx="16459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Research Office</a:t>
            </a:r>
            <a:endParaRPr lang="en-US" sz="1300" dirty="0"/>
          </a:p>
        </p:txBody>
      </p:sp>
      <p:sp>
        <p:nvSpPr>
          <p:cNvPr id="8" name="Role chip"/>
          <p:cNvSpPr/>
          <p:nvPr/>
        </p:nvSpPr>
        <p:spPr>
          <a:xfrm>
            <a:off x="594360" y="2423160"/>
            <a:ext cx="16459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Investigator</a:t>
            </a:r>
            <a:endParaRPr lang="en-US" sz="1300" dirty="0"/>
          </a:p>
        </p:txBody>
      </p:sp>
      <p:sp>
        <p:nvSpPr>
          <p:cNvPr id="10" name="Role chip"/>
          <p:cNvSpPr/>
          <p:nvPr/>
        </p:nvSpPr>
        <p:spPr>
          <a:xfrm>
            <a:off x="594360" y="3063240"/>
            <a:ext cx="16459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Finance Officer</a:t>
            </a:r>
            <a:endParaRPr lang="en-US" sz="1300" dirty="0"/>
          </a:p>
        </p:txBody>
      </p:sp>
      <p:sp>
        <p:nvSpPr>
          <p:cNvPr id="12" name="Role chip"/>
          <p:cNvSpPr/>
          <p:nvPr/>
        </p:nvSpPr>
        <p:spPr>
          <a:xfrm>
            <a:off x="594360" y="3703320"/>
            <a:ext cx="16459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Department Head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2423160" y="260604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App panel"/>
          <p:cNvSpPr/>
          <p:nvPr/>
        </p:nvSpPr>
        <p:spPr>
          <a:xfrm>
            <a:off x="2743200" y="118872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9260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Python application</a:t>
            </a:r>
            <a:endParaRPr lang="en-US" sz="1700" dirty="0"/>
          </a:p>
        </p:txBody>
      </p:sp>
      <p:sp>
        <p:nvSpPr>
          <p:cNvPr id="17" name="App layer"/>
          <p:cNvSpPr/>
          <p:nvPr/>
        </p:nvSpPr>
        <p:spPr>
          <a:xfrm>
            <a:off x="2926080" y="178308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06324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Screens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Forms, lists and reports</a:t>
            </a:r>
            <a:endParaRPr lang="en-US" sz="1200" dirty="0"/>
          </a:p>
        </p:txBody>
      </p:sp>
      <p:sp>
        <p:nvSpPr>
          <p:cNvPr id="20" name="App layer"/>
          <p:cNvSpPr/>
          <p:nvPr/>
        </p:nvSpPr>
        <p:spPr>
          <a:xfrm>
            <a:off x="2926080" y="265176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06324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Validation layer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06324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Empty, type, positive, date checks</a:t>
            </a:r>
            <a:endParaRPr lang="en-US" sz="1200" dirty="0"/>
          </a:p>
        </p:txBody>
      </p:sp>
      <p:sp>
        <p:nvSpPr>
          <p:cNvPr id="23" name="App layer"/>
          <p:cNvSpPr/>
          <p:nvPr/>
        </p:nvSpPr>
        <p:spPr>
          <a:xfrm>
            <a:off x="2926080" y="3520440"/>
            <a:ext cx="27432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063240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access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06324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SQL calls and transactions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>
            <a:off x="5897880" y="260604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7" name="DB panel"/>
          <p:cNvSpPr/>
          <p:nvPr/>
        </p:nvSpPr>
        <p:spPr>
          <a:xfrm>
            <a:off x="6217920" y="1188720"/>
            <a:ext cx="2468880" cy="3200400"/>
          </a:xfrm>
          <a:prstGeom prst="roundRect">
            <a:avLst>
              <a:gd name="adj" fmla="val 2963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MySQL database</a:t>
            </a:r>
            <a:endParaRPr lang="en-US" sz="1700" dirty="0"/>
          </a:p>
        </p:txBody>
      </p:sp>
      <p:sp>
        <p:nvSpPr>
          <p:cNvPr id="29" name="DB item"/>
          <p:cNvSpPr/>
          <p:nvPr/>
        </p:nvSpPr>
        <p:spPr>
          <a:xfrm>
            <a:off x="6400800" y="1783080"/>
            <a:ext cx="21031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13 tables in 3NF</a:t>
            </a:r>
            <a:endParaRPr lang="en-US" sz="1300" dirty="0"/>
          </a:p>
        </p:txBody>
      </p:sp>
      <p:sp>
        <p:nvSpPr>
          <p:cNvPr id="31" name="DB item"/>
          <p:cNvSpPr/>
          <p:nvPr/>
        </p:nvSpPr>
        <p:spPr>
          <a:xfrm>
            <a:off x="6400800" y="2423160"/>
            <a:ext cx="21031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Constraints and triggers</a:t>
            </a:r>
            <a:endParaRPr lang="en-US" sz="1300" dirty="0"/>
          </a:p>
        </p:txBody>
      </p:sp>
      <p:sp>
        <p:nvSpPr>
          <p:cNvPr id="33" name="DB item"/>
          <p:cNvSpPr/>
          <p:nvPr/>
        </p:nvSpPr>
        <p:spPr>
          <a:xfrm>
            <a:off x="6400800" y="3063240"/>
            <a:ext cx="21031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008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reporting views</a:t>
            </a:r>
            <a:endParaRPr lang="en-US" sz="1300" dirty="0"/>
          </a:p>
        </p:txBody>
      </p:sp>
      <p:sp>
        <p:nvSpPr>
          <p:cNvPr id="35" name="DB item"/>
          <p:cNvSpPr/>
          <p:nvPr/>
        </p:nvSpPr>
        <p:spPr>
          <a:xfrm>
            <a:off x="6400800" y="3703320"/>
            <a:ext cx="21031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Indexes on search columns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 Modules</a:t>
            </a:r>
            <a:endParaRPr lang="en-US" sz="3200" dirty="0"/>
          </a:p>
        </p:txBody>
      </p:sp>
      <p:sp>
        <p:nvSpPr>
          <p:cNvPr id="4" name="Module card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Module icon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Project registration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project</a:t>
            </a:r>
            <a:endParaRPr lang="en-US" sz="1200" dirty="0"/>
          </a:p>
        </p:txBody>
      </p:sp>
      <p:sp>
        <p:nvSpPr>
          <p:cNvPr id="9" name="Module card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Module icon"/>
          <p:cNvSpPr/>
          <p:nvPr/>
        </p:nvSpPr>
        <p:spPr>
          <a:xfrm>
            <a:off x="269748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UserPlu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4447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 investigators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697480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project_investigator</a:t>
            </a:r>
            <a:endParaRPr lang="en-US" sz="1200" dirty="0"/>
          </a:p>
        </p:txBody>
      </p:sp>
      <p:sp>
        <p:nvSpPr>
          <p:cNvPr id="14" name="Module card"/>
          <p:cNvSpPr/>
          <p:nvPr/>
        </p:nvSpPr>
        <p:spPr>
          <a:xfrm>
            <a:off x="466344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5" name="Module icon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HandHoldingUs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444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060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Grant and budget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800600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grant_award</a:t>
            </a:r>
            <a:endParaRPr lang="en-US" sz="1200" dirty="0"/>
          </a:p>
        </p:txBody>
      </p:sp>
      <p:sp>
        <p:nvSpPr>
          <p:cNvPr id="19" name="Module card"/>
          <p:cNvSpPr/>
          <p:nvPr/>
        </p:nvSpPr>
        <p:spPr>
          <a:xfrm>
            <a:off x="676656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0" name="Module icon"/>
          <p:cNvSpPr/>
          <p:nvPr/>
        </p:nvSpPr>
        <p:spPr>
          <a:xfrm>
            <a:off x="690372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FlagCheckere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44475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Milestone tracking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903720" y="2258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milestone</a:t>
            </a:r>
            <a:endParaRPr lang="en-US" sz="1200" dirty="0"/>
          </a:p>
        </p:txBody>
      </p:sp>
      <p:sp>
        <p:nvSpPr>
          <p:cNvPr id="24" name="Module card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5" name="Module icon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ileInvoiceDoll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1363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943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Expenditure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59436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expenditure</a:t>
            </a:r>
            <a:endParaRPr lang="en-US" sz="1200" dirty="0"/>
          </a:p>
        </p:txBody>
      </p:sp>
      <p:sp>
        <p:nvSpPr>
          <p:cNvPr id="29" name="Module card"/>
          <p:cNvSpPr/>
          <p:nvPr/>
        </p:nvSpPr>
        <p:spPr>
          <a:xfrm>
            <a:off x="256032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0" name="Module icon"/>
          <p:cNvSpPr/>
          <p:nvPr/>
        </p:nvSpPr>
        <p:spPr>
          <a:xfrm>
            <a:off x="269748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Boo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352" y="31363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69748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Publication linkage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269748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project_publication</a:t>
            </a:r>
            <a:endParaRPr lang="en-US" sz="1200" dirty="0"/>
          </a:p>
        </p:txBody>
      </p:sp>
      <p:sp>
        <p:nvSpPr>
          <p:cNvPr id="34" name="Module card"/>
          <p:cNvSpPr/>
          <p:nvPr/>
        </p:nvSpPr>
        <p:spPr>
          <a:xfrm>
            <a:off x="466344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5" name="Module icon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ChartBa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136392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80060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Reports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480060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 views</a:t>
            </a:r>
            <a:endParaRPr lang="en-US" sz="1200" dirty="0"/>
          </a:p>
        </p:txBody>
      </p:sp>
      <p:sp>
        <p:nvSpPr>
          <p:cNvPr id="39" name="Module card"/>
          <p:cNvSpPr/>
          <p:nvPr/>
        </p:nvSpPr>
        <p:spPr>
          <a:xfrm>
            <a:off x="676656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0" name="Module icon"/>
          <p:cNvSpPr/>
          <p:nvPr/>
        </p:nvSpPr>
        <p:spPr>
          <a:xfrm>
            <a:off x="690372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mage 7" descr="Search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3136392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90372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Search</a:t>
            </a:r>
            <a:endParaRPr lang="en-US" sz="1400" dirty="0"/>
          </a:p>
        </p:txBody>
      </p:sp>
      <p:sp>
        <p:nvSpPr>
          <p:cNvPr id="43" name="Text 32"/>
          <p:cNvSpPr txBox="1"/>
          <p:nvPr/>
        </p:nvSpPr>
        <p:spPr>
          <a:xfrm>
            <a:off x="6903720" y="3950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tables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Workflow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51560" y="1572768"/>
            <a:ext cx="71323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Step icon"/>
          <p:cNvSpPr/>
          <p:nvPr/>
        </p:nvSpPr>
        <p:spPr>
          <a:xfrm>
            <a:off x="758952" y="128016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108" y="1432316"/>
            <a:ext cx="280904" cy="2809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463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Register project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6634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project</a:t>
            </a:r>
            <a:endParaRPr lang="en-US" sz="1100" dirty="0"/>
          </a:p>
        </p:txBody>
      </p:sp>
      <p:sp>
        <p:nvSpPr>
          <p:cNvPr id="9" name="Step icon"/>
          <p:cNvSpPr/>
          <p:nvPr/>
        </p:nvSpPr>
        <p:spPr>
          <a:xfrm>
            <a:off x="1947672" y="1280160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UserPlu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28" y="1432316"/>
            <a:ext cx="280904" cy="2809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7335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Assign investigators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65506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project_investigator</a:t>
            </a:r>
            <a:endParaRPr lang="en-US" sz="1100" dirty="0"/>
          </a:p>
        </p:txBody>
      </p:sp>
      <p:sp>
        <p:nvSpPr>
          <p:cNvPr id="13" name="Step icon"/>
          <p:cNvSpPr/>
          <p:nvPr/>
        </p:nvSpPr>
        <p:spPr>
          <a:xfrm>
            <a:off x="3136392" y="128016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HandHoldingUs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48" y="1432316"/>
            <a:ext cx="280904" cy="2809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86207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Enter grant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84378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grant_award</a:t>
            </a:r>
            <a:endParaRPr lang="en-US" sz="1100" dirty="0"/>
          </a:p>
        </p:txBody>
      </p:sp>
      <p:sp>
        <p:nvSpPr>
          <p:cNvPr id="17" name="Step icon"/>
          <p:cNvSpPr/>
          <p:nvPr/>
        </p:nvSpPr>
        <p:spPr>
          <a:xfrm>
            <a:off x="4325112" y="1280160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FlagCheckere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268" y="1432316"/>
            <a:ext cx="280904" cy="2809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05079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Track milestones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03250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milestone</a:t>
            </a:r>
            <a:endParaRPr lang="en-US" sz="1100" dirty="0"/>
          </a:p>
        </p:txBody>
      </p:sp>
      <p:sp>
        <p:nvSpPr>
          <p:cNvPr id="21" name="Step icon"/>
          <p:cNvSpPr/>
          <p:nvPr/>
        </p:nvSpPr>
        <p:spPr>
          <a:xfrm>
            <a:off x="5513832" y="128016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FileInvoiceDoll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988" y="1432316"/>
            <a:ext cx="280904" cy="28090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23951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Record expenditure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522122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expenditure</a:t>
            </a:r>
            <a:endParaRPr lang="en-US" sz="1100" dirty="0"/>
          </a:p>
        </p:txBody>
      </p:sp>
      <p:sp>
        <p:nvSpPr>
          <p:cNvPr id="25" name="Step icon"/>
          <p:cNvSpPr/>
          <p:nvPr/>
        </p:nvSpPr>
        <p:spPr>
          <a:xfrm>
            <a:off x="6702552" y="1280160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5" descr="Boo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708" y="1432316"/>
            <a:ext cx="280904" cy="28090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42823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Link publications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40994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project_publication</a:t>
            </a:r>
            <a:endParaRPr lang="en-US" sz="1100" dirty="0"/>
          </a:p>
        </p:txBody>
      </p:sp>
      <p:sp>
        <p:nvSpPr>
          <p:cNvPr id="29" name="Step icon"/>
          <p:cNvSpPr/>
          <p:nvPr/>
        </p:nvSpPr>
        <p:spPr>
          <a:xfrm>
            <a:off x="7891272" y="1280160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ChartBa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428" y="1432316"/>
            <a:ext cx="280904" cy="28090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616952" y="20116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reports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7598664" y="2743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views</a:t>
            </a:r>
            <a:endParaRPr lang="en-US" sz="1100" dirty="0"/>
          </a:p>
        </p:txBody>
      </p:sp>
      <p:sp>
        <p:nvSpPr>
          <p:cNvPr id="33" name="Workflow note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Every save is checked twice: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first by the application, then by the database constraints and triggers.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Screens: Project and Investigators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45720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Insert screenshot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Project registration and investigator assignment screens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Show in the demo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691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Register a project with valid 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Try an end date before the start 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Assign a PI and a Co-PI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Point out the error message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Screens: Grant and Expenditure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45720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Insert screenshot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Grant entry and expenditure entry screens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Show in the demo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691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Enter a grant for a project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Record an expense within budget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Try an expense above the grant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 the rejection message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Screens: Milestones and Publications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45720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Insert screenshot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Milestone tracking and publication linkage screens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Show in the demo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691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a milestone inside the project 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Try a date outside the project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Link a publication to a project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Try a duplicate DOI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Reports in the Application</a:t>
            </a:r>
            <a:endParaRPr lang="en-US" sz="3200" dirty="0"/>
          </a:p>
        </p:txBody>
      </p:sp>
      <p:sp>
        <p:nvSpPr>
          <p:cNvPr id="4" name="Report card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Report icon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progress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How far along is each project?</a:t>
            </a:r>
            <a:endParaRPr lang="en-US" sz="1400" dirty="0"/>
          </a:p>
        </p:txBody>
      </p:sp>
      <p:sp>
        <p:nvSpPr>
          <p:cNvPr id="9" name="Report card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Report icon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Coi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447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5935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Budget utilization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How much of each grant is spent?</a:t>
            </a:r>
            <a:endParaRPr lang="en-US" sz="1400" dirty="0"/>
          </a:p>
        </p:txBody>
      </p:sp>
      <p:sp>
        <p:nvSpPr>
          <p:cNvPr id="14" name="Report card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5" name="Report icon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lagChecker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44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4827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Milestones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is due or overdue?</a:t>
            </a:r>
            <a:endParaRPr lang="en-US" sz="1400" dirty="0"/>
          </a:p>
        </p:txBody>
      </p:sp>
      <p:sp>
        <p:nvSpPr>
          <p:cNvPr id="19" name="Report card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0" name="Report icon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UserTi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13639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043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Researcher output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Who publishes the most?</a:t>
            </a:r>
            <a:endParaRPr lang="en-US" sz="1400" dirty="0"/>
          </a:p>
        </p:txBody>
      </p:sp>
      <p:sp>
        <p:nvSpPr>
          <p:cNvPr id="24" name="Report card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5" name="Report icon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Universit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1363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5935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Agency portfolio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does each agency fund?</a:t>
            </a:r>
            <a:endParaRPr lang="en-US" sz="1400" dirty="0"/>
          </a:p>
        </p:txBody>
      </p:sp>
      <p:sp>
        <p:nvSpPr>
          <p:cNvPr id="29" name="Report card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0" name="Report icon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Boo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1363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4827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Publications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Which papers came from which project?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CRUD Operations and Search</a:t>
            </a:r>
            <a:endParaRPr lang="en-US" sz="3200" dirty="0"/>
          </a:p>
        </p:txBody>
      </p:sp>
      <p:graphicFrame>
        <p:nvGraphicFramePr>
          <p:cNvPr id="11" name="CRU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Entity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Create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Read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Update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Search by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Project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Title, status, department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Researcher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Name, department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Grant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Project, agency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Project, status, due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Expenditure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Grant, category,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Publication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Title, year, DOI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elete note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Safe deletes: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foreign keys block removal of records that other records depend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Validation and Error Handling</a:t>
            </a:r>
            <a:endParaRPr lang="en-US" sz="3200" dirty="0"/>
          </a:p>
        </p:txBody>
      </p:sp>
      <p:sp>
        <p:nvSpPr>
          <p:cNvPr id="4" name="Gate box"/>
          <p:cNvSpPr/>
          <p:nvPr/>
        </p:nvSpPr>
        <p:spPr>
          <a:xfrm>
            <a:off x="457200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216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 input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Forms and fields</a:t>
            </a:r>
            <a:endParaRPr lang="en-US" sz="1200" dirty="0"/>
          </a:p>
        </p:txBody>
      </p:sp>
      <p:sp>
        <p:nvSpPr>
          <p:cNvPr id="7" name="Arrow"/>
          <p:cNvSpPr/>
          <p:nvPr/>
        </p:nvSpPr>
        <p:spPr>
          <a:xfrm>
            <a:off x="2322576" y="1435608"/>
            <a:ext cx="228600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Gate box"/>
          <p:cNvSpPr/>
          <p:nvPr/>
        </p:nvSpPr>
        <p:spPr>
          <a:xfrm>
            <a:off x="2587752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79192" y="1216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 checks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Empty, type, positive, date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4453128" y="1435608"/>
            <a:ext cx="228600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Gate box"/>
          <p:cNvSpPr/>
          <p:nvPr/>
        </p:nvSpPr>
        <p:spPr>
          <a:xfrm>
            <a:off x="4718304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9744" y="1216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Database rules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09744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CHECK, UNIQUE, FK, triggers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6583680" y="1435608"/>
            <a:ext cx="228600" cy="32918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Gate box"/>
          <p:cNvSpPr/>
          <p:nvPr/>
        </p:nvSpPr>
        <p:spPr>
          <a:xfrm>
            <a:off x="6848856" y="11430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0296" y="12161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Clear message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940296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Nothing saved on error</a:t>
            </a:r>
            <a:endParaRPr lang="en-US" sz="1200" dirty="0"/>
          </a:p>
        </p:txBody>
      </p:sp>
      <p:graphicFrame>
        <p:nvGraphicFramePr>
          <p:cNvPr id="12" name="Error mess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When the user tries to...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 message shown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Save a project ending before it starts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End date must be after start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Record an expense above the grant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Expenditure exceeds grant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 a milestone outside project dates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Milestone outside project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Enter a publication with an existing DOI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DOI already exists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Enter a grant of zero or less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Grant amount must be positive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Transaction Awareness</a:t>
            </a:r>
            <a:endParaRPr lang="en-US" sz="3200" dirty="0"/>
          </a:p>
        </p:txBody>
      </p:sp>
      <p:sp>
        <p:nvSpPr>
          <p:cNvPr id="4" name="Transaction SQL"/>
          <p:cNvSpPr/>
          <p:nvPr/>
        </p:nvSpPr>
        <p:spPr>
          <a:xfrm>
            <a:off x="457200" y="1143000"/>
            <a:ext cx="475488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</p:sp>
      <p:sp>
        <p:nvSpPr>
          <p:cNvPr id="5" name="Transaction SQL text"/>
          <p:cNvSpPr txBox="1"/>
          <p:nvPr/>
        </p:nvSpPr>
        <p:spPr>
          <a:xfrm>
            <a:off x="594360" y="1252728"/>
            <a:ext cx="44805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 Crop Disease'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buNone/>
            </a:pPr>
            <a:r>
              <a:rPr lang="en-US" sz="11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'2026-01-01'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'2027-12-31'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LAST_INSERT_ID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project_investigator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(@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3, </a:t>
            </a:r>
            <a:pPr algn="l" indent="0" marL="0">
              <a:buNone/>
            </a:pPr>
            <a:r>
              <a:rPr lang="en-US" sz="11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'PI'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CURDATE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grant_award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grant_amount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sanction_date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(@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2, 1800000, </a:t>
            </a:r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CURDATE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6" name="Transaction note"/>
          <p:cNvSpPr/>
          <p:nvPr/>
        </p:nvSpPr>
        <p:spPr>
          <a:xfrm>
            <a:off x="5440680" y="1143000"/>
            <a:ext cx="32461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2356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All or nothing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Related inserts are saved together, or none are saved.</a:t>
            </a:r>
            <a:endParaRPr lang="en-US" sz="1500" dirty="0"/>
          </a:p>
        </p:txBody>
      </p:sp>
      <p:sp>
        <p:nvSpPr>
          <p:cNvPr id="9" name="Transaction note"/>
          <p:cNvSpPr/>
          <p:nvPr/>
        </p:nvSpPr>
        <p:spPr>
          <a:xfrm>
            <a:off x="5440680" y="2834640"/>
            <a:ext cx="32461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2356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Failure path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broken rule raises an error and the app issues ROLLBACK.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Systematic Testing</a:t>
            </a:r>
            <a:endParaRPr lang="en-US" sz="3200" dirty="0"/>
          </a:p>
        </p:txBody>
      </p:sp>
      <p:graphicFrame>
        <p:nvGraphicFramePr>
          <p:cNvPr id="14" name="Test 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scenario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Register a valid project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Saved and listed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End date before start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Rejected by CHECK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Grant amount zero or negative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Rejected by CHECK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Expense above remaining grant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Rejected by trigger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Milestone date outside project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Rejected by trigger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Publication with an existing DOI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Rejected by UNIQUE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Delete a project that has grants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Blocked by foreign key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Search projects by title keyword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Matching rows listed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Submission Package</a:t>
            </a:r>
            <a:endParaRPr lang="en-US" sz="3200" dirty="0"/>
          </a:p>
        </p:txBody>
      </p:sp>
      <p:sp>
        <p:nvSpPr>
          <p:cNvPr id="4" name="Deliverable card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Deliverable icon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Source code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modules for every screen</a:t>
            </a:r>
            <a:endParaRPr lang="en-US" sz="1400" dirty="0"/>
          </a:p>
        </p:txBody>
      </p:sp>
      <p:sp>
        <p:nvSpPr>
          <p:cNvPr id="9" name="Deliverable card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Deliverable icon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447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5935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 script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Tables, constraints, triggers, views</a:t>
            </a:r>
            <a:endParaRPr lang="en-US" sz="1400" dirty="0"/>
          </a:p>
        </p:txBody>
      </p:sp>
      <p:sp>
        <p:nvSpPr>
          <p:cNvPr id="14" name="Deliverable card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5" name="Deliverable icon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Tab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44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48272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data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Sample rows and invalid-case inputs</a:t>
            </a:r>
            <a:endParaRPr lang="en-US" sz="1400" dirty="0"/>
          </a:p>
        </p:txBody>
      </p:sp>
      <p:sp>
        <p:nvSpPr>
          <p:cNvPr id="19" name="Deliverable card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0" name="Deliverable icon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Desk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13639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043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 screens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CRUD, search, validation, reports</a:t>
            </a:r>
            <a:endParaRPr lang="en-US" sz="1400" dirty="0"/>
          </a:p>
        </p:txBody>
      </p:sp>
      <p:sp>
        <p:nvSpPr>
          <p:cNvPr id="24" name="Deliverable card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5" name="Deliverable icon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ile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1363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5935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report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Requirements, design and testing</a:t>
            </a:r>
            <a:endParaRPr lang="en-US" sz="1400" dirty="0"/>
          </a:p>
        </p:txBody>
      </p:sp>
      <p:sp>
        <p:nvSpPr>
          <p:cNvPr id="29" name="Deliverable card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0" name="Deliverable icon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Clipboard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1363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4827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Viva-voce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ER, 3NF, constraints, queries, demo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Outcomes and Future Scope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88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tables in 3NF</a:t>
            </a:r>
            <a:endParaRPr lang="en-US" sz="1600" dirty="0"/>
          </a:p>
        </p:txBody>
      </p:sp>
      <p:sp>
        <p:nvSpPr>
          <p:cNvPr id="7" name="Stat card"/>
          <p:cNvSpPr/>
          <p:nvPr/>
        </p:nvSpPr>
        <p:spPr>
          <a:xfrm>
            <a:off x="457200" y="2331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331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31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business rules enforced in the database</a:t>
            </a:r>
            <a:endParaRPr lang="en-US" sz="1600" dirty="0"/>
          </a:p>
        </p:txBody>
      </p:sp>
      <p:sp>
        <p:nvSpPr>
          <p:cNvPr id="10" name="Stat card"/>
          <p:cNvSpPr/>
          <p:nvPr/>
        </p:nvSpPr>
        <p:spPr>
          <a:xfrm>
            <a:off x="457200" y="34747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6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474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reports served as views</a:t>
            </a:r>
            <a:endParaRPr lang="en-US" sz="1600" dirty="0"/>
          </a:p>
        </p:txBody>
      </p:sp>
      <p:sp>
        <p:nvSpPr>
          <p:cNvPr id="13" name="Future scope card"/>
          <p:cNvSpPr/>
          <p:nvPr/>
        </p:nvSpPr>
        <p:spPr>
          <a:xfrm>
            <a:off x="4617720" y="1188720"/>
            <a:ext cx="40690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8745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login for each user type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Charts and dashboards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Export reports to PDF and Excel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Reminders for upcoming milestones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Thank You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 welcome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Live demonstration and viva-voce follow</a:t>
            </a:r>
            <a:endParaRPr lang="en-US" sz="1600" dirty="0"/>
          </a:p>
        </p:txBody>
      </p:sp>
      <p:sp>
        <p:nvSpPr>
          <p:cNvPr id="5" name="Motif ring"/>
          <p:cNvSpPr/>
          <p:nvPr/>
        </p:nvSpPr>
        <p:spPr>
          <a:xfrm>
            <a:off x="6355080" y="1097280"/>
            <a:ext cx="2651760" cy="2651760"/>
          </a:xfrm>
          <a:prstGeom prst="ellipse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6" name="Check badge"/>
          <p:cNvSpPr/>
          <p:nvPr/>
        </p:nvSpPr>
        <p:spPr>
          <a:xfrm>
            <a:off x="6675120" y="14173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57" y="1940357"/>
            <a:ext cx="965606" cy="965606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1089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DB">
  <a:themeElements>
    <a:clrScheme name="ResearchDB">
      <a:dk1>
        <a:srgbClr val="0B1F33"/>
      </a:dk1>
      <a:lt1>
        <a:srgbClr val="FFFFFF"/>
      </a:lt1>
      <a:dk2>
        <a:srgbClr val="0E4D64"/>
      </a:dk2>
      <a:lt2>
        <a:srgbClr val="EAF3F6"/>
      </a:lt2>
      <a:accent1>
        <a:srgbClr val="0E7C86"/>
      </a:accent1>
      <a:accent2>
        <a:srgbClr val="F2A541"/>
      </a:accent2>
      <a:accent3>
        <a:srgbClr val="2F5D9E"/>
      </a:accent3>
      <a:accent4>
        <a:srgbClr val="2F7D5B"/>
      </a:accent4>
      <a:accent5>
        <a:srgbClr val="C8553D"/>
      </a:accent5>
      <a:accent6>
        <a:srgbClr val="5E7083"/>
      </a:accent6>
      <a:hlink>
        <a:srgbClr val="0E7C86"/>
      </a:hlink>
      <a:folHlink>
        <a:srgbClr val="5E7083"/>
      </a:folHlink>
    </a:clrScheme>
    <a:fontScheme name="ResearchD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Project, Publication and Grant Management System - Review 3</dc:title>
  <dc:subject>PptxGenJS Presentation</dc:subject>
  <dc:creator>Varun</dc:creator>
  <cp:lastModifiedBy>Varun</cp:lastModifiedBy>
  <cp:revision>1</cp:revision>
  <dcterms:created xsi:type="dcterms:W3CDTF">2026-10-14T06:20:57Z</dcterms:created>
  <dcterms:modified xsi:type="dcterms:W3CDTF">2026-10-14T06:20:57Z</dcterms:modified>
</cp:coreProperties>
</file>
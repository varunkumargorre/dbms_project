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de497ea-e845-d713-c461-1c0ee43380e1}">
          <p14:sldIdLst>
            <p14:sldId id="256"/>
          </p14:sldIdLst>
        </p14:section>
        <p14:section name="Problem and Scope" id="{29df545f-1b13-c73b-19e2-dc9065c0765c}">
          <p14:sldIdLst>
            <p14:sldId id="257"/>
            <p14:sldId id="258"/>
            <p14:sldId id="259"/>
            <p14:sldId id="260"/>
            <p14:sldId id="261"/>
            <p14:sldId id="262"/>
          </p14:sldIdLst>
        </p14:section>
        <p14:section name="Conceptual Design" id="{8206e54d-33f6-82ef-8ea5-af035c50522c}">
          <p14:sldIdLst>
            <p14:sldId id="263"/>
            <p14:sldId id="264"/>
            <p14:sldId id="265"/>
          </p14:sldIdLst>
        </p14:section>
        <p14:section name="Initial Relational Schema" id="{31ffa70b-a583-b759-d897-9d3185479c38}">
          <p14:sldIdLst>
            <p14:sldId id="266"/>
            <p14:sldId id="267"/>
          </p14:sldIdLst>
        </p14:section>
        <p14:section name="Next Steps" id="{9e41da13-21c6-ca63-bf4d-acd13e4630a8}">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 relational database plus a small front-end that lets a research office track projects, grants, spending, milestones, publications and patents in one place. Review 1 covers the problem, scope, requirements, ER diagram and the initial relational schema.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research offices keep projects, grants, spending and publications in separate files. Nobody can easily answer questions like how much of a grant is spent, or what a project has produced. The fix is one relational database where every record is linked by keys and protected by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clear on boundaries. In scope: the database and a Python front-end for the core research-office workflow. Out of scope: anything that needs integration with other institutional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objectives, in the order we work through them: centralize data, model it, enforce rules, report on it, and provide a front-end.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user roles. The research office admin has full access; investigators work on their own projects; finance handles money; department heads get a read-only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eight modules are the functional requirements. Each maps to tables in the schema and to a screen in the front-end.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rules come straight from the problem statement. We plan to enforce them inside the database, not only in the application, so bad data is rejected no matter how it arrives.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11 principal entities from the problem statement with their key attributes. Investigator is an associative entity: it links a researcher to a project and carries the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diagram from the centre: Project is the hub. A department hosts it, researchers join through the Investigator link, grants fund it, and milestones, reports, patents and publications hang off it. Grants carry the money, so expenditure attaches to a grant.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relationship, with its cardinality. The three many-to-many relationships become junction tables in the relational schema.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Initial schema, part 1: the people, organization and money tables. PK is a primary key, FK is a foreign key. The grant table is named grant_award because GRANT is a reserved word in 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Initial schema, part 2: activity and output tables, including the two junction tables that resolve the many-to-many relationships.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1 is the foundation. Review 2 turns it into a normalized, constrained, populated and queryable database. Review 3 adds the application, testing and the final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previewing Review 2: normalization to 3NF, DDL with constraints, sample data and SQL queries.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5760720" cy="155448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3" name="Text 0"/>
          <p:cNvSpPr/>
          <p:nvPr>
            <p:ph idx="101" type="body" hasCustomPrompt="1"/>
          </p:nvPr>
        </p:nvSpPr>
        <p:spPr>
          <a:xfrm>
            <a:off x="548640" y="3108960"/>
            <a:ext cx="5577840" cy="822960"/>
          </a:xfrm>
          <a:prstGeom prst="rect">
            <a:avLst/>
          </a:prstGeom>
          <a:noFill/>
          <a:ln/>
        </p:spPr>
        <p:txBody>
          <a:bodyPr wrap="square" rtlCol="0"/>
          <a:lstStyle>
            <a:lvl1pPr algn="l" indent="0" marL="0">
              <a:buNone/>
              <a:defRPr lang="en-US" sz="1600" dirty="0">
                <a:solidFill>
                  <a:schemeClr val="bg2"/>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457200" y="4754880"/>
            <a:ext cx="6400800" cy="228600"/>
          </a:xfrm>
          <a:prstGeom prst="rect">
            <a:avLst/>
          </a:prstGeom>
          <a:noFill/>
          <a:ln/>
        </p:spPr>
        <p:txBody>
          <a:bodyPr wrap="square" lIns="0" tIns="0" rIns="0" bIns="0" rtlCol="0" anchor="ctr"/>
          <a:lstStyle/>
          <a:p>
            <a:pPr indent="0" marL="0">
              <a:buNone/>
            </a:pPr>
            <a:r>
              <a:rPr lang="en-US" sz="1000" dirty="0">
                <a:solidFill>
                  <a:schemeClr val="accent6"/>
                </a:solidFill>
              </a:rPr>
              <a:t>Research Project, Publication &amp; Grant Management System  |  Review 1</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3.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0" type="title" hasCustomPrompt="1"/>
          </p:nvPr>
        </p:nvSpPr>
        <p:spPr>
          <a:xfrm>
            <a:off x="548640" y="1417320"/>
            <a:ext cx="5760720" cy="1554480"/>
          </a:xfrm>
          <a:prstGeom prst="rect">
            <a:avLst/>
          </a:prstGeom>
          <a:noFill/>
          <a:ln/>
        </p:spPr>
        <p:txBody>
          <a:bodyPr wrap="square" lIns="0" tIns="0" rIns="0" bIns="0" rtlCol="0" anchor="t"/>
          <a:lstStyle/>
          <a:p>
            <a:pPr algn="l" indent="0" marL="0">
              <a:buNone/>
            </a:pPr>
            <a:r>
              <a:rPr lang="en-US" sz="3000" b="1" dirty="0">
                <a:solidFill>
                  <a:schemeClr val="bg1"/>
                </a:solidFill>
              </a:rPr>
              <a:t>Research Project, Publication &amp; Grant Management System</a:t>
            </a:r>
            <a:endParaRPr lang="en-US" sz="3000" dirty="0"/>
          </a:p>
        </p:txBody>
      </p:sp>
      <p:sp>
        <p:nvSpPr>
          <p:cNvPr id="4" name="Text 0"/>
          <p:cNvSpPr/>
          <p:nvPr>
            <p:ph idx="101" type="body" hasCustomPrompt="1"/>
          </p:nvPr>
        </p:nvSpPr>
        <p:spPr>
          <a:xfrm>
            <a:off x="548640" y="3108960"/>
            <a:ext cx="5577840" cy="822960"/>
          </a:xfrm>
          <a:prstGeom prst="rect">
            <a:avLst/>
          </a:prstGeom>
          <a:noFill/>
          <a:ln/>
        </p:spPr>
        <p:txBody>
          <a:bodyPr wrap="square" lIns="0" tIns="0" rIns="0" bIns="0" rtlCol="0" anchor="t"/>
          <a:lstStyle/>
          <a:p>
            <a:pPr algn="l" indent="0" marL="0">
              <a:buNone/>
            </a:pPr>
            <a:r>
              <a:rPr lang="en-US" sz="1600" dirty="0">
                <a:solidFill>
                  <a:schemeClr val="bg2"/>
                </a:solidFill>
              </a:rPr>
              <a:t>Design and Implementation of a Database Management System</a:t>
            </a:r>
            <a:endParaRPr lang="en-US" sz="1600" dirty="0"/>
          </a:p>
          <a:p>
            <a:pPr algn="l" indent="0" marL="0">
              <a:buNone/>
            </a:pPr>
            <a:r>
              <a:rPr lang="en-US" sz="1600" dirty="0">
                <a:solidFill>
                  <a:schemeClr val="bg2"/>
                </a:solidFill>
              </a:rPr>
              <a:t>Problem, Scope and ER Design</a:t>
            </a:r>
            <a:endParaRPr lang="en-US" sz="1600" dirty="0"/>
          </a:p>
        </p:txBody>
      </p:sp>
      <p:sp>
        <p:nvSpPr>
          <p:cNvPr id="5" name="Text 2"/>
          <p:cNvSpPr txBox="1"/>
          <p:nvPr/>
        </p:nvSpPr>
        <p:spPr>
          <a:xfrm>
            <a:off x="548640" y="960120"/>
            <a:ext cx="5760720" cy="274320"/>
          </a:xfrm>
          <a:prstGeom prst="rect">
            <a:avLst/>
          </a:prstGeom>
          <a:noFill/>
          <a:ln/>
        </p:spPr>
        <p:txBody>
          <a:bodyPr wrap="square" lIns="0" tIns="0" rIns="0" bIns="0" rtlCol="0" anchor="t"/>
          <a:lstStyle/>
          <a:p>
            <a:pPr indent="0" marL="0">
              <a:buNone/>
            </a:pPr>
            <a:r>
              <a:rPr lang="en-US" sz="1200" b="1" spc="300" kern="0" dirty="0">
                <a:solidFill>
                  <a:schemeClr val="accent2"/>
                </a:solidFill>
              </a:rPr>
              <a:t>REVIEW 1  |  WEEK 7</a:t>
            </a:r>
            <a:endParaRPr lang="en-US" sz="1200" dirty="0"/>
          </a:p>
        </p:txBody>
      </p:sp>
      <p:sp>
        <p:nvSpPr>
          <p:cNvPr id="6" name="Text 3"/>
          <p:cNvSpPr txBox="1"/>
          <p:nvPr/>
        </p:nvSpPr>
        <p:spPr>
          <a:xfrm>
            <a:off x="548640" y="4343400"/>
            <a:ext cx="5943600" cy="274320"/>
          </a:xfrm>
          <a:prstGeom prst="rect">
            <a:avLst/>
          </a:prstGeom>
          <a:noFill/>
          <a:ln/>
        </p:spPr>
        <p:txBody>
          <a:bodyPr wrap="square" lIns="0" tIns="0" rIns="0" bIns="0" rtlCol="0" anchor="t"/>
          <a:lstStyle/>
          <a:p>
            <a:pPr indent="0" marL="0">
              <a:buNone/>
            </a:pPr>
            <a:r>
              <a:rPr lang="en-US" sz="1400" dirty="0">
                <a:solidFill>
                  <a:schemeClr val="bg2"/>
                </a:solidFill>
              </a:rPr>
              <a:t>Varun  |  B.Tech CSE (AI &amp; ML)  |  Database Management Systems</a:t>
            </a:r>
            <a:endParaRPr lang="en-US" sz="1400" dirty="0"/>
          </a:p>
        </p:txBody>
      </p:sp>
      <p:sp>
        <p:nvSpPr>
          <p:cNvPr id="7" name="Motif ring"/>
          <p:cNvSpPr/>
          <p:nvPr/>
        </p:nvSpPr>
        <p:spPr>
          <a:xfrm>
            <a:off x="6355080" y="1097280"/>
            <a:ext cx="2651760" cy="2651760"/>
          </a:xfrm>
          <a:prstGeom prst="ellipse">
            <a:avLst/>
          </a:prstGeom>
          <a:ln w="19050">
            <a:solidFill>
              <a:schemeClr val="accent1"/>
            </a:solidFill>
            <a:prstDash val="solid"/>
          </a:ln>
        </p:spPr>
      </p:sp>
      <p:sp>
        <p:nvSpPr>
          <p:cNvPr id="8" name="Database badge"/>
          <p:cNvSpPr/>
          <p:nvPr/>
        </p:nvSpPr>
        <p:spPr>
          <a:xfrm>
            <a:off x="6675120" y="1417320"/>
            <a:ext cx="2011680" cy="2011680"/>
          </a:xfrm>
          <a:prstGeom prst="ellipse">
            <a:avLst/>
          </a:prstGeom>
          <a:solidFill>
            <a:schemeClr val="accent1"/>
          </a:solidFill>
          <a:ln/>
        </p:spPr>
      </p:sp>
      <p:pic>
        <p:nvPicPr>
          <p:cNvPr id="9" name="Image 0" descr="Database icon">    </p:cNvPr>
          <p:cNvPicPr>
            <a:picLocks noChangeAspect="1"/>
          </p:cNvPicPr>
          <p:nvPr/>
        </p:nvPicPr>
        <p:blipFill>
          <a:blip r:embed="rId1"/>
          <a:stretch>
            <a:fillRect/>
          </a:stretch>
        </p:blipFill>
        <p:spPr>
          <a:xfrm>
            <a:off x="7198157" y="1940357"/>
            <a:ext cx="965606" cy="965606"/>
          </a:xfrm>
          <a:prstGeom prst="rect">
            <a:avLst/>
          </a:prstGeom>
        </p:spPr>
      </p:pic>
      <p:sp>
        <p:nvSpPr>
          <p:cNvPr id="10" name="Motif dot"/>
          <p:cNvSpPr/>
          <p:nvPr/>
        </p:nvSpPr>
        <p:spPr>
          <a:xfrm>
            <a:off x="8183880" y="960120"/>
            <a:ext cx="457200" cy="457200"/>
          </a:xfrm>
          <a:prstGeom prst="ellipse">
            <a:avLst/>
          </a:prstGeom>
          <a:solidFill>
            <a:schemeClr val="accent2"/>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The Problem: Scattered Records</a:t>
            </a:r>
            <a:endParaRPr lang="en-US" sz="3200" dirty="0"/>
          </a:p>
        </p:txBody>
      </p:sp>
      <p:sp>
        <p:nvSpPr>
          <p:cNvPr id="4" name="Today panel"/>
          <p:cNvSpPr/>
          <p:nvPr/>
        </p:nvSpPr>
        <p:spPr>
          <a:xfrm>
            <a:off x="457200" y="1188720"/>
            <a:ext cx="3840480" cy="2377440"/>
          </a:xfrm>
          <a:prstGeom prst="roundRect">
            <a:avLst>
              <a:gd name="adj" fmla="val 3077"/>
            </a:avLst>
          </a:prstGeom>
          <a:solidFill>
            <a:schemeClr val="bg2"/>
          </a:solidFill>
          <a:ln/>
        </p:spPr>
      </p:sp>
      <p:sp>
        <p:nvSpPr>
          <p:cNvPr id="5" name="Text 2"/>
          <p:cNvSpPr txBox="1"/>
          <p:nvPr/>
        </p:nvSpPr>
        <p:spPr>
          <a:xfrm>
            <a:off x="640080" y="1298448"/>
            <a:ext cx="3474720" cy="274320"/>
          </a:xfrm>
          <a:prstGeom prst="rect">
            <a:avLst/>
          </a:prstGeom>
          <a:noFill/>
          <a:ln/>
        </p:spPr>
        <p:txBody>
          <a:bodyPr wrap="square" lIns="0" tIns="0" rIns="0" bIns="0" rtlCol="0" anchor="t"/>
          <a:lstStyle/>
          <a:p>
            <a:pPr indent="0" marL="0">
              <a:buNone/>
            </a:pPr>
            <a:r>
              <a:rPr lang="en-US" sz="1600" b="1" dirty="0">
                <a:solidFill>
                  <a:schemeClr val="accent5"/>
                </a:solidFill>
              </a:rPr>
              <a:t>Today: separate files</a:t>
            </a:r>
            <a:endParaRPr lang="en-US" sz="1600" dirty="0"/>
          </a:p>
        </p:txBody>
      </p:sp>
      <p:sp>
        <p:nvSpPr>
          <p:cNvPr id="6" name="File chip"/>
          <p:cNvSpPr/>
          <p:nvPr/>
        </p:nvSpPr>
        <p:spPr>
          <a:xfrm>
            <a:off x="685800" y="1783080"/>
            <a:ext cx="1600200" cy="365760"/>
          </a:xfrm>
          <a:prstGeom prst="roundRect">
            <a:avLst>
              <a:gd name="adj" fmla="val 15000"/>
            </a:avLst>
          </a:prstGeom>
          <a:solidFill>
            <a:schemeClr val="bg1"/>
          </a:solidFill>
          <a:ln w="12700">
            <a:solidFill>
              <a:schemeClr val="accent6"/>
            </a:solidFill>
            <a:prstDash val="solid"/>
          </a:ln>
        </p:spPr>
      </p:sp>
      <p:sp>
        <p:nvSpPr>
          <p:cNvPr id="7" name="Text 4"/>
          <p:cNvSpPr txBox="1"/>
          <p:nvPr/>
        </p:nvSpPr>
        <p:spPr>
          <a:xfrm>
            <a:off x="685800" y="1783080"/>
            <a:ext cx="1600200" cy="365760"/>
          </a:xfrm>
          <a:prstGeom prst="rect">
            <a:avLst/>
          </a:prstGeom>
          <a:noFill/>
          <a:ln/>
        </p:spPr>
        <p:txBody>
          <a:bodyPr wrap="square" lIns="0" tIns="0" rIns="0" bIns="0" rtlCol="0" anchor="ctr"/>
          <a:lstStyle/>
          <a:p>
            <a:pPr algn="ctr" indent="0" marL="0">
              <a:buNone/>
            </a:pPr>
            <a:r>
              <a:rPr lang="en-US" sz="1200" dirty="0">
                <a:solidFill>
                  <a:schemeClr val="tx1"/>
                </a:solidFill>
              </a:rPr>
              <a:t>Projects.xlsx</a:t>
            </a:r>
            <a:endParaRPr lang="en-US" sz="1200" dirty="0"/>
          </a:p>
        </p:txBody>
      </p:sp>
      <p:sp>
        <p:nvSpPr>
          <p:cNvPr id="8" name="File chip"/>
          <p:cNvSpPr/>
          <p:nvPr/>
        </p:nvSpPr>
        <p:spPr>
          <a:xfrm>
            <a:off x="2514600" y="2057400"/>
            <a:ext cx="1600200" cy="365760"/>
          </a:xfrm>
          <a:prstGeom prst="roundRect">
            <a:avLst>
              <a:gd name="adj" fmla="val 15000"/>
            </a:avLst>
          </a:prstGeom>
          <a:solidFill>
            <a:schemeClr val="bg1"/>
          </a:solidFill>
          <a:ln w="12700">
            <a:solidFill>
              <a:schemeClr val="accent6"/>
            </a:solidFill>
            <a:prstDash val="solid"/>
          </a:ln>
        </p:spPr>
      </p:sp>
      <p:sp>
        <p:nvSpPr>
          <p:cNvPr id="9" name="Text 6"/>
          <p:cNvSpPr txBox="1"/>
          <p:nvPr/>
        </p:nvSpPr>
        <p:spPr>
          <a:xfrm>
            <a:off x="2514600" y="2057400"/>
            <a:ext cx="1600200" cy="365760"/>
          </a:xfrm>
          <a:prstGeom prst="rect">
            <a:avLst/>
          </a:prstGeom>
          <a:noFill/>
          <a:ln/>
        </p:spPr>
        <p:txBody>
          <a:bodyPr wrap="square" lIns="0" tIns="0" rIns="0" bIns="0" rtlCol="0" anchor="ctr"/>
          <a:lstStyle/>
          <a:p>
            <a:pPr algn="ctr" indent="0" marL="0">
              <a:buNone/>
            </a:pPr>
            <a:r>
              <a:rPr lang="en-US" sz="1200" dirty="0">
                <a:solidFill>
                  <a:schemeClr val="tx1"/>
                </a:solidFill>
              </a:rPr>
              <a:t>Grants.xlsx</a:t>
            </a:r>
            <a:endParaRPr lang="en-US" sz="1200" dirty="0"/>
          </a:p>
        </p:txBody>
      </p:sp>
      <p:sp>
        <p:nvSpPr>
          <p:cNvPr id="10" name="File chip"/>
          <p:cNvSpPr/>
          <p:nvPr/>
        </p:nvSpPr>
        <p:spPr>
          <a:xfrm>
            <a:off x="685800" y="2331720"/>
            <a:ext cx="1600200" cy="365760"/>
          </a:xfrm>
          <a:prstGeom prst="roundRect">
            <a:avLst>
              <a:gd name="adj" fmla="val 15000"/>
            </a:avLst>
          </a:prstGeom>
          <a:solidFill>
            <a:schemeClr val="bg1"/>
          </a:solidFill>
          <a:ln w="12700">
            <a:solidFill>
              <a:schemeClr val="accent6"/>
            </a:solidFill>
            <a:prstDash val="solid"/>
          </a:ln>
        </p:spPr>
      </p:sp>
      <p:sp>
        <p:nvSpPr>
          <p:cNvPr id="11" name="Text 8"/>
          <p:cNvSpPr txBox="1"/>
          <p:nvPr/>
        </p:nvSpPr>
        <p:spPr>
          <a:xfrm>
            <a:off x="685800" y="2331720"/>
            <a:ext cx="1600200" cy="365760"/>
          </a:xfrm>
          <a:prstGeom prst="rect">
            <a:avLst/>
          </a:prstGeom>
          <a:noFill/>
          <a:ln/>
        </p:spPr>
        <p:txBody>
          <a:bodyPr wrap="square" lIns="0" tIns="0" rIns="0" bIns="0" rtlCol="0" anchor="ctr"/>
          <a:lstStyle/>
          <a:p>
            <a:pPr algn="ctr" indent="0" marL="0">
              <a:buNone/>
            </a:pPr>
            <a:r>
              <a:rPr lang="en-US" sz="1200" dirty="0">
                <a:solidFill>
                  <a:schemeClr val="tx1"/>
                </a:solidFill>
              </a:rPr>
              <a:t>Expenditure.xlsx</a:t>
            </a:r>
            <a:endParaRPr lang="en-US" sz="1200" dirty="0"/>
          </a:p>
        </p:txBody>
      </p:sp>
      <p:sp>
        <p:nvSpPr>
          <p:cNvPr id="12" name="File chip"/>
          <p:cNvSpPr/>
          <p:nvPr/>
        </p:nvSpPr>
        <p:spPr>
          <a:xfrm>
            <a:off x="2514600" y="2606040"/>
            <a:ext cx="1600200" cy="365760"/>
          </a:xfrm>
          <a:prstGeom prst="roundRect">
            <a:avLst>
              <a:gd name="adj" fmla="val 15000"/>
            </a:avLst>
          </a:prstGeom>
          <a:solidFill>
            <a:schemeClr val="bg1"/>
          </a:solidFill>
          <a:ln w="12700">
            <a:solidFill>
              <a:schemeClr val="accent6"/>
            </a:solidFill>
            <a:prstDash val="solid"/>
          </a:ln>
        </p:spPr>
      </p:sp>
      <p:sp>
        <p:nvSpPr>
          <p:cNvPr id="13" name="Text 10"/>
          <p:cNvSpPr txBox="1"/>
          <p:nvPr/>
        </p:nvSpPr>
        <p:spPr>
          <a:xfrm>
            <a:off x="2514600" y="2606040"/>
            <a:ext cx="1600200" cy="365760"/>
          </a:xfrm>
          <a:prstGeom prst="rect">
            <a:avLst/>
          </a:prstGeom>
          <a:noFill/>
          <a:ln/>
        </p:spPr>
        <p:txBody>
          <a:bodyPr wrap="square" lIns="0" tIns="0" rIns="0" bIns="0" rtlCol="0" anchor="ctr"/>
          <a:lstStyle/>
          <a:p>
            <a:pPr algn="ctr" indent="0" marL="0">
              <a:buNone/>
            </a:pPr>
            <a:r>
              <a:rPr lang="en-US" sz="1200" dirty="0">
                <a:solidFill>
                  <a:schemeClr val="tx1"/>
                </a:solidFill>
              </a:rPr>
              <a:t>Publications.docx</a:t>
            </a:r>
            <a:endParaRPr lang="en-US" sz="1200" dirty="0"/>
          </a:p>
        </p:txBody>
      </p:sp>
      <p:sp>
        <p:nvSpPr>
          <p:cNvPr id="14" name="File chip"/>
          <p:cNvSpPr/>
          <p:nvPr/>
        </p:nvSpPr>
        <p:spPr>
          <a:xfrm>
            <a:off x="685800" y="2880360"/>
            <a:ext cx="1600200" cy="365760"/>
          </a:xfrm>
          <a:prstGeom prst="roundRect">
            <a:avLst>
              <a:gd name="adj" fmla="val 15000"/>
            </a:avLst>
          </a:prstGeom>
          <a:solidFill>
            <a:schemeClr val="bg1"/>
          </a:solidFill>
          <a:ln w="12700">
            <a:solidFill>
              <a:schemeClr val="accent6"/>
            </a:solidFill>
            <a:prstDash val="solid"/>
          </a:ln>
        </p:spPr>
      </p:sp>
      <p:sp>
        <p:nvSpPr>
          <p:cNvPr id="15" name="Text 12"/>
          <p:cNvSpPr txBox="1"/>
          <p:nvPr/>
        </p:nvSpPr>
        <p:spPr>
          <a:xfrm>
            <a:off x="685800" y="2880360"/>
            <a:ext cx="1600200" cy="365760"/>
          </a:xfrm>
          <a:prstGeom prst="rect">
            <a:avLst/>
          </a:prstGeom>
          <a:noFill/>
          <a:ln/>
        </p:spPr>
        <p:txBody>
          <a:bodyPr wrap="square" lIns="0" tIns="0" rIns="0" bIns="0" rtlCol="0" anchor="ctr"/>
          <a:lstStyle/>
          <a:p>
            <a:pPr algn="ctr" indent="0" marL="0">
              <a:buNone/>
            </a:pPr>
            <a:r>
              <a:rPr lang="en-US" sz="1200" dirty="0">
                <a:solidFill>
                  <a:schemeClr val="tx1"/>
                </a:solidFill>
              </a:rPr>
              <a:t>Patents.xlsx</a:t>
            </a:r>
            <a:endParaRPr lang="en-US" sz="1200" dirty="0"/>
          </a:p>
        </p:txBody>
      </p:sp>
      <p:sp>
        <p:nvSpPr>
          <p:cNvPr id="16" name="Arrow"/>
          <p:cNvSpPr/>
          <p:nvPr/>
        </p:nvSpPr>
        <p:spPr>
          <a:xfrm>
            <a:off x="4389120" y="2148840"/>
            <a:ext cx="502920" cy="411480"/>
          </a:xfrm>
          <a:prstGeom prst="rightArrow">
            <a:avLst/>
          </a:prstGeom>
          <a:solidFill>
            <a:schemeClr val="accent2"/>
          </a:solidFill>
          <a:ln/>
        </p:spPr>
      </p:sp>
      <p:sp>
        <p:nvSpPr>
          <p:cNvPr id="17" name="Proposed panel"/>
          <p:cNvSpPr/>
          <p:nvPr/>
        </p:nvSpPr>
        <p:spPr>
          <a:xfrm>
            <a:off x="4983480" y="1188720"/>
            <a:ext cx="3703320" cy="2377440"/>
          </a:xfrm>
          <a:prstGeom prst="roundRect">
            <a:avLst>
              <a:gd name="adj" fmla="val 3077"/>
            </a:avLst>
          </a:prstGeom>
          <a:solidFill>
            <a:schemeClr val="accent1"/>
          </a:solidFill>
          <a:ln/>
        </p:spPr>
      </p:sp>
      <p:sp>
        <p:nvSpPr>
          <p:cNvPr id="18" name="Database badge"/>
          <p:cNvSpPr/>
          <p:nvPr/>
        </p:nvSpPr>
        <p:spPr>
          <a:xfrm>
            <a:off x="6355080" y="1417320"/>
            <a:ext cx="960120" cy="960120"/>
          </a:xfrm>
          <a:prstGeom prst="ellipse">
            <a:avLst/>
          </a:prstGeom>
          <a:solidFill>
            <a:schemeClr val="tx1"/>
          </a:solidFill>
          <a:ln/>
        </p:spPr>
      </p:sp>
      <p:pic>
        <p:nvPicPr>
          <p:cNvPr id="19" name="Image 0" descr="Database icon">    </p:cNvPr>
          <p:cNvPicPr>
            <a:picLocks noChangeAspect="1"/>
          </p:cNvPicPr>
          <p:nvPr/>
        </p:nvPicPr>
        <p:blipFill>
          <a:blip r:embed="rId1"/>
          <a:stretch>
            <a:fillRect/>
          </a:stretch>
        </p:blipFill>
        <p:spPr>
          <a:xfrm>
            <a:off x="6604711" y="1666951"/>
            <a:ext cx="460858" cy="460858"/>
          </a:xfrm>
          <a:prstGeom prst="rect">
            <a:avLst/>
          </a:prstGeom>
        </p:spPr>
      </p:pic>
      <p:sp>
        <p:nvSpPr>
          <p:cNvPr id="20" name="Text 16"/>
          <p:cNvSpPr txBox="1"/>
          <p:nvPr/>
        </p:nvSpPr>
        <p:spPr>
          <a:xfrm>
            <a:off x="5166360" y="2560320"/>
            <a:ext cx="3337560" cy="320040"/>
          </a:xfrm>
          <a:prstGeom prst="rect">
            <a:avLst/>
          </a:prstGeom>
          <a:noFill/>
          <a:ln/>
        </p:spPr>
        <p:txBody>
          <a:bodyPr wrap="square" lIns="0" tIns="0" rIns="0" bIns="0" rtlCol="0" anchor="t"/>
          <a:lstStyle/>
          <a:p>
            <a:pPr algn="ctr" indent="0" marL="0">
              <a:buNone/>
            </a:pPr>
            <a:r>
              <a:rPr lang="en-US" sz="1800" b="1" dirty="0">
                <a:solidFill>
                  <a:schemeClr val="bg1"/>
                </a:solidFill>
              </a:rPr>
              <a:t>One relational database</a:t>
            </a:r>
            <a:endParaRPr lang="en-US" sz="1800" dirty="0"/>
          </a:p>
        </p:txBody>
      </p:sp>
      <p:sp>
        <p:nvSpPr>
          <p:cNvPr id="21" name="Text 17"/>
          <p:cNvSpPr txBox="1"/>
          <p:nvPr/>
        </p:nvSpPr>
        <p:spPr>
          <a:xfrm>
            <a:off x="5166360" y="2926080"/>
            <a:ext cx="3337560" cy="274320"/>
          </a:xfrm>
          <a:prstGeom prst="rect">
            <a:avLst/>
          </a:prstGeom>
          <a:noFill/>
          <a:ln/>
        </p:spPr>
        <p:txBody>
          <a:bodyPr wrap="square" lIns="0" tIns="0" rIns="0" bIns="0" rtlCol="0" anchor="t"/>
          <a:lstStyle/>
          <a:p>
            <a:pPr algn="ctr" indent="0" marL="0">
              <a:buNone/>
            </a:pPr>
            <a:r>
              <a:rPr lang="en-US" sz="1400" dirty="0">
                <a:solidFill>
                  <a:schemeClr val="bg1"/>
                </a:solidFill>
              </a:rPr>
              <a:t>Linked by keys, guarded by rules</a:t>
            </a:r>
            <a:endParaRPr lang="en-US" sz="1400" dirty="0"/>
          </a:p>
        </p:txBody>
      </p:sp>
      <p:sp>
        <p:nvSpPr>
          <p:cNvPr id="22" name="Pain icon"/>
          <p:cNvSpPr/>
          <p:nvPr/>
        </p:nvSpPr>
        <p:spPr>
          <a:xfrm>
            <a:off x="457200" y="3840480"/>
            <a:ext cx="457200" cy="457200"/>
          </a:xfrm>
          <a:prstGeom prst="ellipse">
            <a:avLst/>
          </a:prstGeom>
          <a:solidFill>
            <a:schemeClr val="accent3"/>
          </a:solidFill>
          <a:ln/>
        </p:spPr>
      </p:sp>
      <p:pic>
        <p:nvPicPr>
          <p:cNvPr id="23" name="Image 1" descr="ChartBar icon">    </p:cNvPr>
          <p:cNvPicPr>
            <a:picLocks noChangeAspect="1"/>
          </p:cNvPicPr>
          <p:nvPr/>
        </p:nvPicPr>
        <p:blipFill>
          <a:blip r:embed="rId2"/>
          <a:stretch>
            <a:fillRect/>
          </a:stretch>
        </p:blipFill>
        <p:spPr>
          <a:xfrm>
            <a:off x="576072" y="3959352"/>
            <a:ext cx="219456" cy="219456"/>
          </a:xfrm>
          <a:prstGeom prst="rect">
            <a:avLst/>
          </a:prstGeom>
        </p:spPr>
      </p:pic>
      <p:sp>
        <p:nvSpPr>
          <p:cNvPr id="24" name="Text 19"/>
          <p:cNvSpPr txBox="1"/>
          <p:nvPr/>
        </p:nvSpPr>
        <p:spPr>
          <a:xfrm>
            <a:off x="1024128" y="3840480"/>
            <a:ext cx="2103120" cy="457200"/>
          </a:xfrm>
          <a:prstGeom prst="rect">
            <a:avLst/>
          </a:prstGeom>
          <a:noFill/>
          <a:ln/>
        </p:spPr>
        <p:txBody>
          <a:bodyPr wrap="square" lIns="0" tIns="0" rIns="0" bIns="0" rtlCol="0" anchor="ctr"/>
          <a:lstStyle/>
          <a:p>
            <a:pPr indent="0" marL="0">
              <a:buNone/>
            </a:pPr>
            <a:r>
              <a:rPr lang="en-US" sz="1400" b="1" dirty="0">
                <a:solidFill>
                  <a:schemeClr val="tx1"/>
                </a:solidFill>
              </a:rPr>
              <a:t>Output is hard to monitor</a:t>
            </a:r>
            <a:endParaRPr lang="en-US" sz="1400" dirty="0"/>
          </a:p>
        </p:txBody>
      </p:sp>
      <p:sp>
        <p:nvSpPr>
          <p:cNvPr id="25" name="Pain icon"/>
          <p:cNvSpPr/>
          <p:nvPr/>
        </p:nvSpPr>
        <p:spPr>
          <a:xfrm>
            <a:off x="3246120" y="3840480"/>
            <a:ext cx="457200" cy="457200"/>
          </a:xfrm>
          <a:prstGeom prst="ellipse">
            <a:avLst/>
          </a:prstGeom>
          <a:solidFill>
            <a:schemeClr val="accent3"/>
          </a:solidFill>
          <a:ln/>
        </p:spPr>
      </p:sp>
      <p:pic>
        <p:nvPicPr>
          <p:cNvPr id="26" name="Image 2" descr="Coins icon">    </p:cNvPr>
          <p:cNvPicPr>
            <a:picLocks noChangeAspect="1"/>
          </p:cNvPicPr>
          <p:nvPr/>
        </p:nvPicPr>
        <p:blipFill>
          <a:blip r:embed="rId3"/>
          <a:stretch>
            <a:fillRect/>
          </a:stretch>
        </p:blipFill>
        <p:spPr>
          <a:xfrm>
            <a:off x="3364992" y="3959352"/>
            <a:ext cx="219456" cy="219456"/>
          </a:xfrm>
          <a:prstGeom prst="rect">
            <a:avLst/>
          </a:prstGeom>
        </p:spPr>
      </p:pic>
      <p:sp>
        <p:nvSpPr>
          <p:cNvPr id="27" name="Text 21"/>
          <p:cNvSpPr txBox="1"/>
          <p:nvPr/>
        </p:nvSpPr>
        <p:spPr>
          <a:xfrm>
            <a:off x="3813048" y="3840480"/>
            <a:ext cx="2103120" cy="457200"/>
          </a:xfrm>
          <a:prstGeom prst="rect">
            <a:avLst/>
          </a:prstGeom>
          <a:noFill/>
          <a:ln/>
        </p:spPr>
        <p:txBody>
          <a:bodyPr wrap="square" lIns="0" tIns="0" rIns="0" bIns="0" rtlCol="0" anchor="ctr"/>
          <a:lstStyle/>
          <a:p>
            <a:pPr indent="0" marL="0">
              <a:buNone/>
            </a:pPr>
            <a:r>
              <a:rPr lang="en-US" sz="1400" b="1" dirty="0">
                <a:solidFill>
                  <a:schemeClr val="tx1"/>
                </a:solidFill>
              </a:rPr>
              <a:t>Fund use is invisible</a:t>
            </a:r>
            <a:endParaRPr lang="en-US" sz="1400" dirty="0"/>
          </a:p>
        </p:txBody>
      </p:sp>
      <p:sp>
        <p:nvSpPr>
          <p:cNvPr id="28" name="Pain icon"/>
          <p:cNvSpPr/>
          <p:nvPr/>
        </p:nvSpPr>
        <p:spPr>
          <a:xfrm>
            <a:off x="6035040" y="3840480"/>
            <a:ext cx="457200" cy="457200"/>
          </a:xfrm>
          <a:prstGeom prst="ellipse">
            <a:avLst/>
          </a:prstGeom>
          <a:solidFill>
            <a:schemeClr val="accent3"/>
          </a:solidFill>
          <a:ln/>
        </p:spPr>
      </p:sp>
      <p:pic>
        <p:nvPicPr>
          <p:cNvPr id="29" name="Image 3" descr="Copy icon">    </p:cNvPr>
          <p:cNvPicPr>
            <a:picLocks noChangeAspect="1"/>
          </p:cNvPicPr>
          <p:nvPr/>
        </p:nvPicPr>
        <p:blipFill>
          <a:blip r:embed="rId4"/>
          <a:stretch>
            <a:fillRect/>
          </a:stretch>
        </p:blipFill>
        <p:spPr>
          <a:xfrm>
            <a:off x="6153912" y="3959352"/>
            <a:ext cx="219456" cy="219456"/>
          </a:xfrm>
          <a:prstGeom prst="rect">
            <a:avLst/>
          </a:prstGeom>
        </p:spPr>
      </p:pic>
      <p:sp>
        <p:nvSpPr>
          <p:cNvPr id="30" name="Text 23"/>
          <p:cNvSpPr txBox="1"/>
          <p:nvPr/>
        </p:nvSpPr>
        <p:spPr>
          <a:xfrm>
            <a:off x="6601968" y="3840480"/>
            <a:ext cx="2103120" cy="457200"/>
          </a:xfrm>
          <a:prstGeom prst="rect">
            <a:avLst/>
          </a:prstGeom>
          <a:noFill/>
          <a:ln/>
        </p:spPr>
        <p:txBody>
          <a:bodyPr wrap="square" lIns="0" tIns="0" rIns="0" bIns="0" rtlCol="0" anchor="ctr"/>
          <a:lstStyle/>
          <a:p>
            <a:pPr indent="0" marL="0">
              <a:buNone/>
            </a:pPr>
            <a:r>
              <a:rPr lang="en-US" sz="1400" b="1" dirty="0">
                <a:solidFill>
                  <a:schemeClr val="tx1"/>
                </a:solidFill>
              </a:rPr>
              <a:t>Duplicate, inconsistent data</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Project Scope</a:t>
            </a:r>
            <a:endParaRPr lang="en-US" sz="3200" dirty="0"/>
          </a:p>
        </p:txBody>
      </p:sp>
      <p:sp>
        <p:nvSpPr>
          <p:cNvPr id="4" name="In scope card"/>
          <p:cNvSpPr/>
          <p:nvPr/>
        </p:nvSpPr>
        <p:spPr>
          <a:xfrm>
            <a:off x="457200" y="1188720"/>
            <a:ext cx="4023360" cy="2926080"/>
          </a:xfrm>
          <a:prstGeom prst="roundRect">
            <a:avLst>
              <a:gd name="adj" fmla="val 2500"/>
            </a:avLst>
          </a:prstGeom>
          <a:solidFill>
            <a:schemeClr val="bg2"/>
          </a:solidFill>
          <a:ln/>
        </p:spPr>
      </p:sp>
      <p:sp>
        <p:nvSpPr>
          <p:cNvPr id="5" name="In scope icon"/>
          <p:cNvSpPr/>
          <p:nvPr/>
        </p:nvSpPr>
        <p:spPr>
          <a:xfrm>
            <a:off x="640080" y="1325880"/>
            <a:ext cx="457200" cy="457200"/>
          </a:xfrm>
          <a:prstGeom prst="ellipse">
            <a:avLst/>
          </a:prstGeom>
          <a:solidFill>
            <a:schemeClr val="accent4"/>
          </a:solidFill>
          <a:ln/>
        </p:spPr>
      </p:sp>
      <p:pic>
        <p:nvPicPr>
          <p:cNvPr id="6" name="Image 0" descr="CheckCircle icon">    </p:cNvPr>
          <p:cNvPicPr>
            <a:picLocks noChangeAspect="1"/>
          </p:cNvPicPr>
          <p:nvPr/>
        </p:nvPicPr>
        <p:blipFill>
          <a:blip r:embed="rId1"/>
          <a:stretch>
            <a:fillRect/>
          </a:stretch>
        </p:blipFill>
        <p:spPr>
          <a:xfrm>
            <a:off x="758952" y="1444752"/>
            <a:ext cx="219456" cy="219456"/>
          </a:xfrm>
          <a:prstGeom prst="rect">
            <a:avLst/>
          </a:prstGeom>
        </p:spPr>
      </p:pic>
      <p:sp>
        <p:nvSpPr>
          <p:cNvPr id="7" name="Text 3"/>
          <p:cNvSpPr txBox="1"/>
          <p:nvPr/>
        </p:nvSpPr>
        <p:spPr>
          <a:xfrm>
            <a:off x="1207008" y="1325880"/>
            <a:ext cx="3108960" cy="457200"/>
          </a:xfrm>
          <a:prstGeom prst="rect">
            <a:avLst/>
          </a:prstGeom>
          <a:noFill/>
          <a:ln/>
        </p:spPr>
        <p:txBody>
          <a:bodyPr wrap="square" lIns="0" tIns="0" rIns="0" bIns="0" rtlCol="0" anchor="ctr"/>
          <a:lstStyle/>
          <a:p>
            <a:pPr indent="0" marL="0">
              <a:buNone/>
            </a:pPr>
            <a:r>
              <a:rPr lang="en-US" sz="2000" b="1" dirty="0">
                <a:solidFill>
                  <a:schemeClr val="accent4"/>
                </a:solidFill>
              </a:rPr>
              <a:t>In scope</a:t>
            </a:r>
            <a:endParaRPr lang="en-US" sz="2000" dirty="0"/>
          </a:p>
        </p:txBody>
      </p:sp>
      <p:sp>
        <p:nvSpPr>
          <p:cNvPr id="8" name="Text 4"/>
          <p:cNvSpPr txBox="1"/>
          <p:nvPr/>
        </p:nvSpPr>
        <p:spPr>
          <a:xfrm>
            <a:off x="685800" y="1965960"/>
            <a:ext cx="3611880" cy="21031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Projects, investigators and departments</a:t>
            </a:r>
            <a:endParaRPr lang="en-US" sz="1600" dirty="0"/>
          </a:p>
          <a:p>
            <a:pPr marL="342900" indent="-342900">
              <a:spcAft>
                <a:spcPts val="600"/>
              </a:spcAft>
              <a:buSzPct val="100000"/>
              <a:buChar char="•"/>
            </a:pPr>
            <a:r>
              <a:rPr lang="en-US" sz="1600" dirty="0">
                <a:solidFill>
                  <a:schemeClr val="tx1"/>
                </a:solidFill>
              </a:rPr>
              <a:t>Grants, budgets and expenditure</a:t>
            </a:r>
            <a:endParaRPr lang="en-US" sz="1600" dirty="0"/>
          </a:p>
          <a:p>
            <a:pPr marL="342900" indent="-342900">
              <a:spcAft>
                <a:spcPts val="600"/>
              </a:spcAft>
              <a:buSzPct val="100000"/>
              <a:buChar char="•"/>
            </a:pPr>
            <a:r>
              <a:rPr lang="en-US" sz="1600" dirty="0">
                <a:solidFill>
                  <a:schemeClr val="tx1"/>
                </a:solidFill>
              </a:rPr>
              <a:t>Milestones, publications, patents, reports</a:t>
            </a:r>
            <a:endParaRPr lang="en-US" sz="1600" dirty="0"/>
          </a:p>
          <a:p>
            <a:pPr marL="342900" indent="-342900">
              <a:spcAft>
                <a:spcPts val="600"/>
              </a:spcAft>
              <a:buSzPct val="100000"/>
              <a:buChar char="•"/>
            </a:pPr>
            <a:r>
              <a:rPr lang="en-US" sz="1600" dirty="0">
                <a:solidFill>
                  <a:schemeClr val="tx1"/>
                </a:solidFill>
              </a:rPr>
              <a:t>Rules enforced inside the database</a:t>
            </a:r>
            <a:endParaRPr lang="en-US" sz="1600" dirty="0"/>
          </a:p>
          <a:p>
            <a:pPr marL="342900" indent="-342900">
              <a:spcAft>
                <a:spcPts val="600"/>
              </a:spcAft>
              <a:buSzPct val="100000"/>
              <a:buChar char="•"/>
            </a:pPr>
            <a:r>
              <a:rPr lang="en-US" sz="1600" dirty="0">
                <a:solidFill>
                  <a:schemeClr val="tx1"/>
                </a:solidFill>
              </a:rPr>
              <a:t>Python front-end for entry and reports</a:t>
            </a:r>
            <a:endParaRPr lang="en-US" sz="1600" dirty="0"/>
          </a:p>
        </p:txBody>
      </p:sp>
      <p:sp>
        <p:nvSpPr>
          <p:cNvPr id="9" name="Out of scope card"/>
          <p:cNvSpPr/>
          <p:nvPr/>
        </p:nvSpPr>
        <p:spPr>
          <a:xfrm>
            <a:off x="4663440" y="1188720"/>
            <a:ext cx="4023360" cy="2926080"/>
          </a:xfrm>
          <a:prstGeom prst="roundRect">
            <a:avLst>
              <a:gd name="adj" fmla="val 2500"/>
            </a:avLst>
          </a:prstGeom>
          <a:solidFill>
            <a:schemeClr val="bg2"/>
          </a:solidFill>
          <a:ln/>
        </p:spPr>
      </p:sp>
      <p:sp>
        <p:nvSpPr>
          <p:cNvPr id="10" name="Out of scope icon"/>
          <p:cNvSpPr/>
          <p:nvPr/>
        </p:nvSpPr>
        <p:spPr>
          <a:xfrm>
            <a:off x="4846320" y="1325880"/>
            <a:ext cx="457200" cy="457200"/>
          </a:xfrm>
          <a:prstGeom prst="ellipse">
            <a:avLst/>
          </a:prstGeom>
          <a:solidFill>
            <a:schemeClr val="accent6"/>
          </a:solidFill>
          <a:ln/>
        </p:spPr>
      </p:sp>
      <p:pic>
        <p:nvPicPr>
          <p:cNvPr id="11" name="Image 1" descr="TimesCircle icon">    </p:cNvPr>
          <p:cNvPicPr>
            <a:picLocks noChangeAspect="1"/>
          </p:cNvPicPr>
          <p:nvPr/>
        </p:nvPicPr>
        <p:blipFill>
          <a:blip r:embed="rId2"/>
          <a:stretch>
            <a:fillRect/>
          </a:stretch>
        </p:blipFill>
        <p:spPr>
          <a:xfrm>
            <a:off x="4965192" y="1444752"/>
            <a:ext cx="219456" cy="219456"/>
          </a:xfrm>
          <a:prstGeom prst="rect">
            <a:avLst/>
          </a:prstGeom>
        </p:spPr>
      </p:pic>
      <p:sp>
        <p:nvSpPr>
          <p:cNvPr id="12" name="Text 7"/>
          <p:cNvSpPr txBox="1"/>
          <p:nvPr/>
        </p:nvSpPr>
        <p:spPr>
          <a:xfrm>
            <a:off x="5413248" y="1325880"/>
            <a:ext cx="3108960" cy="457200"/>
          </a:xfrm>
          <a:prstGeom prst="rect">
            <a:avLst/>
          </a:prstGeom>
          <a:noFill/>
          <a:ln/>
        </p:spPr>
        <p:txBody>
          <a:bodyPr wrap="square" lIns="0" tIns="0" rIns="0" bIns="0" rtlCol="0" anchor="ctr"/>
          <a:lstStyle/>
          <a:p>
            <a:pPr indent="0" marL="0">
              <a:buNone/>
            </a:pPr>
            <a:r>
              <a:rPr lang="en-US" sz="2000" b="1" dirty="0">
                <a:solidFill>
                  <a:schemeClr val="accent6"/>
                </a:solidFill>
              </a:rPr>
              <a:t>Out of scope</a:t>
            </a:r>
            <a:endParaRPr lang="en-US" sz="2000" dirty="0"/>
          </a:p>
        </p:txBody>
      </p:sp>
      <p:sp>
        <p:nvSpPr>
          <p:cNvPr id="13" name="Text 8"/>
          <p:cNvSpPr txBox="1"/>
          <p:nvPr/>
        </p:nvSpPr>
        <p:spPr>
          <a:xfrm>
            <a:off x="4892040" y="1965960"/>
            <a:ext cx="3611880" cy="21031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Payroll or full accounting integration</a:t>
            </a:r>
            <a:endParaRPr lang="en-US" sz="1600" dirty="0"/>
          </a:p>
          <a:p>
            <a:pPr marL="342900" indent="-342900">
              <a:spcAft>
                <a:spcPts val="600"/>
              </a:spcAft>
              <a:buSzPct val="100000"/>
              <a:buChar char="•"/>
            </a:pPr>
            <a:r>
              <a:rPr lang="en-US" sz="1600" dirty="0">
                <a:solidFill>
                  <a:schemeClr val="tx1"/>
                </a:solidFill>
              </a:rPr>
              <a:t>Online grant application workflow</a:t>
            </a:r>
            <a:endParaRPr lang="en-US" sz="1600" dirty="0"/>
          </a:p>
          <a:p>
            <a:pPr marL="342900" indent="-342900">
              <a:spcAft>
                <a:spcPts val="600"/>
              </a:spcAft>
              <a:buSzPct val="100000"/>
              <a:buChar char="•"/>
            </a:pPr>
            <a:r>
              <a:rPr lang="en-US" sz="1600" dirty="0">
                <a:solidFill>
                  <a:schemeClr val="tx1"/>
                </a:solidFill>
              </a:rPr>
              <a:t>Cloud deployment and mobile app</a:t>
            </a:r>
            <a:endParaRPr lang="en-US" sz="1600" dirty="0"/>
          </a:p>
          <a:p>
            <a:pPr marL="342900" indent="-342900">
              <a:spcAft>
                <a:spcPts val="600"/>
              </a:spcAft>
              <a:buSzPct val="100000"/>
              <a:buChar char="•"/>
            </a:pPr>
            <a:r>
              <a:rPr lang="en-US" sz="1600" dirty="0">
                <a:solidFill>
                  <a:schemeClr val="tx1"/>
                </a:solidFill>
              </a:rPr>
              <a:t>Plagiarism or peer-review checks</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Objectives</a:t>
            </a:r>
            <a:endParaRPr lang="en-US" sz="3200" dirty="0"/>
          </a:p>
        </p:txBody>
      </p:sp>
      <p:sp>
        <p:nvSpPr>
          <p:cNvPr id="4" name="Number badge"/>
          <p:cNvSpPr/>
          <p:nvPr/>
        </p:nvSpPr>
        <p:spPr>
          <a:xfrm>
            <a:off x="457200" y="1188720"/>
            <a:ext cx="475488" cy="475488"/>
          </a:xfrm>
          <a:prstGeom prst="ellipse">
            <a:avLst/>
          </a:prstGeom>
          <a:solidFill>
            <a:schemeClr val="accent1"/>
          </a:solidFill>
          <a:ln/>
        </p:spPr>
      </p:sp>
      <p:sp>
        <p:nvSpPr>
          <p:cNvPr id="5" name="Text 2"/>
          <p:cNvSpPr txBox="1"/>
          <p:nvPr/>
        </p:nvSpPr>
        <p:spPr>
          <a:xfrm>
            <a:off x="457200" y="1188720"/>
            <a:ext cx="475488" cy="475488"/>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Objective bar"/>
          <p:cNvSpPr/>
          <p:nvPr/>
        </p:nvSpPr>
        <p:spPr>
          <a:xfrm>
            <a:off x="1097280" y="1170432"/>
            <a:ext cx="7589520" cy="512064"/>
          </a:xfrm>
          <a:prstGeom prst="roundRect">
            <a:avLst>
              <a:gd name="adj" fmla="val 14286"/>
            </a:avLst>
          </a:prstGeom>
          <a:solidFill>
            <a:schemeClr val="bg2"/>
          </a:solidFill>
          <a:ln/>
        </p:spPr>
      </p:sp>
      <p:sp>
        <p:nvSpPr>
          <p:cNvPr id="7" name="Text 4"/>
          <p:cNvSpPr txBox="1"/>
          <p:nvPr/>
        </p:nvSpPr>
        <p:spPr>
          <a:xfrm>
            <a:off x="1280160" y="1170432"/>
            <a:ext cx="7315200" cy="512064"/>
          </a:xfrm>
          <a:prstGeom prst="rect">
            <a:avLst/>
          </a:prstGeom>
          <a:noFill/>
          <a:ln/>
        </p:spPr>
        <p:txBody>
          <a:bodyPr wrap="square" lIns="0" tIns="0" rIns="0" bIns="0" rtlCol="0" anchor="ctr"/>
          <a:lstStyle/>
          <a:p>
            <a:pPr indent="0" marL="0">
              <a:buNone/>
            </a:pPr>
            <a:r>
              <a:rPr lang="en-US" sz="1500" dirty="0">
                <a:solidFill>
                  <a:schemeClr val="tx1"/>
                </a:solidFill>
              </a:rPr>
              <a:t>Centralize project, grant, spending and output records in one database</a:t>
            </a:r>
            <a:endParaRPr lang="en-US" sz="1500" dirty="0"/>
          </a:p>
        </p:txBody>
      </p:sp>
      <p:sp>
        <p:nvSpPr>
          <p:cNvPr id="8" name="Number badge"/>
          <p:cNvSpPr/>
          <p:nvPr/>
        </p:nvSpPr>
        <p:spPr>
          <a:xfrm>
            <a:off x="457200" y="1847088"/>
            <a:ext cx="475488" cy="475488"/>
          </a:xfrm>
          <a:prstGeom prst="ellipse">
            <a:avLst/>
          </a:prstGeom>
          <a:solidFill>
            <a:schemeClr val="accent3"/>
          </a:solidFill>
          <a:ln/>
        </p:spPr>
      </p:sp>
      <p:sp>
        <p:nvSpPr>
          <p:cNvPr id="9" name="Text 6"/>
          <p:cNvSpPr txBox="1"/>
          <p:nvPr/>
        </p:nvSpPr>
        <p:spPr>
          <a:xfrm>
            <a:off x="457200" y="1847088"/>
            <a:ext cx="475488" cy="475488"/>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Objective bar"/>
          <p:cNvSpPr/>
          <p:nvPr/>
        </p:nvSpPr>
        <p:spPr>
          <a:xfrm>
            <a:off x="1097280" y="1828800"/>
            <a:ext cx="7589520" cy="512064"/>
          </a:xfrm>
          <a:prstGeom prst="roundRect">
            <a:avLst>
              <a:gd name="adj" fmla="val 14286"/>
            </a:avLst>
          </a:prstGeom>
          <a:solidFill>
            <a:schemeClr val="bg2"/>
          </a:solidFill>
          <a:ln/>
        </p:spPr>
      </p:sp>
      <p:sp>
        <p:nvSpPr>
          <p:cNvPr id="11" name="Text 8"/>
          <p:cNvSpPr txBox="1"/>
          <p:nvPr/>
        </p:nvSpPr>
        <p:spPr>
          <a:xfrm>
            <a:off x="1280160" y="1828800"/>
            <a:ext cx="7315200" cy="512064"/>
          </a:xfrm>
          <a:prstGeom prst="rect">
            <a:avLst/>
          </a:prstGeom>
          <a:noFill/>
          <a:ln/>
        </p:spPr>
        <p:txBody>
          <a:bodyPr wrap="square" lIns="0" tIns="0" rIns="0" bIns="0" rtlCol="0" anchor="ctr"/>
          <a:lstStyle/>
          <a:p>
            <a:pPr indent="0" marL="0">
              <a:buNone/>
            </a:pPr>
            <a:r>
              <a:rPr lang="en-US" sz="1500" dirty="0">
                <a:solidFill>
                  <a:schemeClr val="tx1"/>
                </a:solidFill>
              </a:rPr>
              <a:t>Design an ER model and normalize the schema to 3NF</a:t>
            </a:r>
            <a:endParaRPr lang="en-US" sz="1500" dirty="0"/>
          </a:p>
        </p:txBody>
      </p:sp>
      <p:sp>
        <p:nvSpPr>
          <p:cNvPr id="12" name="Number badge"/>
          <p:cNvSpPr/>
          <p:nvPr/>
        </p:nvSpPr>
        <p:spPr>
          <a:xfrm>
            <a:off x="457200" y="2505456"/>
            <a:ext cx="475488" cy="475488"/>
          </a:xfrm>
          <a:prstGeom prst="ellipse">
            <a:avLst/>
          </a:prstGeom>
          <a:solidFill>
            <a:schemeClr val="accent1"/>
          </a:solidFill>
          <a:ln/>
        </p:spPr>
      </p:sp>
      <p:sp>
        <p:nvSpPr>
          <p:cNvPr id="13" name="Text 10"/>
          <p:cNvSpPr txBox="1"/>
          <p:nvPr/>
        </p:nvSpPr>
        <p:spPr>
          <a:xfrm>
            <a:off x="457200" y="2505456"/>
            <a:ext cx="475488" cy="475488"/>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4" name="Objective bar"/>
          <p:cNvSpPr/>
          <p:nvPr/>
        </p:nvSpPr>
        <p:spPr>
          <a:xfrm>
            <a:off x="1097280" y="2487168"/>
            <a:ext cx="7589520" cy="512064"/>
          </a:xfrm>
          <a:prstGeom prst="roundRect">
            <a:avLst>
              <a:gd name="adj" fmla="val 14286"/>
            </a:avLst>
          </a:prstGeom>
          <a:solidFill>
            <a:schemeClr val="bg2"/>
          </a:solidFill>
          <a:ln/>
        </p:spPr>
      </p:sp>
      <p:sp>
        <p:nvSpPr>
          <p:cNvPr id="15" name="Text 12"/>
          <p:cNvSpPr txBox="1"/>
          <p:nvPr/>
        </p:nvSpPr>
        <p:spPr>
          <a:xfrm>
            <a:off x="1280160" y="2487168"/>
            <a:ext cx="7315200" cy="512064"/>
          </a:xfrm>
          <a:prstGeom prst="rect">
            <a:avLst/>
          </a:prstGeom>
          <a:noFill/>
          <a:ln/>
        </p:spPr>
        <p:txBody>
          <a:bodyPr wrap="square" lIns="0" tIns="0" rIns="0" bIns="0" rtlCol="0" anchor="ctr"/>
          <a:lstStyle/>
          <a:p>
            <a:pPr indent="0" marL="0">
              <a:buNone/>
            </a:pPr>
            <a:r>
              <a:rPr lang="en-US" sz="1500" dirty="0">
                <a:solidFill>
                  <a:schemeClr val="tx1"/>
                </a:solidFill>
              </a:rPr>
              <a:t>Enforce business rules with keys, CHECK, UNIQUE, DEFAULT and triggers</a:t>
            </a:r>
            <a:endParaRPr lang="en-US" sz="1500" dirty="0"/>
          </a:p>
        </p:txBody>
      </p:sp>
      <p:sp>
        <p:nvSpPr>
          <p:cNvPr id="16" name="Number badge"/>
          <p:cNvSpPr/>
          <p:nvPr/>
        </p:nvSpPr>
        <p:spPr>
          <a:xfrm>
            <a:off x="457200" y="3163824"/>
            <a:ext cx="475488" cy="475488"/>
          </a:xfrm>
          <a:prstGeom prst="ellipse">
            <a:avLst/>
          </a:prstGeom>
          <a:solidFill>
            <a:schemeClr val="accent3"/>
          </a:solidFill>
          <a:ln/>
        </p:spPr>
      </p:sp>
      <p:sp>
        <p:nvSpPr>
          <p:cNvPr id="17" name="Text 14"/>
          <p:cNvSpPr txBox="1"/>
          <p:nvPr/>
        </p:nvSpPr>
        <p:spPr>
          <a:xfrm>
            <a:off x="457200" y="3163824"/>
            <a:ext cx="475488" cy="475488"/>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8" name="Objective bar"/>
          <p:cNvSpPr/>
          <p:nvPr/>
        </p:nvSpPr>
        <p:spPr>
          <a:xfrm>
            <a:off x="1097280" y="3145536"/>
            <a:ext cx="7589520" cy="512064"/>
          </a:xfrm>
          <a:prstGeom prst="roundRect">
            <a:avLst>
              <a:gd name="adj" fmla="val 14286"/>
            </a:avLst>
          </a:prstGeom>
          <a:solidFill>
            <a:schemeClr val="bg2"/>
          </a:solidFill>
          <a:ln/>
        </p:spPr>
      </p:sp>
      <p:sp>
        <p:nvSpPr>
          <p:cNvPr id="19" name="Text 16"/>
          <p:cNvSpPr txBox="1"/>
          <p:nvPr/>
        </p:nvSpPr>
        <p:spPr>
          <a:xfrm>
            <a:off x="1280160" y="3145536"/>
            <a:ext cx="7315200" cy="512064"/>
          </a:xfrm>
          <a:prstGeom prst="rect">
            <a:avLst/>
          </a:prstGeom>
          <a:noFill/>
          <a:ln/>
        </p:spPr>
        <p:txBody>
          <a:bodyPr wrap="square" lIns="0" tIns="0" rIns="0" bIns="0" rtlCol="0" anchor="ctr"/>
          <a:lstStyle/>
          <a:p>
            <a:pPr indent="0" marL="0">
              <a:buNone/>
            </a:pPr>
            <a:r>
              <a:rPr lang="en-US" sz="1500" dirty="0">
                <a:solidFill>
                  <a:schemeClr val="tx1"/>
                </a:solidFill>
              </a:rPr>
              <a:t>Produce SQL reports: progress, budget utilization, researcher output</a:t>
            </a:r>
            <a:endParaRPr lang="en-US" sz="1500" dirty="0"/>
          </a:p>
        </p:txBody>
      </p:sp>
      <p:sp>
        <p:nvSpPr>
          <p:cNvPr id="20" name="Number badge"/>
          <p:cNvSpPr/>
          <p:nvPr/>
        </p:nvSpPr>
        <p:spPr>
          <a:xfrm>
            <a:off x="457200" y="3822192"/>
            <a:ext cx="475488" cy="475488"/>
          </a:xfrm>
          <a:prstGeom prst="ellipse">
            <a:avLst/>
          </a:prstGeom>
          <a:solidFill>
            <a:schemeClr val="accent1"/>
          </a:solidFill>
          <a:ln/>
        </p:spPr>
      </p:sp>
      <p:sp>
        <p:nvSpPr>
          <p:cNvPr id="21" name="Text 18"/>
          <p:cNvSpPr txBox="1"/>
          <p:nvPr/>
        </p:nvSpPr>
        <p:spPr>
          <a:xfrm>
            <a:off x="457200" y="3822192"/>
            <a:ext cx="475488" cy="475488"/>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2" name="Objective bar"/>
          <p:cNvSpPr/>
          <p:nvPr/>
        </p:nvSpPr>
        <p:spPr>
          <a:xfrm>
            <a:off x="1097280" y="3803904"/>
            <a:ext cx="7589520" cy="512064"/>
          </a:xfrm>
          <a:prstGeom prst="roundRect">
            <a:avLst>
              <a:gd name="adj" fmla="val 14286"/>
            </a:avLst>
          </a:prstGeom>
          <a:solidFill>
            <a:schemeClr val="bg2"/>
          </a:solidFill>
          <a:ln/>
        </p:spPr>
      </p:sp>
      <p:sp>
        <p:nvSpPr>
          <p:cNvPr id="23" name="Text 20"/>
          <p:cNvSpPr txBox="1"/>
          <p:nvPr/>
        </p:nvSpPr>
        <p:spPr>
          <a:xfrm>
            <a:off x="1280160" y="3803904"/>
            <a:ext cx="7315200" cy="512064"/>
          </a:xfrm>
          <a:prstGeom prst="rect">
            <a:avLst/>
          </a:prstGeom>
          <a:noFill/>
          <a:ln/>
        </p:spPr>
        <p:txBody>
          <a:bodyPr wrap="square" lIns="0" tIns="0" rIns="0" bIns="0" rtlCol="0" anchor="ctr"/>
          <a:lstStyle/>
          <a:p>
            <a:pPr indent="0" marL="0">
              <a:buNone/>
            </a:pPr>
            <a:r>
              <a:rPr lang="en-US" sz="1500" dirty="0">
                <a:solidFill>
                  <a:schemeClr val="tx1"/>
                </a:solidFill>
              </a:rPr>
              <a:t>Build a Python front-end for entry, tracking and reporting</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Users and Roles</a:t>
            </a:r>
            <a:endParaRPr lang="en-US" sz="3200" dirty="0"/>
          </a:p>
        </p:txBody>
      </p:sp>
      <p:sp>
        <p:nvSpPr>
          <p:cNvPr id="4" name="Role card"/>
          <p:cNvSpPr/>
          <p:nvPr/>
        </p:nvSpPr>
        <p:spPr>
          <a:xfrm>
            <a:off x="457200" y="1188720"/>
            <a:ext cx="4023360" cy="1508760"/>
          </a:xfrm>
          <a:prstGeom prst="roundRect">
            <a:avLst>
              <a:gd name="adj" fmla="val 4848"/>
            </a:avLst>
          </a:prstGeom>
          <a:solidFill>
            <a:schemeClr val="bg2"/>
          </a:solidFill>
          <a:ln/>
        </p:spPr>
      </p:sp>
      <p:sp>
        <p:nvSpPr>
          <p:cNvPr id="5" name="Role icon"/>
          <p:cNvSpPr/>
          <p:nvPr/>
        </p:nvSpPr>
        <p:spPr>
          <a:xfrm>
            <a:off x="640080" y="1417320"/>
            <a:ext cx="640080" cy="640080"/>
          </a:xfrm>
          <a:prstGeom prst="ellipse">
            <a:avLst/>
          </a:prstGeom>
          <a:solidFill>
            <a:schemeClr val="accent1"/>
          </a:solidFill>
          <a:ln/>
        </p:spPr>
      </p:sp>
      <p:pic>
        <p:nvPicPr>
          <p:cNvPr id="6" name="Image 0" descr="UserTie icon">    </p:cNvPr>
          <p:cNvPicPr>
            <a:picLocks noChangeAspect="1"/>
          </p:cNvPicPr>
          <p:nvPr/>
        </p:nvPicPr>
        <p:blipFill>
          <a:blip r:embed="rId1"/>
          <a:stretch>
            <a:fillRect/>
          </a:stretch>
        </p:blipFill>
        <p:spPr>
          <a:xfrm>
            <a:off x="806501" y="1583741"/>
            <a:ext cx="307238" cy="307238"/>
          </a:xfrm>
          <a:prstGeom prst="rect">
            <a:avLst/>
          </a:prstGeom>
        </p:spPr>
      </p:pic>
      <p:sp>
        <p:nvSpPr>
          <p:cNvPr id="7" name="Text 3"/>
          <p:cNvSpPr txBox="1"/>
          <p:nvPr/>
        </p:nvSpPr>
        <p:spPr>
          <a:xfrm>
            <a:off x="1463040" y="1417320"/>
            <a:ext cx="2834640" cy="320040"/>
          </a:xfrm>
          <a:prstGeom prst="rect">
            <a:avLst/>
          </a:prstGeom>
          <a:noFill/>
          <a:ln/>
        </p:spPr>
        <p:txBody>
          <a:bodyPr wrap="square" lIns="0" tIns="0" rIns="0" bIns="0" rtlCol="0" anchor="t"/>
          <a:lstStyle/>
          <a:p>
            <a:pPr indent="0" marL="0">
              <a:buNone/>
            </a:pPr>
            <a:r>
              <a:rPr lang="en-US" sz="1700" b="1" dirty="0">
                <a:solidFill>
                  <a:schemeClr val="tx1"/>
                </a:solidFill>
              </a:rPr>
              <a:t>Research Office Admin</a:t>
            </a:r>
            <a:endParaRPr lang="en-US" sz="1700" dirty="0"/>
          </a:p>
        </p:txBody>
      </p:sp>
      <p:sp>
        <p:nvSpPr>
          <p:cNvPr id="8" name="Text 4"/>
          <p:cNvSpPr txBox="1"/>
          <p:nvPr/>
        </p:nvSpPr>
        <p:spPr>
          <a:xfrm>
            <a:off x="1463040" y="1783080"/>
            <a:ext cx="2834640" cy="777240"/>
          </a:xfrm>
          <a:prstGeom prst="rect">
            <a:avLst/>
          </a:prstGeom>
          <a:noFill/>
          <a:ln/>
        </p:spPr>
        <p:txBody>
          <a:bodyPr wrap="square" lIns="0" tIns="0" rIns="0" bIns="0" rtlCol="0" anchor="t"/>
          <a:lstStyle/>
          <a:p>
            <a:pPr indent="0" marL="0">
              <a:buNone/>
            </a:pPr>
            <a:r>
              <a:rPr lang="en-US" sz="1400" dirty="0">
                <a:solidFill>
                  <a:schemeClr val="tx1"/>
                </a:solidFill>
              </a:rPr>
              <a:t>Registers projects and agencies; runs every report</a:t>
            </a:r>
            <a:endParaRPr lang="en-US" sz="1400" dirty="0"/>
          </a:p>
        </p:txBody>
      </p:sp>
      <p:sp>
        <p:nvSpPr>
          <p:cNvPr id="9" name="Role card"/>
          <p:cNvSpPr/>
          <p:nvPr/>
        </p:nvSpPr>
        <p:spPr>
          <a:xfrm>
            <a:off x="4663440" y="1188720"/>
            <a:ext cx="4023360" cy="1508760"/>
          </a:xfrm>
          <a:prstGeom prst="roundRect">
            <a:avLst>
              <a:gd name="adj" fmla="val 4848"/>
            </a:avLst>
          </a:prstGeom>
          <a:solidFill>
            <a:schemeClr val="bg2"/>
          </a:solidFill>
          <a:ln/>
        </p:spPr>
      </p:sp>
      <p:sp>
        <p:nvSpPr>
          <p:cNvPr id="10" name="Role icon"/>
          <p:cNvSpPr/>
          <p:nvPr/>
        </p:nvSpPr>
        <p:spPr>
          <a:xfrm>
            <a:off x="4846320" y="1417320"/>
            <a:ext cx="640080" cy="640080"/>
          </a:xfrm>
          <a:prstGeom prst="ellipse">
            <a:avLst/>
          </a:prstGeom>
          <a:solidFill>
            <a:schemeClr val="accent3"/>
          </a:solidFill>
          <a:ln/>
        </p:spPr>
      </p:sp>
      <p:pic>
        <p:nvPicPr>
          <p:cNvPr id="11" name="Image 1" descr="Flask icon">    </p:cNvPr>
          <p:cNvPicPr>
            <a:picLocks noChangeAspect="1"/>
          </p:cNvPicPr>
          <p:nvPr/>
        </p:nvPicPr>
        <p:blipFill>
          <a:blip r:embed="rId2"/>
          <a:stretch>
            <a:fillRect/>
          </a:stretch>
        </p:blipFill>
        <p:spPr>
          <a:xfrm>
            <a:off x="5012741" y="1583741"/>
            <a:ext cx="307238" cy="307238"/>
          </a:xfrm>
          <a:prstGeom prst="rect">
            <a:avLst/>
          </a:prstGeom>
        </p:spPr>
      </p:pic>
      <p:sp>
        <p:nvSpPr>
          <p:cNvPr id="12" name="Text 7"/>
          <p:cNvSpPr txBox="1"/>
          <p:nvPr/>
        </p:nvSpPr>
        <p:spPr>
          <a:xfrm>
            <a:off x="5669280" y="1417320"/>
            <a:ext cx="2834640" cy="320040"/>
          </a:xfrm>
          <a:prstGeom prst="rect">
            <a:avLst/>
          </a:prstGeom>
          <a:noFill/>
          <a:ln/>
        </p:spPr>
        <p:txBody>
          <a:bodyPr wrap="square" lIns="0" tIns="0" rIns="0" bIns="0" rtlCol="0" anchor="t"/>
          <a:lstStyle/>
          <a:p>
            <a:pPr indent="0" marL="0">
              <a:buNone/>
            </a:pPr>
            <a:r>
              <a:rPr lang="en-US" sz="1700" b="1" dirty="0">
                <a:solidFill>
                  <a:schemeClr val="tx1"/>
                </a:solidFill>
              </a:rPr>
              <a:t>Principal Investigator</a:t>
            </a:r>
            <a:endParaRPr lang="en-US" sz="1700" dirty="0"/>
          </a:p>
        </p:txBody>
      </p:sp>
      <p:sp>
        <p:nvSpPr>
          <p:cNvPr id="13" name="Text 8"/>
          <p:cNvSpPr txBox="1"/>
          <p:nvPr/>
        </p:nvSpPr>
        <p:spPr>
          <a:xfrm>
            <a:off x="5669280" y="1783080"/>
            <a:ext cx="2834640" cy="777240"/>
          </a:xfrm>
          <a:prstGeom prst="rect">
            <a:avLst/>
          </a:prstGeom>
          <a:noFill/>
          <a:ln/>
        </p:spPr>
        <p:txBody>
          <a:bodyPr wrap="square" lIns="0" tIns="0" rIns="0" bIns="0" rtlCol="0" anchor="t"/>
          <a:lstStyle/>
          <a:p>
            <a:pPr indent="0" marL="0">
              <a:buNone/>
            </a:pPr>
            <a:r>
              <a:rPr lang="en-US" sz="1400" dirty="0">
                <a:solidFill>
                  <a:schemeClr val="tx1"/>
                </a:solidFill>
              </a:rPr>
              <a:t>Updates milestones; links publications to projects</a:t>
            </a:r>
            <a:endParaRPr lang="en-US" sz="1400" dirty="0"/>
          </a:p>
        </p:txBody>
      </p:sp>
      <p:sp>
        <p:nvSpPr>
          <p:cNvPr id="14" name="Role card"/>
          <p:cNvSpPr/>
          <p:nvPr/>
        </p:nvSpPr>
        <p:spPr>
          <a:xfrm>
            <a:off x="457200" y="2880360"/>
            <a:ext cx="4023360" cy="1508760"/>
          </a:xfrm>
          <a:prstGeom prst="roundRect">
            <a:avLst>
              <a:gd name="adj" fmla="val 4848"/>
            </a:avLst>
          </a:prstGeom>
          <a:solidFill>
            <a:schemeClr val="bg2"/>
          </a:solidFill>
          <a:ln/>
        </p:spPr>
      </p:sp>
      <p:sp>
        <p:nvSpPr>
          <p:cNvPr id="15" name="Role icon"/>
          <p:cNvSpPr/>
          <p:nvPr/>
        </p:nvSpPr>
        <p:spPr>
          <a:xfrm>
            <a:off x="640080" y="3108960"/>
            <a:ext cx="640080" cy="640080"/>
          </a:xfrm>
          <a:prstGeom prst="ellipse">
            <a:avLst/>
          </a:prstGeom>
          <a:solidFill>
            <a:schemeClr val="accent2"/>
          </a:solidFill>
          <a:ln/>
        </p:spPr>
      </p:sp>
      <p:pic>
        <p:nvPicPr>
          <p:cNvPr id="16" name="Image 2" descr="Coins icon">    </p:cNvPr>
          <p:cNvPicPr>
            <a:picLocks noChangeAspect="1"/>
          </p:cNvPicPr>
          <p:nvPr/>
        </p:nvPicPr>
        <p:blipFill>
          <a:blip r:embed="rId3"/>
          <a:stretch>
            <a:fillRect/>
          </a:stretch>
        </p:blipFill>
        <p:spPr>
          <a:xfrm>
            <a:off x="806501" y="3275381"/>
            <a:ext cx="307238" cy="307238"/>
          </a:xfrm>
          <a:prstGeom prst="rect">
            <a:avLst/>
          </a:prstGeom>
        </p:spPr>
      </p:pic>
      <p:sp>
        <p:nvSpPr>
          <p:cNvPr id="17" name="Text 11"/>
          <p:cNvSpPr txBox="1"/>
          <p:nvPr/>
        </p:nvSpPr>
        <p:spPr>
          <a:xfrm>
            <a:off x="1463040" y="3108960"/>
            <a:ext cx="2834640" cy="320040"/>
          </a:xfrm>
          <a:prstGeom prst="rect">
            <a:avLst/>
          </a:prstGeom>
          <a:noFill/>
          <a:ln/>
        </p:spPr>
        <p:txBody>
          <a:bodyPr wrap="square" lIns="0" tIns="0" rIns="0" bIns="0" rtlCol="0" anchor="t"/>
          <a:lstStyle/>
          <a:p>
            <a:pPr indent="0" marL="0">
              <a:buNone/>
            </a:pPr>
            <a:r>
              <a:rPr lang="en-US" sz="1700" b="1" dirty="0">
                <a:solidFill>
                  <a:schemeClr val="tx1"/>
                </a:solidFill>
              </a:rPr>
              <a:t>Finance Officer</a:t>
            </a:r>
            <a:endParaRPr lang="en-US" sz="1700" dirty="0"/>
          </a:p>
        </p:txBody>
      </p:sp>
      <p:sp>
        <p:nvSpPr>
          <p:cNvPr id="18" name="Text 12"/>
          <p:cNvSpPr txBox="1"/>
          <p:nvPr/>
        </p:nvSpPr>
        <p:spPr>
          <a:xfrm>
            <a:off x="1463040" y="3474720"/>
            <a:ext cx="2834640" cy="777240"/>
          </a:xfrm>
          <a:prstGeom prst="rect">
            <a:avLst/>
          </a:prstGeom>
          <a:noFill/>
          <a:ln/>
        </p:spPr>
        <p:txBody>
          <a:bodyPr wrap="square" lIns="0" tIns="0" rIns="0" bIns="0" rtlCol="0" anchor="t"/>
          <a:lstStyle/>
          <a:p>
            <a:pPr indent="0" marL="0">
              <a:buNone/>
            </a:pPr>
            <a:r>
              <a:rPr lang="en-US" sz="1400" dirty="0">
                <a:solidFill>
                  <a:schemeClr val="tx1"/>
                </a:solidFill>
              </a:rPr>
              <a:t>Enters grants and expenditure; checks utilization</a:t>
            </a:r>
            <a:endParaRPr lang="en-US" sz="1400" dirty="0"/>
          </a:p>
        </p:txBody>
      </p:sp>
      <p:sp>
        <p:nvSpPr>
          <p:cNvPr id="19" name="Role card"/>
          <p:cNvSpPr/>
          <p:nvPr/>
        </p:nvSpPr>
        <p:spPr>
          <a:xfrm>
            <a:off x="4663440" y="2880360"/>
            <a:ext cx="4023360" cy="1508760"/>
          </a:xfrm>
          <a:prstGeom prst="roundRect">
            <a:avLst>
              <a:gd name="adj" fmla="val 4848"/>
            </a:avLst>
          </a:prstGeom>
          <a:solidFill>
            <a:schemeClr val="bg2"/>
          </a:solidFill>
          <a:ln/>
        </p:spPr>
      </p:sp>
      <p:sp>
        <p:nvSpPr>
          <p:cNvPr id="20" name="Role icon"/>
          <p:cNvSpPr/>
          <p:nvPr/>
        </p:nvSpPr>
        <p:spPr>
          <a:xfrm>
            <a:off x="4846320" y="3108960"/>
            <a:ext cx="640080" cy="640080"/>
          </a:xfrm>
          <a:prstGeom prst="ellipse">
            <a:avLst/>
          </a:prstGeom>
          <a:solidFill>
            <a:schemeClr val="accent4"/>
          </a:solidFill>
          <a:ln/>
        </p:spPr>
      </p:sp>
      <p:pic>
        <p:nvPicPr>
          <p:cNvPr id="21" name="Image 3" descr="University icon">    </p:cNvPr>
          <p:cNvPicPr>
            <a:picLocks noChangeAspect="1"/>
          </p:cNvPicPr>
          <p:nvPr/>
        </p:nvPicPr>
        <p:blipFill>
          <a:blip r:embed="rId4"/>
          <a:stretch>
            <a:fillRect/>
          </a:stretch>
        </p:blipFill>
        <p:spPr>
          <a:xfrm>
            <a:off x="5012741" y="3275381"/>
            <a:ext cx="307238" cy="307238"/>
          </a:xfrm>
          <a:prstGeom prst="rect">
            <a:avLst/>
          </a:prstGeom>
        </p:spPr>
      </p:pic>
      <p:sp>
        <p:nvSpPr>
          <p:cNvPr id="22" name="Text 15"/>
          <p:cNvSpPr txBox="1"/>
          <p:nvPr/>
        </p:nvSpPr>
        <p:spPr>
          <a:xfrm>
            <a:off x="5669280" y="3108960"/>
            <a:ext cx="2834640" cy="320040"/>
          </a:xfrm>
          <a:prstGeom prst="rect">
            <a:avLst/>
          </a:prstGeom>
          <a:noFill/>
          <a:ln/>
        </p:spPr>
        <p:txBody>
          <a:bodyPr wrap="square" lIns="0" tIns="0" rIns="0" bIns="0" rtlCol="0" anchor="t"/>
          <a:lstStyle/>
          <a:p>
            <a:pPr indent="0" marL="0">
              <a:buNone/>
            </a:pPr>
            <a:r>
              <a:rPr lang="en-US" sz="1700" b="1" dirty="0">
                <a:solidFill>
                  <a:schemeClr val="tx1"/>
                </a:solidFill>
              </a:rPr>
              <a:t>Department Head</a:t>
            </a:r>
            <a:endParaRPr lang="en-US" sz="1700" dirty="0"/>
          </a:p>
        </p:txBody>
      </p:sp>
      <p:sp>
        <p:nvSpPr>
          <p:cNvPr id="23" name="Text 16"/>
          <p:cNvSpPr txBox="1"/>
          <p:nvPr/>
        </p:nvSpPr>
        <p:spPr>
          <a:xfrm>
            <a:off x="5669280" y="3474720"/>
            <a:ext cx="2834640" cy="777240"/>
          </a:xfrm>
          <a:prstGeom prst="rect">
            <a:avLst/>
          </a:prstGeom>
          <a:noFill/>
          <a:ln/>
        </p:spPr>
        <p:txBody>
          <a:bodyPr wrap="square" lIns="0" tIns="0" rIns="0" bIns="0" rtlCol="0" anchor="t"/>
          <a:lstStyle/>
          <a:p>
            <a:pPr indent="0" marL="0">
              <a:buNone/>
            </a:pPr>
            <a:r>
              <a:rPr lang="en-US" sz="1400" dirty="0">
                <a:solidFill>
                  <a:schemeClr val="tx1"/>
                </a:solidFill>
              </a:rPr>
              <a:t>Read-only view of department progress and output</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Functional Requirements</a:t>
            </a:r>
            <a:endParaRPr lang="en-US" sz="3200" dirty="0"/>
          </a:p>
        </p:txBody>
      </p:sp>
      <p:sp>
        <p:nvSpPr>
          <p:cNvPr id="4" name="Module card"/>
          <p:cNvSpPr/>
          <p:nvPr/>
        </p:nvSpPr>
        <p:spPr>
          <a:xfrm>
            <a:off x="457200" y="1188720"/>
            <a:ext cx="1920240" cy="1508760"/>
          </a:xfrm>
          <a:prstGeom prst="roundRect">
            <a:avLst>
              <a:gd name="adj" fmla="val 4848"/>
            </a:avLst>
          </a:prstGeom>
          <a:solidFill>
            <a:schemeClr val="bg2"/>
          </a:solidFill>
          <a:ln/>
        </p:spPr>
      </p:sp>
      <p:sp>
        <p:nvSpPr>
          <p:cNvPr id="5" name="Module icon"/>
          <p:cNvSpPr/>
          <p:nvPr/>
        </p:nvSpPr>
        <p:spPr>
          <a:xfrm>
            <a:off x="594360" y="1325880"/>
            <a:ext cx="457200" cy="457200"/>
          </a:xfrm>
          <a:prstGeom prst="ellipse">
            <a:avLst/>
          </a:prstGeom>
          <a:solidFill>
            <a:schemeClr val="accent1"/>
          </a:solidFill>
          <a:ln/>
        </p:spPr>
      </p:sp>
      <p:pic>
        <p:nvPicPr>
          <p:cNvPr id="6" name="Image 0" descr="ProjectDiagram icon">    </p:cNvPr>
          <p:cNvPicPr>
            <a:picLocks noChangeAspect="1"/>
          </p:cNvPicPr>
          <p:nvPr/>
        </p:nvPicPr>
        <p:blipFill>
          <a:blip r:embed="rId1"/>
          <a:stretch>
            <a:fillRect/>
          </a:stretch>
        </p:blipFill>
        <p:spPr>
          <a:xfrm>
            <a:off x="713232" y="1444752"/>
            <a:ext cx="219456" cy="219456"/>
          </a:xfrm>
          <a:prstGeom prst="rect">
            <a:avLst/>
          </a:prstGeom>
        </p:spPr>
      </p:pic>
      <p:sp>
        <p:nvSpPr>
          <p:cNvPr id="7" name="Text 3"/>
          <p:cNvSpPr txBox="1"/>
          <p:nvPr/>
        </p:nvSpPr>
        <p:spPr>
          <a:xfrm>
            <a:off x="594360" y="1874520"/>
            <a:ext cx="1645920" cy="365760"/>
          </a:xfrm>
          <a:prstGeom prst="rect">
            <a:avLst/>
          </a:prstGeom>
          <a:noFill/>
          <a:ln/>
        </p:spPr>
        <p:txBody>
          <a:bodyPr wrap="square" lIns="0" tIns="0" rIns="0" bIns="0" rtlCol="0" anchor="t"/>
          <a:lstStyle/>
          <a:p>
            <a:pPr indent="0" marL="0">
              <a:buNone/>
            </a:pPr>
            <a:r>
              <a:rPr lang="en-US" sz="1400" b="1" dirty="0">
                <a:solidFill>
                  <a:schemeClr val="tx1"/>
                </a:solidFill>
              </a:rPr>
              <a:t>Project registration</a:t>
            </a:r>
            <a:endParaRPr lang="en-US" sz="1400" dirty="0"/>
          </a:p>
        </p:txBody>
      </p:sp>
      <p:sp>
        <p:nvSpPr>
          <p:cNvPr id="8" name="Text 4"/>
          <p:cNvSpPr txBox="1"/>
          <p:nvPr/>
        </p:nvSpPr>
        <p:spPr>
          <a:xfrm>
            <a:off x="594360" y="2258568"/>
            <a:ext cx="1645920" cy="365760"/>
          </a:xfrm>
          <a:prstGeom prst="rect">
            <a:avLst/>
          </a:prstGeom>
          <a:noFill/>
          <a:ln/>
        </p:spPr>
        <p:txBody>
          <a:bodyPr wrap="square" lIns="0" tIns="0" rIns="0" bIns="0" rtlCol="0" anchor="t"/>
          <a:lstStyle/>
          <a:p>
            <a:pPr indent="0" marL="0">
              <a:buNone/>
            </a:pPr>
            <a:r>
              <a:rPr lang="en-US" sz="1200" dirty="0">
                <a:solidFill>
                  <a:schemeClr val="accent6"/>
                </a:solidFill>
              </a:rPr>
              <a:t>Create and edit projects</a:t>
            </a:r>
            <a:endParaRPr lang="en-US" sz="1200" dirty="0"/>
          </a:p>
        </p:txBody>
      </p:sp>
      <p:sp>
        <p:nvSpPr>
          <p:cNvPr id="9" name="Module card"/>
          <p:cNvSpPr/>
          <p:nvPr/>
        </p:nvSpPr>
        <p:spPr>
          <a:xfrm>
            <a:off x="2560320" y="1188720"/>
            <a:ext cx="1920240" cy="1508760"/>
          </a:xfrm>
          <a:prstGeom prst="roundRect">
            <a:avLst>
              <a:gd name="adj" fmla="val 4848"/>
            </a:avLst>
          </a:prstGeom>
          <a:solidFill>
            <a:schemeClr val="bg2"/>
          </a:solidFill>
          <a:ln/>
        </p:spPr>
      </p:sp>
      <p:sp>
        <p:nvSpPr>
          <p:cNvPr id="10" name="Module icon"/>
          <p:cNvSpPr/>
          <p:nvPr/>
        </p:nvSpPr>
        <p:spPr>
          <a:xfrm>
            <a:off x="2697480" y="1325880"/>
            <a:ext cx="457200" cy="457200"/>
          </a:xfrm>
          <a:prstGeom prst="ellipse">
            <a:avLst/>
          </a:prstGeom>
          <a:solidFill>
            <a:schemeClr val="accent3"/>
          </a:solidFill>
          <a:ln/>
        </p:spPr>
      </p:sp>
      <p:pic>
        <p:nvPicPr>
          <p:cNvPr id="11" name="Image 1" descr="UserPlus icon">    </p:cNvPr>
          <p:cNvPicPr>
            <a:picLocks noChangeAspect="1"/>
          </p:cNvPicPr>
          <p:nvPr/>
        </p:nvPicPr>
        <p:blipFill>
          <a:blip r:embed="rId2"/>
          <a:stretch>
            <a:fillRect/>
          </a:stretch>
        </p:blipFill>
        <p:spPr>
          <a:xfrm>
            <a:off x="2816352" y="1444752"/>
            <a:ext cx="219456" cy="219456"/>
          </a:xfrm>
          <a:prstGeom prst="rect">
            <a:avLst/>
          </a:prstGeom>
        </p:spPr>
      </p:pic>
      <p:sp>
        <p:nvSpPr>
          <p:cNvPr id="12" name="Text 7"/>
          <p:cNvSpPr txBox="1"/>
          <p:nvPr/>
        </p:nvSpPr>
        <p:spPr>
          <a:xfrm>
            <a:off x="2697480" y="1874520"/>
            <a:ext cx="1645920" cy="365760"/>
          </a:xfrm>
          <a:prstGeom prst="rect">
            <a:avLst/>
          </a:prstGeom>
          <a:noFill/>
          <a:ln/>
        </p:spPr>
        <p:txBody>
          <a:bodyPr wrap="square" lIns="0" tIns="0" rIns="0" bIns="0" rtlCol="0" anchor="t"/>
          <a:lstStyle/>
          <a:p>
            <a:pPr indent="0" marL="0">
              <a:buNone/>
            </a:pPr>
            <a:r>
              <a:rPr lang="en-US" sz="1400" b="1" dirty="0">
                <a:solidFill>
                  <a:schemeClr val="tx1"/>
                </a:solidFill>
              </a:rPr>
              <a:t>Assign investigators</a:t>
            </a:r>
            <a:endParaRPr lang="en-US" sz="1400" dirty="0"/>
          </a:p>
        </p:txBody>
      </p:sp>
      <p:sp>
        <p:nvSpPr>
          <p:cNvPr id="13" name="Text 8"/>
          <p:cNvSpPr txBox="1"/>
          <p:nvPr/>
        </p:nvSpPr>
        <p:spPr>
          <a:xfrm>
            <a:off x="2697480" y="2258568"/>
            <a:ext cx="1645920" cy="365760"/>
          </a:xfrm>
          <a:prstGeom prst="rect">
            <a:avLst/>
          </a:prstGeom>
          <a:noFill/>
          <a:ln/>
        </p:spPr>
        <p:txBody>
          <a:bodyPr wrap="square" lIns="0" tIns="0" rIns="0" bIns="0" rtlCol="0" anchor="t"/>
          <a:lstStyle/>
          <a:p>
            <a:pPr indent="0" marL="0">
              <a:buNone/>
            </a:pPr>
            <a:r>
              <a:rPr lang="en-US" sz="1200" dirty="0">
                <a:solidFill>
                  <a:schemeClr val="accent6"/>
                </a:solidFill>
              </a:rPr>
              <a:t>PI, Co-PI and members</a:t>
            </a:r>
            <a:endParaRPr lang="en-US" sz="1200" dirty="0"/>
          </a:p>
        </p:txBody>
      </p:sp>
      <p:sp>
        <p:nvSpPr>
          <p:cNvPr id="14" name="Module card"/>
          <p:cNvSpPr/>
          <p:nvPr/>
        </p:nvSpPr>
        <p:spPr>
          <a:xfrm>
            <a:off x="4663440" y="1188720"/>
            <a:ext cx="1920240" cy="1508760"/>
          </a:xfrm>
          <a:prstGeom prst="roundRect">
            <a:avLst>
              <a:gd name="adj" fmla="val 4848"/>
            </a:avLst>
          </a:prstGeom>
          <a:solidFill>
            <a:schemeClr val="bg2"/>
          </a:solidFill>
          <a:ln/>
        </p:spPr>
      </p:sp>
      <p:sp>
        <p:nvSpPr>
          <p:cNvPr id="15" name="Module icon"/>
          <p:cNvSpPr/>
          <p:nvPr/>
        </p:nvSpPr>
        <p:spPr>
          <a:xfrm>
            <a:off x="4800600" y="1325880"/>
            <a:ext cx="457200" cy="457200"/>
          </a:xfrm>
          <a:prstGeom prst="ellipse">
            <a:avLst/>
          </a:prstGeom>
          <a:solidFill>
            <a:schemeClr val="accent1"/>
          </a:solidFill>
          <a:ln/>
        </p:spPr>
      </p:sp>
      <p:pic>
        <p:nvPicPr>
          <p:cNvPr id="16" name="Image 2" descr="HandHoldingUsd icon">    </p:cNvPr>
          <p:cNvPicPr>
            <a:picLocks noChangeAspect="1"/>
          </p:cNvPicPr>
          <p:nvPr/>
        </p:nvPicPr>
        <p:blipFill>
          <a:blip r:embed="rId3"/>
          <a:stretch>
            <a:fillRect/>
          </a:stretch>
        </p:blipFill>
        <p:spPr>
          <a:xfrm>
            <a:off x="4919472" y="1444752"/>
            <a:ext cx="219456" cy="219456"/>
          </a:xfrm>
          <a:prstGeom prst="rect">
            <a:avLst/>
          </a:prstGeom>
        </p:spPr>
      </p:pic>
      <p:sp>
        <p:nvSpPr>
          <p:cNvPr id="17" name="Text 11"/>
          <p:cNvSpPr txBox="1"/>
          <p:nvPr/>
        </p:nvSpPr>
        <p:spPr>
          <a:xfrm>
            <a:off x="4800600" y="1874520"/>
            <a:ext cx="1645920" cy="365760"/>
          </a:xfrm>
          <a:prstGeom prst="rect">
            <a:avLst/>
          </a:prstGeom>
          <a:noFill/>
          <a:ln/>
        </p:spPr>
        <p:txBody>
          <a:bodyPr wrap="square" lIns="0" tIns="0" rIns="0" bIns="0" rtlCol="0" anchor="t"/>
          <a:lstStyle/>
          <a:p>
            <a:pPr indent="0" marL="0">
              <a:buNone/>
            </a:pPr>
            <a:r>
              <a:rPr lang="en-US" sz="1400" b="1" dirty="0">
                <a:solidFill>
                  <a:schemeClr val="tx1"/>
                </a:solidFill>
              </a:rPr>
              <a:t>Grant and budget</a:t>
            </a:r>
            <a:endParaRPr lang="en-US" sz="1400" dirty="0"/>
          </a:p>
        </p:txBody>
      </p:sp>
      <p:sp>
        <p:nvSpPr>
          <p:cNvPr id="18" name="Text 12"/>
          <p:cNvSpPr txBox="1"/>
          <p:nvPr/>
        </p:nvSpPr>
        <p:spPr>
          <a:xfrm>
            <a:off x="4800600" y="2258568"/>
            <a:ext cx="1645920" cy="365760"/>
          </a:xfrm>
          <a:prstGeom prst="rect">
            <a:avLst/>
          </a:prstGeom>
          <a:noFill/>
          <a:ln/>
        </p:spPr>
        <p:txBody>
          <a:bodyPr wrap="square" lIns="0" tIns="0" rIns="0" bIns="0" rtlCol="0" anchor="t"/>
          <a:lstStyle/>
          <a:p>
            <a:pPr indent="0" marL="0">
              <a:buNone/>
            </a:pPr>
            <a:r>
              <a:rPr lang="en-US" sz="1200" dirty="0">
                <a:solidFill>
                  <a:schemeClr val="accent6"/>
                </a:solidFill>
              </a:rPr>
              <a:t>Sanctioned amounts</a:t>
            </a:r>
            <a:endParaRPr lang="en-US" sz="1200" dirty="0"/>
          </a:p>
        </p:txBody>
      </p:sp>
      <p:sp>
        <p:nvSpPr>
          <p:cNvPr id="19" name="Module card"/>
          <p:cNvSpPr/>
          <p:nvPr/>
        </p:nvSpPr>
        <p:spPr>
          <a:xfrm>
            <a:off x="6766560" y="1188720"/>
            <a:ext cx="1920240" cy="1508760"/>
          </a:xfrm>
          <a:prstGeom prst="roundRect">
            <a:avLst>
              <a:gd name="adj" fmla="val 4848"/>
            </a:avLst>
          </a:prstGeom>
          <a:solidFill>
            <a:schemeClr val="bg2"/>
          </a:solidFill>
          <a:ln/>
        </p:spPr>
      </p:sp>
      <p:sp>
        <p:nvSpPr>
          <p:cNvPr id="20" name="Module icon"/>
          <p:cNvSpPr/>
          <p:nvPr/>
        </p:nvSpPr>
        <p:spPr>
          <a:xfrm>
            <a:off x="6903720" y="1325880"/>
            <a:ext cx="457200" cy="457200"/>
          </a:xfrm>
          <a:prstGeom prst="ellipse">
            <a:avLst/>
          </a:prstGeom>
          <a:solidFill>
            <a:schemeClr val="accent3"/>
          </a:solidFill>
          <a:ln/>
        </p:spPr>
      </p:sp>
      <p:pic>
        <p:nvPicPr>
          <p:cNvPr id="21" name="Image 3" descr="FlagCheckered icon">    </p:cNvPr>
          <p:cNvPicPr>
            <a:picLocks noChangeAspect="1"/>
          </p:cNvPicPr>
          <p:nvPr/>
        </p:nvPicPr>
        <p:blipFill>
          <a:blip r:embed="rId4"/>
          <a:stretch>
            <a:fillRect/>
          </a:stretch>
        </p:blipFill>
        <p:spPr>
          <a:xfrm>
            <a:off x="7022592" y="1444752"/>
            <a:ext cx="219456" cy="219456"/>
          </a:xfrm>
          <a:prstGeom prst="rect">
            <a:avLst/>
          </a:prstGeom>
        </p:spPr>
      </p:pic>
      <p:sp>
        <p:nvSpPr>
          <p:cNvPr id="22" name="Text 15"/>
          <p:cNvSpPr txBox="1"/>
          <p:nvPr/>
        </p:nvSpPr>
        <p:spPr>
          <a:xfrm>
            <a:off x="6903720" y="1874520"/>
            <a:ext cx="1645920" cy="365760"/>
          </a:xfrm>
          <a:prstGeom prst="rect">
            <a:avLst/>
          </a:prstGeom>
          <a:noFill/>
          <a:ln/>
        </p:spPr>
        <p:txBody>
          <a:bodyPr wrap="square" lIns="0" tIns="0" rIns="0" bIns="0" rtlCol="0" anchor="t"/>
          <a:lstStyle/>
          <a:p>
            <a:pPr indent="0" marL="0">
              <a:buNone/>
            </a:pPr>
            <a:r>
              <a:rPr lang="en-US" sz="1400" b="1" dirty="0">
                <a:solidFill>
                  <a:schemeClr val="tx1"/>
                </a:solidFill>
              </a:rPr>
              <a:t>Milestone tracking</a:t>
            </a:r>
            <a:endParaRPr lang="en-US" sz="1400" dirty="0"/>
          </a:p>
        </p:txBody>
      </p:sp>
      <p:sp>
        <p:nvSpPr>
          <p:cNvPr id="23" name="Text 16"/>
          <p:cNvSpPr txBox="1"/>
          <p:nvPr/>
        </p:nvSpPr>
        <p:spPr>
          <a:xfrm>
            <a:off x="6903720" y="2258568"/>
            <a:ext cx="1645920" cy="365760"/>
          </a:xfrm>
          <a:prstGeom prst="rect">
            <a:avLst/>
          </a:prstGeom>
          <a:noFill/>
          <a:ln/>
        </p:spPr>
        <p:txBody>
          <a:bodyPr wrap="square" lIns="0" tIns="0" rIns="0" bIns="0" rtlCol="0" anchor="t"/>
          <a:lstStyle/>
          <a:p>
            <a:pPr indent="0" marL="0">
              <a:buNone/>
            </a:pPr>
            <a:r>
              <a:rPr lang="en-US" sz="1200" dirty="0">
                <a:solidFill>
                  <a:schemeClr val="accent6"/>
                </a:solidFill>
              </a:rPr>
              <a:t>Due dates and status</a:t>
            </a:r>
            <a:endParaRPr lang="en-US" sz="1200" dirty="0"/>
          </a:p>
        </p:txBody>
      </p:sp>
      <p:sp>
        <p:nvSpPr>
          <p:cNvPr id="24" name="Module card"/>
          <p:cNvSpPr/>
          <p:nvPr/>
        </p:nvSpPr>
        <p:spPr>
          <a:xfrm>
            <a:off x="457200" y="2880360"/>
            <a:ext cx="1920240" cy="1508760"/>
          </a:xfrm>
          <a:prstGeom prst="roundRect">
            <a:avLst>
              <a:gd name="adj" fmla="val 4848"/>
            </a:avLst>
          </a:prstGeom>
          <a:solidFill>
            <a:schemeClr val="bg2"/>
          </a:solidFill>
          <a:ln/>
        </p:spPr>
      </p:sp>
      <p:sp>
        <p:nvSpPr>
          <p:cNvPr id="25" name="Module icon"/>
          <p:cNvSpPr/>
          <p:nvPr/>
        </p:nvSpPr>
        <p:spPr>
          <a:xfrm>
            <a:off x="594360" y="3017520"/>
            <a:ext cx="457200" cy="457200"/>
          </a:xfrm>
          <a:prstGeom prst="ellipse">
            <a:avLst/>
          </a:prstGeom>
          <a:solidFill>
            <a:schemeClr val="accent1"/>
          </a:solidFill>
          <a:ln/>
        </p:spPr>
      </p:sp>
      <p:pic>
        <p:nvPicPr>
          <p:cNvPr id="26" name="Image 4" descr="FileInvoiceDollar icon">    </p:cNvPr>
          <p:cNvPicPr>
            <a:picLocks noChangeAspect="1"/>
          </p:cNvPicPr>
          <p:nvPr/>
        </p:nvPicPr>
        <p:blipFill>
          <a:blip r:embed="rId5"/>
          <a:stretch>
            <a:fillRect/>
          </a:stretch>
        </p:blipFill>
        <p:spPr>
          <a:xfrm>
            <a:off x="713232" y="3136392"/>
            <a:ext cx="219456" cy="219456"/>
          </a:xfrm>
          <a:prstGeom prst="rect">
            <a:avLst/>
          </a:prstGeom>
        </p:spPr>
      </p:pic>
      <p:sp>
        <p:nvSpPr>
          <p:cNvPr id="27" name="Text 19"/>
          <p:cNvSpPr txBox="1"/>
          <p:nvPr/>
        </p:nvSpPr>
        <p:spPr>
          <a:xfrm>
            <a:off x="594360" y="3566160"/>
            <a:ext cx="1645920" cy="365760"/>
          </a:xfrm>
          <a:prstGeom prst="rect">
            <a:avLst/>
          </a:prstGeom>
          <a:noFill/>
          <a:ln/>
        </p:spPr>
        <p:txBody>
          <a:bodyPr wrap="square" lIns="0" tIns="0" rIns="0" bIns="0" rtlCol="0" anchor="t"/>
          <a:lstStyle/>
          <a:p>
            <a:pPr indent="0" marL="0">
              <a:buNone/>
            </a:pPr>
            <a:r>
              <a:rPr lang="en-US" sz="1400" b="1" dirty="0">
                <a:solidFill>
                  <a:schemeClr val="tx1"/>
                </a:solidFill>
              </a:rPr>
              <a:t>Expenditure</a:t>
            </a:r>
            <a:endParaRPr lang="en-US" sz="1400" dirty="0"/>
          </a:p>
        </p:txBody>
      </p:sp>
      <p:sp>
        <p:nvSpPr>
          <p:cNvPr id="28" name="Text 20"/>
          <p:cNvSpPr txBox="1"/>
          <p:nvPr/>
        </p:nvSpPr>
        <p:spPr>
          <a:xfrm>
            <a:off x="594360" y="3950208"/>
            <a:ext cx="1645920" cy="365760"/>
          </a:xfrm>
          <a:prstGeom prst="rect">
            <a:avLst/>
          </a:prstGeom>
          <a:noFill/>
          <a:ln/>
        </p:spPr>
        <p:txBody>
          <a:bodyPr wrap="square" lIns="0" tIns="0" rIns="0" bIns="0" rtlCol="0" anchor="t"/>
          <a:lstStyle/>
          <a:p>
            <a:pPr indent="0" marL="0">
              <a:buNone/>
            </a:pPr>
            <a:r>
              <a:rPr lang="en-US" sz="1200" dirty="0">
                <a:solidFill>
                  <a:schemeClr val="accent6"/>
                </a:solidFill>
              </a:rPr>
              <a:t>Spending against grants</a:t>
            </a:r>
            <a:endParaRPr lang="en-US" sz="1200" dirty="0"/>
          </a:p>
        </p:txBody>
      </p:sp>
      <p:sp>
        <p:nvSpPr>
          <p:cNvPr id="29" name="Module card"/>
          <p:cNvSpPr/>
          <p:nvPr/>
        </p:nvSpPr>
        <p:spPr>
          <a:xfrm>
            <a:off x="2560320" y="2880360"/>
            <a:ext cx="1920240" cy="1508760"/>
          </a:xfrm>
          <a:prstGeom prst="roundRect">
            <a:avLst>
              <a:gd name="adj" fmla="val 4848"/>
            </a:avLst>
          </a:prstGeom>
          <a:solidFill>
            <a:schemeClr val="bg2"/>
          </a:solidFill>
          <a:ln/>
        </p:spPr>
      </p:sp>
      <p:sp>
        <p:nvSpPr>
          <p:cNvPr id="30" name="Module icon"/>
          <p:cNvSpPr/>
          <p:nvPr/>
        </p:nvSpPr>
        <p:spPr>
          <a:xfrm>
            <a:off x="2697480" y="3017520"/>
            <a:ext cx="457200" cy="457200"/>
          </a:xfrm>
          <a:prstGeom prst="ellipse">
            <a:avLst/>
          </a:prstGeom>
          <a:solidFill>
            <a:schemeClr val="accent3"/>
          </a:solidFill>
          <a:ln/>
        </p:spPr>
      </p:sp>
      <p:pic>
        <p:nvPicPr>
          <p:cNvPr id="31" name="Image 5" descr="Book icon">    </p:cNvPr>
          <p:cNvPicPr>
            <a:picLocks noChangeAspect="1"/>
          </p:cNvPicPr>
          <p:nvPr/>
        </p:nvPicPr>
        <p:blipFill>
          <a:blip r:embed="rId6"/>
          <a:stretch>
            <a:fillRect/>
          </a:stretch>
        </p:blipFill>
        <p:spPr>
          <a:xfrm>
            <a:off x="2816352" y="3136392"/>
            <a:ext cx="219456" cy="219456"/>
          </a:xfrm>
          <a:prstGeom prst="rect">
            <a:avLst/>
          </a:prstGeom>
        </p:spPr>
      </p:pic>
      <p:sp>
        <p:nvSpPr>
          <p:cNvPr id="32" name="Text 23"/>
          <p:cNvSpPr txBox="1"/>
          <p:nvPr/>
        </p:nvSpPr>
        <p:spPr>
          <a:xfrm>
            <a:off x="2697480" y="3566160"/>
            <a:ext cx="1645920" cy="365760"/>
          </a:xfrm>
          <a:prstGeom prst="rect">
            <a:avLst/>
          </a:prstGeom>
          <a:noFill/>
          <a:ln/>
        </p:spPr>
        <p:txBody>
          <a:bodyPr wrap="square" lIns="0" tIns="0" rIns="0" bIns="0" rtlCol="0" anchor="t"/>
          <a:lstStyle/>
          <a:p>
            <a:pPr indent="0" marL="0">
              <a:buNone/>
            </a:pPr>
            <a:r>
              <a:rPr lang="en-US" sz="1400" b="1" dirty="0">
                <a:solidFill>
                  <a:schemeClr val="tx1"/>
                </a:solidFill>
              </a:rPr>
              <a:t>Publication linkage</a:t>
            </a:r>
            <a:endParaRPr lang="en-US" sz="1400" dirty="0"/>
          </a:p>
        </p:txBody>
      </p:sp>
      <p:sp>
        <p:nvSpPr>
          <p:cNvPr id="33" name="Text 24"/>
          <p:cNvSpPr txBox="1"/>
          <p:nvPr/>
        </p:nvSpPr>
        <p:spPr>
          <a:xfrm>
            <a:off x="2697480" y="3950208"/>
            <a:ext cx="1645920" cy="365760"/>
          </a:xfrm>
          <a:prstGeom prst="rect">
            <a:avLst/>
          </a:prstGeom>
          <a:noFill/>
          <a:ln/>
        </p:spPr>
        <p:txBody>
          <a:bodyPr wrap="square" lIns="0" tIns="0" rIns="0" bIns="0" rtlCol="0" anchor="t"/>
          <a:lstStyle/>
          <a:p>
            <a:pPr indent="0" marL="0">
              <a:buNone/>
            </a:pPr>
            <a:r>
              <a:rPr lang="en-US" sz="1200" dirty="0">
                <a:solidFill>
                  <a:schemeClr val="accent6"/>
                </a:solidFill>
              </a:rPr>
              <a:t>Papers tied to projects</a:t>
            </a:r>
            <a:endParaRPr lang="en-US" sz="1200" dirty="0"/>
          </a:p>
        </p:txBody>
      </p:sp>
      <p:sp>
        <p:nvSpPr>
          <p:cNvPr id="34" name="Module card"/>
          <p:cNvSpPr/>
          <p:nvPr/>
        </p:nvSpPr>
        <p:spPr>
          <a:xfrm>
            <a:off x="4663440" y="2880360"/>
            <a:ext cx="1920240" cy="1508760"/>
          </a:xfrm>
          <a:prstGeom prst="roundRect">
            <a:avLst>
              <a:gd name="adj" fmla="val 4848"/>
            </a:avLst>
          </a:prstGeom>
          <a:solidFill>
            <a:schemeClr val="bg2"/>
          </a:solidFill>
          <a:ln/>
        </p:spPr>
      </p:sp>
      <p:sp>
        <p:nvSpPr>
          <p:cNvPr id="35" name="Module icon"/>
          <p:cNvSpPr/>
          <p:nvPr/>
        </p:nvSpPr>
        <p:spPr>
          <a:xfrm>
            <a:off x="4800600" y="3017520"/>
            <a:ext cx="457200" cy="457200"/>
          </a:xfrm>
          <a:prstGeom prst="ellipse">
            <a:avLst/>
          </a:prstGeom>
          <a:solidFill>
            <a:schemeClr val="accent1"/>
          </a:solidFill>
          <a:ln/>
        </p:spPr>
      </p:sp>
      <p:pic>
        <p:nvPicPr>
          <p:cNvPr id="36" name="Image 6" descr="ChartBar icon">    </p:cNvPr>
          <p:cNvPicPr>
            <a:picLocks noChangeAspect="1"/>
          </p:cNvPicPr>
          <p:nvPr/>
        </p:nvPicPr>
        <p:blipFill>
          <a:blip r:embed="rId7"/>
          <a:stretch>
            <a:fillRect/>
          </a:stretch>
        </p:blipFill>
        <p:spPr>
          <a:xfrm>
            <a:off x="4919472" y="3136392"/>
            <a:ext cx="219456" cy="219456"/>
          </a:xfrm>
          <a:prstGeom prst="rect">
            <a:avLst/>
          </a:prstGeom>
        </p:spPr>
      </p:pic>
      <p:sp>
        <p:nvSpPr>
          <p:cNvPr id="37" name="Text 27"/>
          <p:cNvSpPr txBox="1"/>
          <p:nvPr/>
        </p:nvSpPr>
        <p:spPr>
          <a:xfrm>
            <a:off x="4800600" y="3566160"/>
            <a:ext cx="1645920" cy="365760"/>
          </a:xfrm>
          <a:prstGeom prst="rect">
            <a:avLst/>
          </a:prstGeom>
          <a:noFill/>
          <a:ln/>
        </p:spPr>
        <p:txBody>
          <a:bodyPr wrap="square" lIns="0" tIns="0" rIns="0" bIns="0" rtlCol="0" anchor="t"/>
          <a:lstStyle/>
          <a:p>
            <a:pPr indent="0" marL="0">
              <a:buNone/>
            </a:pPr>
            <a:r>
              <a:rPr lang="en-US" sz="1400" b="1" dirty="0">
                <a:solidFill>
                  <a:schemeClr val="tx1"/>
                </a:solidFill>
              </a:rPr>
              <a:t>Reporting</a:t>
            </a:r>
            <a:endParaRPr lang="en-US" sz="1400" dirty="0"/>
          </a:p>
        </p:txBody>
      </p:sp>
      <p:sp>
        <p:nvSpPr>
          <p:cNvPr id="38" name="Text 28"/>
          <p:cNvSpPr txBox="1"/>
          <p:nvPr/>
        </p:nvSpPr>
        <p:spPr>
          <a:xfrm>
            <a:off x="4800600" y="3950208"/>
            <a:ext cx="1645920" cy="365760"/>
          </a:xfrm>
          <a:prstGeom prst="rect">
            <a:avLst/>
          </a:prstGeom>
          <a:noFill/>
          <a:ln/>
        </p:spPr>
        <p:txBody>
          <a:bodyPr wrap="square" lIns="0" tIns="0" rIns="0" bIns="0" rtlCol="0" anchor="t"/>
          <a:lstStyle/>
          <a:p>
            <a:pPr indent="0" marL="0">
              <a:buNone/>
            </a:pPr>
            <a:r>
              <a:rPr lang="en-US" sz="1200" dirty="0">
                <a:solidFill>
                  <a:schemeClr val="accent6"/>
                </a:solidFill>
              </a:rPr>
              <a:t>Progress and utilization</a:t>
            </a:r>
            <a:endParaRPr lang="en-US" sz="1200" dirty="0"/>
          </a:p>
        </p:txBody>
      </p:sp>
      <p:sp>
        <p:nvSpPr>
          <p:cNvPr id="39" name="Module card"/>
          <p:cNvSpPr/>
          <p:nvPr/>
        </p:nvSpPr>
        <p:spPr>
          <a:xfrm>
            <a:off x="6766560" y="2880360"/>
            <a:ext cx="1920240" cy="1508760"/>
          </a:xfrm>
          <a:prstGeom prst="roundRect">
            <a:avLst>
              <a:gd name="adj" fmla="val 4848"/>
            </a:avLst>
          </a:prstGeom>
          <a:solidFill>
            <a:schemeClr val="bg2"/>
          </a:solidFill>
          <a:ln/>
        </p:spPr>
      </p:sp>
      <p:sp>
        <p:nvSpPr>
          <p:cNvPr id="40" name="Module icon"/>
          <p:cNvSpPr/>
          <p:nvPr/>
        </p:nvSpPr>
        <p:spPr>
          <a:xfrm>
            <a:off x="6903720" y="3017520"/>
            <a:ext cx="457200" cy="457200"/>
          </a:xfrm>
          <a:prstGeom prst="ellipse">
            <a:avLst/>
          </a:prstGeom>
          <a:solidFill>
            <a:schemeClr val="accent3"/>
          </a:solidFill>
          <a:ln/>
        </p:spPr>
      </p:sp>
      <p:pic>
        <p:nvPicPr>
          <p:cNvPr id="41" name="Image 7" descr="ShieldAlt icon">    </p:cNvPr>
          <p:cNvPicPr>
            <a:picLocks noChangeAspect="1"/>
          </p:cNvPicPr>
          <p:nvPr/>
        </p:nvPicPr>
        <p:blipFill>
          <a:blip r:embed="rId8"/>
          <a:stretch>
            <a:fillRect/>
          </a:stretch>
        </p:blipFill>
        <p:spPr>
          <a:xfrm>
            <a:off x="7022592" y="3136392"/>
            <a:ext cx="219456" cy="219456"/>
          </a:xfrm>
          <a:prstGeom prst="rect">
            <a:avLst/>
          </a:prstGeom>
        </p:spPr>
      </p:pic>
      <p:sp>
        <p:nvSpPr>
          <p:cNvPr id="42" name="Text 31"/>
          <p:cNvSpPr txBox="1"/>
          <p:nvPr/>
        </p:nvSpPr>
        <p:spPr>
          <a:xfrm>
            <a:off x="6903720" y="3566160"/>
            <a:ext cx="1645920" cy="365760"/>
          </a:xfrm>
          <a:prstGeom prst="rect">
            <a:avLst/>
          </a:prstGeom>
          <a:noFill/>
          <a:ln/>
        </p:spPr>
        <p:txBody>
          <a:bodyPr wrap="square" lIns="0" tIns="0" rIns="0" bIns="0" rtlCol="0" anchor="t"/>
          <a:lstStyle/>
          <a:p>
            <a:pPr indent="0" marL="0">
              <a:buNone/>
            </a:pPr>
            <a:r>
              <a:rPr lang="en-US" sz="1400" b="1" dirty="0">
                <a:solidFill>
                  <a:schemeClr val="tx1"/>
                </a:solidFill>
              </a:rPr>
              <a:t>Input validation</a:t>
            </a:r>
            <a:endParaRPr lang="en-US" sz="1400" dirty="0"/>
          </a:p>
        </p:txBody>
      </p:sp>
      <p:sp>
        <p:nvSpPr>
          <p:cNvPr id="43" name="Text 32"/>
          <p:cNvSpPr txBox="1"/>
          <p:nvPr/>
        </p:nvSpPr>
        <p:spPr>
          <a:xfrm>
            <a:off x="6903720" y="3950208"/>
            <a:ext cx="1645920" cy="365760"/>
          </a:xfrm>
          <a:prstGeom prst="rect">
            <a:avLst/>
          </a:prstGeom>
          <a:noFill/>
          <a:ln/>
        </p:spPr>
        <p:txBody>
          <a:bodyPr wrap="square" lIns="0" tIns="0" rIns="0" bIns="0" rtlCol="0" anchor="t"/>
          <a:lstStyle/>
          <a:p>
            <a:pPr indent="0" marL="0">
              <a:buNone/>
            </a:pPr>
            <a:r>
              <a:rPr lang="en-US" sz="1200" dirty="0">
                <a:solidFill>
                  <a:schemeClr val="accent6"/>
                </a:solidFill>
              </a:rPr>
              <a:t>Clean data in, always</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Business Rules to Enforce</a:t>
            </a:r>
            <a:endParaRPr lang="en-US" sz="3200" dirty="0"/>
          </a:p>
        </p:txBody>
      </p:sp>
      <p:graphicFrame>
        <p:nvGraphicFramePr>
          <p:cNvPr id="8" name="Business rules table"/>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743200"/>
                <a:gridCol w="3291840"/>
                <a:gridCol w="2194560"/>
              </a:tblGrid>
              <a:tr h="530352">
                <a:tc>
                  <a:txBody>
                    <a:bodyPr/>
                    <a:lstStyle/>
                    <a:p>
                      <a:pPr indent="0" marL="0">
                        <a:buNone/>
                      </a:pPr>
                      <a:r>
                        <a:rPr lang="en-US" sz="1400" b="1" dirty="0">
                          <a:solidFill>
                            <a:schemeClr val="bg1"/>
                          </a:solidFill>
                        </a:rPr>
                        <a:t>Rule</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Meaning</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Planned enforcement</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accent1"/>
                    </a:solidFill>
                  </a:tcPr>
                </a:tc>
              </a:tr>
              <a:tr h="530352">
                <a:tc>
                  <a:txBody>
                    <a:bodyPr/>
                    <a:lstStyle/>
                    <a:p>
                      <a:pPr indent="0" marL="0">
                        <a:buNone/>
                      </a:pPr>
                      <a:r>
                        <a:rPr lang="en-US" sz="1400" b="1" dirty="0">
                          <a:solidFill>
                            <a:schemeClr val="tx1"/>
                          </a:solidFill>
                        </a:rPr>
                        <a:t>Valid project dates</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End date is after start date</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CHECK on project</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r>
              <a:tr h="530352">
                <a:tc>
                  <a:txBody>
                    <a:bodyPr/>
                    <a:lstStyle/>
                    <a:p>
                      <a:pPr indent="0" marL="0">
                        <a:buNone/>
                      </a:pPr>
                      <a:r>
                        <a:rPr lang="en-US" sz="1400" b="1" dirty="0">
                          <a:solidFill>
                            <a:schemeClr val="tx1"/>
                          </a:solidFill>
                        </a:rPr>
                        <a:t>Expenditure within budget</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Spending on a grant never exceeds it</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Trigger on expenditure</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r>
              <a:tr h="530352">
                <a:tc>
                  <a:txBody>
                    <a:bodyPr/>
                    <a:lstStyle/>
                    <a:p>
                      <a:pPr indent="0" marL="0">
                        <a:buNone/>
                      </a:pPr>
                      <a:r>
                        <a:rPr lang="en-US" sz="1400" b="1" dirty="0">
                          <a:solidFill>
                            <a:schemeClr val="tx1"/>
                          </a:solidFill>
                        </a:rPr>
                        <a:t>Milestone dates within project</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Due date falls inside project dates</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Trigger on milestone</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r>
              <a:tr h="530352">
                <a:tc>
                  <a:txBody>
                    <a:bodyPr/>
                    <a:lstStyle/>
                    <a:p>
                      <a:pPr indent="0" marL="0">
                        <a:buNone/>
                      </a:pPr>
                      <a:r>
                        <a:rPr lang="en-US" sz="1400" b="1" dirty="0">
                          <a:solidFill>
                            <a:schemeClr val="tx1"/>
                          </a:solidFill>
                        </a:rPr>
                        <a:t>Unique publication identifiers</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No two publications share a DOI</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UNIQUE on DOI</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r>
              <a:tr h="530352">
                <a:tc>
                  <a:txBody>
                    <a:bodyPr/>
                    <a:lstStyle/>
                    <a:p>
                      <a:pPr indent="0" marL="0">
                        <a:buNone/>
                      </a:pPr>
                      <a:r>
                        <a:rPr lang="en-US" sz="1400" b="1" dirty="0">
                          <a:solidFill>
                            <a:schemeClr val="tx1"/>
                          </a:solidFill>
                        </a:rPr>
                        <a:t>Positive grant values</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Grant amount is greater than zero</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CHECK on grant</a:t>
                      </a:r>
                      <a:endParaRPr lang="en-US" sz="14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Entities and Key Attributes</a:t>
            </a:r>
            <a:endParaRPr lang="en-US" sz="3200" dirty="0"/>
          </a:p>
        </p:txBody>
      </p:sp>
      <p:graphicFrame>
        <p:nvGraphicFramePr>
          <p:cNvPr id="9" name="Entities table"/>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011680"/>
                <a:gridCol w="6217920"/>
              </a:tblGrid>
              <a:tr h="274320">
                <a:tc>
                  <a:txBody>
                    <a:bodyPr/>
                    <a:lstStyle/>
                    <a:p>
                      <a:pPr indent="0" marL="0">
                        <a:buNone/>
                      </a:pPr>
                      <a:r>
                        <a:rPr lang="en-US" sz="1200" b="1" dirty="0">
                          <a:solidFill>
                            <a:schemeClr val="bg1"/>
                          </a:solidFill>
                        </a:rPr>
                        <a:t>Entity</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Key attributes</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accent1"/>
                    </a:solidFill>
                  </a:tcPr>
                </a:tc>
              </a:tr>
              <a:tr h="274320">
                <a:tc>
                  <a:txBody>
                    <a:bodyPr/>
                    <a:lstStyle/>
                    <a:p>
                      <a:pPr indent="0" marL="0">
                        <a:buNone/>
                      </a:pPr>
                      <a:r>
                        <a:rPr lang="en-US" sz="1200" b="1" dirty="0">
                          <a:solidFill>
                            <a:schemeClr val="tx1"/>
                          </a:solidFill>
                        </a:rPr>
                        <a:t>Department</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dept_id, name, head of department, building</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r>
              <a:tr h="274320">
                <a:tc>
                  <a:txBody>
                    <a:bodyPr/>
                    <a:lstStyle/>
                    <a:p>
                      <a:pPr indent="0" marL="0">
                        <a:buNone/>
                      </a:pPr>
                      <a:r>
                        <a:rPr lang="en-US" sz="1200" b="1" dirty="0">
                          <a:solidFill>
                            <a:schemeClr val="tx1"/>
                          </a:solidFill>
                        </a:rPr>
                        <a:t>Researcher</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researcher_id, name, email, designation, department</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r>
              <a:tr h="274320">
                <a:tc>
                  <a:txBody>
                    <a:bodyPr/>
                    <a:lstStyle/>
                    <a:p>
                      <a:pPr indent="0" marL="0">
                        <a:buNone/>
                      </a:pPr>
                      <a:r>
                        <a:rPr lang="en-US" sz="1200" b="1" dirty="0">
                          <a:solidFill>
                            <a:schemeClr val="tx1"/>
                          </a:solidFill>
                        </a:rPr>
                        <a:t>Project</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project_id, title, start and end date, status, department</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r>
              <a:tr h="274320">
                <a:tc>
                  <a:txBody>
                    <a:bodyPr/>
                    <a:lstStyle/>
                    <a:p>
                      <a:pPr indent="0" marL="0">
                        <a:buNone/>
                      </a:pPr>
                      <a:r>
                        <a:rPr lang="en-US" sz="1200" b="1" dirty="0">
                          <a:solidFill>
                            <a:schemeClr val="tx1"/>
                          </a:solidFill>
                        </a:rPr>
                        <a:t>Investigator</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project, researcher, role (PI / Co-PI / Member)</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r>
              <a:tr h="274320">
                <a:tc>
                  <a:txBody>
                    <a:bodyPr/>
                    <a:lstStyle/>
                    <a:p>
                      <a:pPr indent="0" marL="0">
                        <a:buNone/>
                      </a:pPr>
                      <a:r>
                        <a:rPr lang="en-US" sz="1200" b="1" dirty="0">
                          <a:solidFill>
                            <a:schemeClr val="tx1"/>
                          </a:solidFill>
                        </a:rPr>
                        <a:t>Funding Agency</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agency_id, name, type, contact email</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r>
              <a:tr h="274320">
                <a:tc>
                  <a:txBody>
                    <a:bodyPr/>
                    <a:lstStyle/>
                    <a:p>
                      <a:pPr indent="0" marL="0">
                        <a:buNone/>
                      </a:pPr>
                      <a:r>
                        <a:rPr lang="en-US" sz="1200" b="1" dirty="0">
                          <a:solidFill>
                            <a:schemeClr val="tx1"/>
                          </a:solidFill>
                        </a:rPr>
                        <a:t>Grant</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grant_id, project, agency, amount, sanction date</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r>
              <a:tr h="274320">
                <a:tc>
                  <a:txBody>
                    <a:bodyPr/>
                    <a:lstStyle/>
                    <a:p>
                      <a:pPr indent="0" marL="0">
                        <a:buNone/>
                      </a:pPr>
                      <a:r>
                        <a:rPr lang="en-US" sz="1200" b="1" dirty="0">
                          <a:solidFill>
                            <a:schemeClr val="tx1"/>
                          </a:solidFill>
                        </a:rPr>
                        <a:t>Milestone</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milestone_id, project, title, due date, status</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r>
              <a:tr h="274320">
                <a:tc>
                  <a:txBody>
                    <a:bodyPr/>
                    <a:lstStyle/>
                    <a:p>
                      <a:pPr indent="0" marL="0">
                        <a:buNone/>
                      </a:pPr>
                      <a:r>
                        <a:rPr lang="en-US" sz="1200" b="1" dirty="0">
                          <a:solidFill>
                            <a:schemeClr val="tx1"/>
                          </a:solidFill>
                        </a:rPr>
                        <a:t>Expenditure</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expense_id, grant, category, amount, date</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r>
              <a:tr h="274320">
                <a:tc>
                  <a:txBody>
                    <a:bodyPr/>
                    <a:lstStyle/>
                    <a:p>
                      <a:pPr indent="0" marL="0">
                        <a:buNone/>
                      </a:pPr>
                      <a:r>
                        <a:rPr lang="en-US" sz="1200" b="1" dirty="0">
                          <a:solidFill>
                            <a:schemeClr val="tx1"/>
                          </a:solidFill>
                        </a:rPr>
                        <a:t>Publication</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pub_id, title, venue, year, DOI</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r>
              <a:tr h="274320">
                <a:tc>
                  <a:txBody>
                    <a:bodyPr/>
                    <a:lstStyle/>
                    <a:p>
                      <a:pPr indent="0" marL="0">
                        <a:buNone/>
                      </a:pPr>
                      <a:r>
                        <a:rPr lang="en-US" sz="1200" b="1" dirty="0">
                          <a:solidFill>
                            <a:schemeClr val="tx1"/>
                          </a:solidFill>
                        </a:rPr>
                        <a:t>Patent</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patent_id, project, title, patent number, filing date, status</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r>
              <a:tr h="274320">
                <a:tc>
                  <a:txBody>
                    <a:bodyPr/>
                    <a:lstStyle/>
                    <a:p>
                      <a:pPr indent="0" marL="0">
                        <a:buNone/>
                      </a:pPr>
                      <a:r>
                        <a:rPr lang="en-US" sz="1200" b="1" dirty="0">
                          <a:solidFill>
                            <a:schemeClr val="tx1"/>
                          </a:solidFill>
                        </a:rPr>
                        <a:t>Report</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report_id, project, type, generated on</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ER Diagram: Principal Entities</a:t>
            </a:r>
            <a:endParaRPr lang="en-US" sz="3200" dirty="0"/>
          </a:p>
        </p:txBody>
      </p:sp>
      <p:sp>
        <p:nvSpPr>
          <p:cNvPr id="4" name="Shape 1"/>
          <p:cNvSpPr/>
          <p:nvPr/>
        </p:nvSpPr>
        <p:spPr>
          <a:xfrm flipV="1">
            <a:off x="1051560" y="1760220"/>
            <a:ext cx="1417320" cy="685800"/>
          </a:xfrm>
          <a:prstGeom prst="line">
            <a:avLst/>
          </a:prstGeom>
          <a:noFill/>
          <a:ln w="19050">
            <a:solidFill>
              <a:schemeClr val="accent6"/>
            </a:solidFill>
            <a:prstDash val="solid"/>
          </a:ln>
        </p:spPr>
      </p:sp>
      <p:sp>
        <p:nvSpPr>
          <p:cNvPr id="5" name="Shape 2"/>
          <p:cNvSpPr/>
          <p:nvPr/>
        </p:nvSpPr>
        <p:spPr>
          <a:xfrm>
            <a:off x="3108960" y="1760220"/>
            <a:ext cx="1051560" cy="685800"/>
          </a:xfrm>
          <a:prstGeom prst="line">
            <a:avLst/>
          </a:prstGeom>
          <a:noFill/>
          <a:ln w="19050">
            <a:solidFill>
              <a:schemeClr val="accent6"/>
            </a:solidFill>
            <a:prstDash val="solid"/>
          </a:ln>
        </p:spPr>
      </p:sp>
      <p:sp>
        <p:nvSpPr>
          <p:cNvPr id="6" name="Shape 3"/>
          <p:cNvSpPr/>
          <p:nvPr/>
        </p:nvSpPr>
        <p:spPr>
          <a:xfrm>
            <a:off x="1691640" y="2697480"/>
            <a:ext cx="457200" cy="0"/>
          </a:xfrm>
          <a:prstGeom prst="line">
            <a:avLst/>
          </a:prstGeom>
          <a:noFill/>
          <a:ln w="19050">
            <a:solidFill>
              <a:schemeClr val="accent6"/>
            </a:solidFill>
            <a:prstDash val="solid"/>
          </a:ln>
        </p:spPr>
      </p:sp>
      <p:sp>
        <p:nvSpPr>
          <p:cNvPr id="7" name="Shape 4"/>
          <p:cNvSpPr/>
          <p:nvPr/>
        </p:nvSpPr>
        <p:spPr>
          <a:xfrm>
            <a:off x="3429000" y="2697480"/>
            <a:ext cx="457200" cy="0"/>
          </a:xfrm>
          <a:prstGeom prst="line">
            <a:avLst/>
          </a:prstGeom>
          <a:noFill/>
          <a:ln w="19050">
            <a:solidFill>
              <a:schemeClr val="accent6"/>
            </a:solidFill>
            <a:prstDash val="solid"/>
          </a:ln>
        </p:spPr>
      </p:sp>
      <p:sp>
        <p:nvSpPr>
          <p:cNvPr id="8" name="Shape 5"/>
          <p:cNvSpPr/>
          <p:nvPr/>
        </p:nvSpPr>
        <p:spPr>
          <a:xfrm>
            <a:off x="5166360" y="2697480"/>
            <a:ext cx="457200" cy="0"/>
          </a:xfrm>
          <a:prstGeom prst="line">
            <a:avLst/>
          </a:prstGeom>
          <a:noFill/>
          <a:ln w="19050">
            <a:solidFill>
              <a:schemeClr val="accent6"/>
            </a:solidFill>
            <a:prstDash val="solid"/>
          </a:ln>
        </p:spPr>
      </p:sp>
      <p:sp>
        <p:nvSpPr>
          <p:cNvPr id="9" name="Shape 6"/>
          <p:cNvSpPr/>
          <p:nvPr/>
        </p:nvSpPr>
        <p:spPr>
          <a:xfrm>
            <a:off x="6903720" y="2697480"/>
            <a:ext cx="548640" cy="0"/>
          </a:xfrm>
          <a:prstGeom prst="line">
            <a:avLst/>
          </a:prstGeom>
          <a:noFill/>
          <a:ln w="19050">
            <a:solidFill>
              <a:schemeClr val="accent6"/>
            </a:solidFill>
            <a:prstDash val="solid"/>
          </a:ln>
        </p:spPr>
      </p:sp>
      <p:sp>
        <p:nvSpPr>
          <p:cNvPr id="10" name="Shape 7"/>
          <p:cNvSpPr/>
          <p:nvPr/>
        </p:nvSpPr>
        <p:spPr>
          <a:xfrm>
            <a:off x="6263640" y="2948940"/>
            <a:ext cx="0" cy="685800"/>
          </a:xfrm>
          <a:prstGeom prst="line">
            <a:avLst/>
          </a:prstGeom>
          <a:noFill/>
          <a:ln w="19050">
            <a:solidFill>
              <a:schemeClr val="accent6"/>
            </a:solidFill>
            <a:prstDash val="solid"/>
          </a:ln>
        </p:spPr>
      </p:sp>
      <p:sp>
        <p:nvSpPr>
          <p:cNvPr id="11" name="Shape 8"/>
          <p:cNvSpPr/>
          <p:nvPr/>
        </p:nvSpPr>
        <p:spPr>
          <a:xfrm>
            <a:off x="4526280" y="1760220"/>
            <a:ext cx="0" cy="685800"/>
          </a:xfrm>
          <a:prstGeom prst="line">
            <a:avLst/>
          </a:prstGeom>
          <a:noFill/>
          <a:ln w="19050">
            <a:solidFill>
              <a:schemeClr val="accent6"/>
            </a:solidFill>
            <a:prstDash val="solid"/>
          </a:ln>
        </p:spPr>
      </p:sp>
      <p:sp>
        <p:nvSpPr>
          <p:cNvPr id="12" name="Shape 9"/>
          <p:cNvSpPr/>
          <p:nvPr/>
        </p:nvSpPr>
        <p:spPr>
          <a:xfrm flipV="1">
            <a:off x="4892040" y="1760220"/>
            <a:ext cx="1371600" cy="685800"/>
          </a:xfrm>
          <a:prstGeom prst="line">
            <a:avLst/>
          </a:prstGeom>
          <a:noFill/>
          <a:ln w="19050">
            <a:solidFill>
              <a:schemeClr val="accent6"/>
            </a:solidFill>
            <a:prstDash val="solid"/>
          </a:ln>
        </p:spPr>
      </p:sp>
      <p:sp>
        <p:nvSpPr>
          <p:cNvPr id="13" name="Shape 10"/>
          <p:cNvSpPr/>
          <p:nvPr/>
        </p:nvSpPr>
        <p:spPr>
          <a:xfrm>
            <a:off x="4526280" y="2948940"/>
            <a:ext cx="0" cy="685800"/>
          </a:xfrm>
          <a:prstGeom prst="line">
            <a:avLst/>
          </a:prstGeom>
          <a:noFill/>
          <a:ln w="19050">
            <a:solidFill>
              <a:schemeClr val="accent6"/>
            </a:solidFill>
            <a:prstDash val="solid"/>
          </a:ln>
        </p:spPr>
      </p:sp>
      <p:sp>
        <p:nvSpPr>
          <p:cNvPr id="14" name="Shape 11"/>
          <p:cNvSpPr/>
          <p:nvPr/>
        </p:nvSpPr>
        <p:spPr>
          <a:xfrm flipV="1">
            <a:off x="3108960" y="2948940"/>
            <a:ext cx="1051560" cy="685800"/>
          </a:xfrm>
          <a:prstGeom prst="line">
            <a:avLst/>
          </a:prstGeom>
          <a:noFill/>
          <a:ln w="19050">
            <a:solidFill>
              <a:schemeClr val="accent6"/>
            </a:solidFill>
            <a:prstDash val="solid"/>
          </a:ln>
        </p:spPr>
      </p:sp>
      <p:sp>
        <p:nvSpPr>
          <p:cNvPr id="15" name="Shape 12"/>
          <p:cNvSpPr/>
          <p:nvPr/>
        </p:nvSpPr>
        <p:spPr>
          <a:xfrm>
            <a:off x="1051560" y="2948940"/>
            <a:ext cx="1417320" cy="685800"/>
          </a:xfrm>
          <a:prstGeom prst="line">
            <a:avLst/>
          </a:prstGeom>
          <a:noFill/>
          <a:ln w="19050">
            <a:solidFill>
              <a:schemeClr val="accent6"/>
            </a:solidFill>
            <a:prstDash val="solid"/>
          </a:ln>
        </p:spPr>
      </p:sp>
      <p:sp>
        <p:nvSpPr>
          <p:cNvPr id="16" name="Entity Department"/>
          <p:cNvSpPr/>
          <p:nvPr/>
        </p:nvSpPr>
        <p:spPr>
          <a:xfrm>
            <a:off x="2148840" y="1257300"/>
            <a:ext cx="1280160" cy="502920"/>
          </a:xfrm>
          <a:prstGeom prst="roundRect">
            <a:avLst>
              <a:gd name="adj" fmla="val 14545"/>
            </a:avLst>
          </a:prstGeom>
          <a:solidFill>
            <a:schemeClr val="accent3"/>
          </a:solidFill>
          <a:ln/>
        </p:spPr>
      </p:sp>
      <p:sp>
        <p:nvSpPr>
          <p:cNvPr id="17" name="Text 14"/>
          <p:cNvSpPr txBox="1"/>
          <p:nvPr/>
        </p:nvSpPr>
        <p:spPr>
          <a:xfrm>
            <a:off x="2148840" y="1257300"/>
            <a:ext cx="1280160" cy="502920"/>
          </a:xfrm>
          <a:prstGeom prst="rect">
            <a:avLst/>
          </a:prstGeom>
          <a:noFill/>
          <a:ln/>
        </p:spPr>
        <p:txBody>
          <a:bodyPr wrap="square" lIns="0" tIns="0" rIns="0" bIns="0" rtlCol="0" anchor="ctr"/>
          <a:lstStyle/>
          <a:p>
            <a:pPr algn="ctr" indent="0" marL="0">
              <a:buNone/>
            </a:pPr>
            <a:r>
              <a:rPr lang="en-US" sz="1200" b="1" dirty="0">
                <a:solidFill>
                  <a:schemeClr val="bg1"/>
                </a:solidFill>
              </a:rPr>
              <a:t>Department</a:t>
            </a:r>
            <a:endParaRPr lang="en-US" sz="1200" dirty="0"/>
          </a:p>
        </p:txBody>
      </p:sp>
      <p:sp>
        <p:nvSpPr>
          <p:cNvPr id="18" name="Entity Researcher"/>
          <p:cNvSpPr/>
          <p:nvPr/>
        </p:nvSpPr>
        <p:spPr>
          <a:xfrm>
            <a:off x="411480" y="2446020"/>
            <a:ext cx="1280160" cy="502920"/>
          </a:xfrm>
          <a:prstGeom prst="roundRect">
            <a:avLst>
              <a:gd name="adj" fmla="val 14545"/>
            </a:avLst>
          </a:prstGeom>
          <a:solidFill>
            <a:schemeClr val="accent3"/>
          </a:solidFill>
          <a:ln/>
        </p:spPr>
      </p:sp>
      <p:sp>
        <p:nvSpPr>
          <p:cNvPr id="19" name="Text 16"/>
          <p:cNvSpPr txBox="1"/>
          <p:nvPr/>
        </p:nvSpPr>
        <p:spPr>
          <a:xfrm>
            <a:off x="411480" y="2446020"/>
            <a:ext cx="1280160" cy="502920"/>
          </a:xfrm>
          <a:prstGeom prst="rect">
            <a:avLst/>
          </a:prstGeom>
          <a:noFill/>
          <a:ln/>
        </p:spPr>
        <p:txBody>
          <a:bodyPr wrap="square" lIns="0" tIns="0" rIns="0" bIns="0" rtlCol="0" anchor="ctr"/>
          <a:lstStyle/>
          <a:p>
            <a:pPr algn="ctr" indent="0" marL="0">
              <a:buNone/>
            </a:pPr>
            <a:r>
              <a:rPr lang="en-US" sz="1200" b="1" dirty="0">
                <a:solidFill>
                  <a:schemeClr val="bg1"/>
                </a:solidFill>
              </a:rPr>
              <a:t>Researcher</a:t>
            </a:r>
            <a:endParaRPr lang="en-US" sz="1200" dirty="0"/>
          </a:p>
        </p:txBody>
      </p:sp>
      <p:sp>
        <p:nvSpPr>
          <p:cNvPr id="20" name="Entity Investigator"/>
          <p:cNvSpPr/>
          <p:nvPr/>
        </p:nvSpPr>
        <p:spPr>
          <a:xfrm>
            <a:off x="2148840" y="2446020"/>
            <a:ext cx="1280160" cy="502920"/>
          </a:xfrm>
          <a:prstGeom prst="roundRect">
            <a:avLst>
              <a:gd name="adj" fmla="val 14545"/>
            </a:avLst>
          </a:prstGeom>
          <a:solidFill>
            <a:schemeClr val="accent3"/>
          </a:solidFill>
          <a:ln/>
        </p:spPr>
      </p:sp>
      <p:sp>
        <p:nvSpPr>
          <p:cNvPr id="21" name="Text 18"/>
          <p:cNvSpPr txBox="1"/>
          <p:nvPr/>
        </p:nvSpPr>
        <p:spPr>
          <a:xfrm>
            <a:off x="2148840" y="2446020"/>
            <a:ext cx="1280160" cy="502920"/>
          </a:xfrm>
          <a:prstGeom prst="rect">
            <a:avLst/>
          </a:prstGeom>
          <a:noFill/>
          <a:ln/>
        </p:spPr>
        <p:txBody>
          <a:bodyPr wrap="square" lIns="0" tIns="0" rIns="0" bIns="0" rtlCol="0" anchor="ctr"/>
          <a:lstStyle/>
          <a:p>
            <a:pPr algn="ctr" indent="0" marL="0">
              <a:buNone/>
            </a:pPr>
            <a:r>
              <a:rPr lang="en-US" sz="1200" b="1" dirty="0">
                <a:solidFill>
                  <a:schemeClr val="bg1"/>
                </a:solidFill>
              </a:rPr>
              <a:t>Investigator</a:t>
            </a:r>
            <a:endParaRPr lang="en-US" sz="1200" dirty="0"/>
          </a:p>
        </p:txBody>
      </p:sp>
      <p:sp>
        <p:nvSpPr>
          <p:cNvPr id="22" name="Entity Project"/>
          <p:cNvSpPr/>
          <p:nvPr/>
        </p:nvSpPr>
        <p:spPr>
          <a:xfrm>
            <a:off x="3886200" y="2446020"/>
            <a:ext cx="1280160" cy="502920"/>
          </a:xfrm>
          <a:prstGeom prst="roundRect">
            <a:avLst>
              <a:gd name="adj" fmla="val 14545"/>
            </a:avLst>
          </a:prstGeom>
          <a:solidFill>
            <a:schemeClr val="accent1"/>
          </a:solidFill>
          <a:ln/>
        </p:spPr>
      </p:sp>
      <p:sp>
        <p:nvSpPr>
          <p:cNvPr id="23" name="Text 20"/>
          <p:cNvSpPr txBox="1"/>
          <p:nvPr/>
        </p:nvSpPr>
        <p:spPr>
          <a:xfrm>
            <a:off x="3886200" y="2446020"/>
            <a:ext cx="1280160" cy="502920"/>
          </a:xfrm>
          <a:prstGeom prst="rect">
            <a:avLst/>
          </a:prstGeom>
          <a:noFill/>
          <a:ln/>
        </p:spPr>
        <p:txBody>
          <a:bodyPr wrap="square" lIns="0" tIns="0" rIns="0" bIns="0" rtlCol="0" anchor="ctr"/>
          <a:lstStyle/>
          <a:p>
            <a:pPr algn="ctr" indent="0" marL="0">
              <a:buNone/>
            </a:pPr>
            <a:r>
              <a:rPr lang="en-US" sz="1200" b="1" dirty="0">
                <a:solidFill>
                  <a:schemeClr val="bg1"/>
                </a:solidFill>
              </a:rPr>
              <a:t>Project</a:t>
            </a:r>
            <a:endParaRPr lang="en-US" sz="1200" dirty="0"/>
          </a:p>
        </p:txBody>
      </p:sp>
      <p:sp>
        <p:nvSpPr>
          <p:cNvPr id="24" name="Entity Grant"/>
          <p:cNvSpPr/>
          <p:nvPr/>
        </p:nvSpPr>
        <p:spPr>
          <a:xfrm>
            <a:off x="5623560" y="2446020"/>
            <a:ext cx="1280160" cy="502920"/>
          </a:xfrm>
          <a:prstGeom prst="roundRect">
            <a:avLst>
              <a:gd name="adj" fmla="val 14545"/>
            </a:avLst>
          </a:prstGeom>
          <a:solidFill>
            <a:schemeClr val="accent2"/>
          </a:solidFill>
          <a:ln/>
        </p:spPr>
      </p:sp>
      <p:sp>
        <p:nvSpPr>
          <p:cNvPr id="25" name="Text 22"/>
          <p:cNvSpPr txBox="1"/>
          <p:nvPr/>
        </p:nvSpPr>
        <p:spPr>
          <a:xfrm>
            <a:off x="5623560" y="2446020"/>
            <a:ext cx="1280160" cy="502920"/>
          </a:xfrm>
          <a:prstGeom prst="rect">
            <a:avLst/>
          </a:prstGeom>
          <a:noFill/>
          <a:ln/>
        </p:spPr>
        <p:txBody>
          <a:bodyPr wrap="square" lIns="0" tIns="0" rIns="0" bIns="0" rtlCol="0" anchor="ctr"/>
          <a:lstStyle/>
          <a:p>
            <a:pPr algn="ctr" indent="0" marL="0">
              <a:buNone/>
            </a:pPr>
            <a:r>
              <a:rPr lang="en-US" sz="1200" b="1" dirty="0">
                <a:solidFill>
                  <a:schemeClr val="tx1"/>
                </a:solidFill>
              </a:rPr>
              <a:t>Grant</a:t>
            </a:r>
            <a:endParaRPr lang="en-US" sz="1200" dirty="0"/>
          </a:p>
        </p:txBody>
      </p:sp>
      <p:sp>
        <p:nvSpPr>
          <p:cNvPr id="26" name="Entity Funding Agency"/>
          <p:cNvSpPr/>
          <p:nvPr/>
        </p:nvSpPr>
        <p:spPr>
          <a:xfrm>
            <a:off x="7452360" y="2446020"/>
            <a:ext cx="1280160" cy="502920"/>
          </a:xfrm>
          <a:prstGeom prst="roundRect">
            <a:avLst>
              <a:gd name="adj" fmla="val 14545"/>
            </a:avLst>
          </a:prstGeom>
          <a:solidFill>
            <a:schemeClr val="accent2"/>
          </a:solidFill>
          <a:ln/>
        </p:spPr>
      </p:sp>
      <p:sp>
        <p:nvSpPr>
          <p:cNvPr id="27" name="Text 24"/>
          <p:cNvSpPr txBox="1"/>
          <p:nvPr/>
        </p:nvSpPr>
        <p:spPr>
          <a:xfrm>
            <a:off x="7452360" y="2446020"/>
            <a:ext cx="1280160" cy="502920"/>
          </a:xfrm>
          <a:prstGeom prst="rect">
            <a:avLst/>
          </a:prstGeom>
          <a:noFill/>
          <a:ln/>
        </p:spPr>
        <p:txBody>
          <a:bodyPr wrap="square" lIns="0" tIns="0" rIns="0" bIns="0" rtlCol="0" anchor="ctr"/>
          <a:lstStyle/>
          <a:p>
            <a:pPr algn="ctr" indent="0" marL="0">
              <a:buNone/>
            </a:pPr>
            <a:r>
              <a:rPr lang="en-US" sz="1200" b="1" dirty="0">
                <a:solidFill>
                  <a:schemeClr val="tx1"/>
                </a:solidFill>
              </a:rPr>
              <a:t>Funding Agency</a:t>
            </a:r>
            <a:endParaRPr lang="en-US" sz="1200" dirty="0"/>
          </a:p>
        </p:txBody>
      </p:sp>
      <p:sp>
        <p:nvSpPr>
          <p:cNvPr id="28" name="Entity Expenditure"/>
          <p:cNvSpPr/>
          <p:nvPr/>
        </p:nvSpPr>
        <p:spPr>
          <a:xfrm>
            <a:off x="5623560" y="3634740"/>
            <a:ext cx="1280160" cy="502920"/>
          </a:xfrm>
          <a:prstGeom prst="roundRect">
            <a:avLst>
              <a:gd name="adj" fmla="val 14545"/>
            </a:avLst>
          </a:prstGeom>
          <a:solidFill>
            <a:schemeClr val="accent2"/>
          </a:solidFill>
          <a:ln/>
        </p:spPr>
      </p:sp>
      <p:sp>
        <p:nvSpPr>
          <p:cNvPr id="29" name="Text 26"/>
          <p:cNvSpPr txBox="1"/>
          <p:nvPr/>
        </p:nvSpPr>
        <p:spPr>
          <a:xfrm>
            <a:off x="5623560" y="3634740"/>
            <a:ext cx="1280160" cy="502920"/>
          </a:xfrm>
          <a:prstGeom prst="rect">
            <a:avLst/>
          </a:prstGeom>
          <a:noFill/>
          <a:ln/>
        </p:spPr>
        <p:txBody>
          <a:bodyPr wrap="square" lIns="0" tIns="0" rIns="0" bIns="0" rtlCol="0" anchor="ctr"/>
          <a:lstStyle/>
          <a:p>
            <a:pPr algn="ctr" indent="0" marL="0">
              <a:buNone/>
            </a:pPr>
            <a:r>
              <a:rPr lang="en-US" sz="1200" b="1" dirty="0">
                <a:solidFill>
                  <a:schemeClr val="tx1"/>
                </a:solidFill>
              </a:rPr>
              <a:t>Expenditure</a:t>
            </a:r>
            <a:endParaRPr lang="en-US" sz="1200" dirty="0"/>
          </a:p>
        </p:txBody>
      </p:sp>
      <p:sp>
        <p:nvSpPr>
          <p:cNvPr id="30" name="Entity Milestone"/>
          <p:cNvSpPr/>
          <p:nvPr/>
        </p:nvSpPr>
        <p:spPr>
          <a:xfrm>
            <a:off x="3886200" y="1257300"/>
            <a:ext cx="1280160" cy="502920"/>
          </a:xfrm>
          <a:prstGeom prst="roundRect">
            <a:avLst>
              <a:gd name="adj" fmla="val 14545"/>
            </a:avLst>
          </a:prstGeom>
          <a:solidFill>
            <a:schemeClr val="accent1"/>
          </a:solidFill>
          <a:ln/>
        </p:spPr>
      </p:sp>
      <p:sp>
        <p:nvSpPr>
          <p:cNvPr id="31" name="Text 28"/>
          <p:cNvSpPr txBox="1"/>
          <p:nvPr/>
        </p:nvSpPr>
        <p:spPr>
          <a:xfrm>
            <a:off x="3886200" y="1257300"/>
            <a:ext cx="1280160" cy="502920"/>
          </a:xfrm>
          <a:prstGeom prst="rect">
            <a:avLst/>
          </a:prstGeom>
          <a:noFill/>
          <a:ln/>
        </p:spPr>
        <p:txBody>
          <a:bodyPr wrap="square" lIns="0" tIns="0" rIns="0" bIns="0" rtlCol="0" anchor="ctr"/>
          <a:lstStyle/>
          <a:p>
            <a:pPr algn="ctr" indent="0" marL="0">
              <a:buNone/>
            </a:pPr>
            <a:r>
              <a:rPr lang="en-US" sz="1200" b="1" dirty="0">
                <a:solidFill>
                  <a:schemeClr val="bg1"/>
                </a:solidFill>
              </a:rPr>
              <a:t>Milestone</a:t>
            </a:r>
            <a:endParaRPr lang="en-US" sz="1200" dirty="0"/>
          </a:p>
        </p:txBody>
      </p:sp>
      <p:sp>
        <p:nvSpPr>
          <p:cNvPr id="32" name="Entity Report"/>
          <p:cNvSpPr/>
          <p:nvPr/>
        </p:nvSpPr>
        <p:spPr>
          <a:xfrm>
            <a:off x="5623560" y="1257300"/>
            <a:ext cx="1280160" cy="502920"/>
          </a:xfrm>
          <a:prstGeom prst="roundRect">
            <a:avLst>
              <a:gd name="adj" fmla="val 14545"/>
            </a:avLst>
          </a:prstGeom>
          <a:solidFill>
            <a:schemeClr val="accent1"/>
          </a:solidFill>
          <a:ln/>
        </p:spPr>
      </p:sp>
      <p:sp>
        <p:nvSpPr>
          <p:cNvPr id="33" name="Text 30"/>
          <p:cNvSpPr txBox="1"/>
          <p:nvPr/>
        </p:nvSpPr>
        <p:spPr>
          <a:xfrm>
            <a:off x="5623560" y="1257300"/>
            <a:ext cx="1280160" cy="502920"/>
          </a:xfrm>
          <a:prstGeom prst="rect">
            <a:avLst/>
          </a:prstGeom>
          <a:noFill/>
          <a:ln/>
        </p:spPr>
        <p:txBody>
          <a:bodyPr wrap="square" lIns="0" tIns="0" rIns="0" bIns="0" rtlCol="0" anchor="ctr"/>
          <a:lstStyle/>
          <a:p>
            <a:pPr algn="ctr" indent="0" marL="0">
              <a:buNone/>
            </a:pPr>
            <a:r>
              <a:rPr lang="en-US" sz="1200" b="1" dirty="0">
                <a:solidFill>
                  <a:schemeClr val="bg1"/>
                </a:solidFill>
              </a:rPr>
              <a:t>Report</a:t>
            </a:r>
            <a:endParaRPr lang="en-US" sz="1200" dirty="0"/>
          </a:p>
        </p:txBody>
      </p:sp>
      <p:sp>
        <p:nvSpPr>
          <p:cNvPr id="34" name="Entity Patent"/>
          <p:cNvSpPr/>
          <p:nvPr/>
        </p:nvSpPr>
        <p:spPr>
          <a:xfrm>
            <a:off x="3886200" y="3634740"/>
            <a:ext cx="1280160" cy="502920"/>
          </a:xfrm>
          <a:prstGeom prst="roundRect">
            <a:avLst>
              <a:gd name="adj" fmla="val 14545"/>
            </a:avLst>
          </a:prstGeom>
          <a:solidFill>
            <a:schemeClr val="accent4"/>
          </a:solidFill>
          <a:ln/>
        </p:spPr>
      </p:sp>
      <p:sp>
        <p:nvSpPr>
          <p:cNvPr id="35" name="Text 32"/>
          <p:cNvSpPr txBox="1"/>
          <p:nvPr/>
        </p:nvSpPr>
        <p:spPr>
          <a:xfrm>
            <a:off x="3886200" y="3634740"/>
            <a:ext cx="1280160" cy="502920"/>
          </a:xfrm>
          <a:prstGeom prst="rect">
            <a:avLst/>
          </a:prstGeom>
          <a:noFill/>
          <a:ln/>
        </p:spPr>
        <p:txBody>
          <a:bodyPr wrap="square" lIns="0" tIns="0" rIns="0" bIns="0" rtlCol="0" anchor="ctr"/>
          <a:lstStyle/>
          <a:p>
            <a:pPr algn="ctr" indent="0" marL="0">
              <a:buNone/>
            </a:pPr>
            <a:r>
              <a:rPr lang="en-US" sz="1200" b="1" dirty="0">
                <a:solidFill>
                  <a:schemeClr val="bg1"/>
                </a:solidFill>
              </a:rPr>
              <a:t>Patent</a:t>
            </a:r>
            <a:endParaRPr lang="en-US" sz="1200" dirty="0"/>
          </a:p>
        </p:txBody>
      </p:sp>
      <p:sp>
        <p:nvSpPr>
          <p:cNvPr id="36" name="Entity Publication"/>
          <p:cNvSpPr/>
          <p:nvPr/>
        </p:nvSpPr>
        <p:spPr>
          <a:xfrm>
            <a:off x="2148840" y="3634740"/>
            <a:ext cx="1280160" cy="502920"/>
          </a:xfrm>
          <a:prstGeom prst="roundRect">
            <a:avLst>
              <a:gd name="adj" fmla="val 14545"/>
            </a:avLst>
          </a:prstGeom>
          <a:solidFill>
            <a:schemeClr val="accent4"/>
          </a:solidFill>
          <a:ln/>
        </p:spPr>
      </p:sp>
      <p:sp>
        <p:nvSpPr>
          <p:cNvPr id="37" name="Text 34"/>
          <p:cNvSpPr txBox="1"/>
          <p:nvPr/>
        </p:nvSpPr>
        <p:spPr>
          <a:xfrm>
            <a:off x="2148840" y="3634740"/>
            <a:ext cx="1280160" cy="502920"/>
          </a:xfrm>
          <a:prstGeom prst="rect">
            <a:avLst/>
          </a:prstGeom>
          <a:noFill/>
          <a:ln/>
        </p:spPr>
        <p:txBody>
          <a:bodyPr wrap="square" lIns="0" tIns="0" rIns="0" bIns="0" rtlCol="0" anchor="ctr"/>
          <a:lstStyle/>
          <a:p>
            <a:pPr algn="ctr" indent="0" marL="0">
              <a:buNone/>
            </a:pPr>
            <a:r>
              <a:rPr lang="en-US" sz="1200" b="1" dirty="0">
                <a:solidFill>
                  <a:schemeClr val="bg1"/>
                </a:solidFill>
              </a:rPr>
              <a:t>Publication</a:t>
            </a:r>
            <a:endParaRPr lang="en-US" sz="1200" dirty="0"/>
          </a:p>
        </p:txBody>
      </p:sp>
      <p:sp>
        <p:nvSpPr>
          <p:cNvPr id="38" name="Text 35"/>
          <p:cNvSpPr txBox="1"/>
          <p:nvPr/>
        </p:nvSpPr>
        <p:spPr>
          <a:xfrm>
            <a:off x="2190250" y="1911729"/>
            <a:ext cx="182880" cy="182880"/>
          </a:xfrm>
          <a:prstGeom prst="rect">
            <a:avLst/>
          </a:prstGeom>
          <a:noFill/>
          <a:ln/>
        </p:spPr>
        <p:txBody>
          <a:bodyPr wrap="square" lIns="0" tIns="0" rIns="0" bIns="0" rtlCol="0" anchor="ctr"/>
          <a:lstStyle/>
          <a:p>
            <a:pPr algn="ctr" indent="0" marL="0">
              <a:buNone/>
            </a:pPr>
            <a:r>
              <a:rPr lang="en-US" sz="1100" b="1" dirty="0">
                <a:solidFill>
                  <a:schemeClr val="accent5"/>
                </a:solidFill>
              </a:rPr>
              <a:t>1</a:t>
            </a:r>
            <a:endParaRPr lang="en-US" sz="1100" dirty="0"/>
          </a:p>
        </p:txBody>
      </p:sp>
      <p:sp>
        <p:nvSpPr>
          <p:cNvPr id="39" name="Text 36"/>
          <p:cNvSpPr txBox="1"/>
          <p:nvPr/>
        </p:nvSpPr>
        <p:spPr>
          <a:xfrm>
            <a:off x="1266793" y="2358563"/>
            <a:ext cx="182880" cy="182880"/>
          </a:xfrm>
          <a:prstGeom prst="rect">
            <a:avLst/>
          </a:prstGeom>
          <a:noFill/>
          <a:ln/>
        </p:spPr>
        <p:txBody>
          <a:bodyPr wrap="square" lIns="0" tIns="0" rIns="0" bIns="0" rtlCol="0" anchor="ctr"/>
          <a:lstStyle/>
          <a:p>
            <a:pPr algn="ctr" indent="0" marL="0">
              <a:buNone/>
            </a:pPr>
            <a:r>
              <a:rPr lang="en-US" sz="1100" b="1" dirty="0">
                <a:solidFill>
                  <a:schemeClr val="accent5"/>
                </a:solidFill>
              </a:rPr>
              <a:t>N</a:t>
            </a:r>
            <a:endParaRPr lang="en-US" sz="1100" dirty="0"/>
          </a:p>
        </p:txBody>
      </p:sp>
      <p:sp>
        <p:nvSpPr>
          <p:cNvPr id="40" name="Text 37"/>
          <p:cNvSpPr txBox="1"/>
          <p:nvPr/>
        </p:nvSpPr>
        <p:spPr>
          <a:xfrm>
            <a:off x="3322219" y="1703746"/>
            <a:ext cx="182880" cy="182880"/>
          </a:xfrm>
          <a:prstGeom prst="rect">
            <a:avLst/>
          </a:prstGeom>
          <a:noFill/>
          <a:ln/>
        </p:spPr>
        <p:txBody>
          <a:bodyPr wrap="square" lIns="0" tIns="0" rIns="0" bIns="0" rtlCol="0" anchor="ctr"/>
          <a:lstStyle/>
          <a:p>
            <a:pPr algn="ctr" indent="0" marL="0">
              <a:buNone/>
            </a:pPr>
            <a:r>
              <a:rPr lang="en-US" sz="1100" b="1" dirty="0">
                <a:solidFill>
                  <a:schemeClr val="accent5"/>
                </a:solidFill>
              </a:rPr>
              <a:t>1</a:t>
            </a:r>
            <a:endParaRPr lang="en-US" sz="1100" dirty="0"/>
          </a:p>
        </p:txBody>
      </p:sp>
      <p:sp>
        <p:nvSpPr>
          <p:cNvPr id="41" name="Text 38"/>
          <p:cNvSpPr txBox="1"/>
          <p:nvPr/>
        </p:nvSpPr>
        <p:spPr>
          <a:xfrm>
            <a:off x="3914233" y="2089841"/>
            <a:ext cx="182880" cy="182880"/>
          </a:xfrm>
          <a:prstGeom prst="rect">
            <a:avLst/>
          </a:prstGeom>
          <a:noFill/>
          <a:ln/>
        </p:spPr>
        <p:txBody>
          <a:bodyPr wrap="square" lIns="0" tIns="0" rIns="0" bIns="0" rtlCol="0" anchor="ctr"/>
          <a:lstStyle/>
          <a:p>
            <a:pPr algn="ctr" indent="0" marL="0">
              <a:buNone/>
            </a:pPr>
            <a:r>
              <a:rPr lang="en-US" sz="1100" b="1" dirty="0">
                <a:solidFill>
                  <a:schemeClr val="accent5"/>
                </a:solidFill>
              </a:rPr>
              <a:t>N</a:t>
            </a:r>
            <a:endParaRPr lang="en-US" sz="1100" dirty="0"/>
          </a:p>
        </p:txBody>
      </p:sp>
      <p:sp>
        <p:nvSpPr>
          <p:cNvPr id="42" name="Text 39"/>
          <p:cNvSpPr txBox="1"/>
          <p:nvPr/>
        </p:nvSpPr>
        <p:spPr>
          <a:xfrm>
            <a:off x="1737360" y="2468880"/>
            <a:ext cx="182880" cy="182880"/>
          </a:xfrm>
          <a:prstGeom prst="rect">
            <a:avLst/>
          </a:prstGeom>
          <a:noFill/>
          <a:ln/>
        </p:spPr>
        <p:txBody>
          <a:bodyPr wrap="square" lIns="0" tIns="0" rIns="0" bIns="0" rtlCol="0" anchor="ctr"/>
          <a:lstStyle/>
          <a:p>
            <a:pPr algn="ctr" indent="0" marL="0">
              <a:buNone/>
            </a:pPr>
            <a:r>
              <a:rPr lang="en-US" sz="1100" b="1" dirty="0">
                <a:solidFill>
                  <a:schemeClr val="accent5"/>
                </a:solidFill>
              </a:rPr>
              <a:t>1</a:t>
            </a:r>
            <a:endParaRPr lang="en-US" sz="1100" dirty="0"/>
          </a:p>
        </p:txBody>
      </p:sp>
      <p:sp>
        <p:nvSpPr>
          <p:cNvPr id="43" name="Text 40"/>
          <p:cNvSpPr txBox="1"/>
          <p:nvPr/>
        </p:nvSpPr>
        <p:spPr>
          <a:xfrm>
            <a:off x="1920240" y="2468880"/>
            <a:ext cx="182880" cy="182880"/>
          </a:xfrm>
          <a:prstGeom prst="rect">
            <a:avLst/>
          </a:prstGeom>
          <a:noFill/>
          <a:ln/>
        </p:spPr>
        <p:txBody>
          <a:bodyPr wrap="square" lIns="0" tIns="0" rIns="0" bIns="0" rtlCol="0" anchor="ctr"/>
          <a:lstStyle/>
          <a:p>
            <a:pPr algn="ctr" indent="0" marL="0">
              <a:buNone/>
            </a:pPr>
            <a:r>
              <a:rPr lang="en-US" sz="1100" b="1" dirty="0">
                <a:solidFill>
                  <a:schemeClr val="accent5"/>
                </a:solidFill>
              </a:rPr>
              <a:t>N</a:t>
            </a:r>
            <a:endParaRPr lang="en-US" sz="1100" dirty="0"/>
          </a:p>
        </p:txBody>
      </p:sp>
      <p:sp>
        <p:nvSpPr>
          <p:cNvPr id="44" name="Text 41"/>
          <p:cNvSpPr txBox="1"/>
          <p:nvPr/>
        </p:nvSpPr>
        <p:spPr>
          <a:xfrm>
            <a:off x="3474720" y="2468880"/>
            <a:ext cx="182880" cy="182880"/>
          </a:xfrm>
          <a:prstGeom prst="rect">
            <a:avLst/>
          </a:prstGeom>
          <a:noFill/>
          <a:ln/>
        </p:spPr>
        <p:txBody>
          <a:bodyPr wrap="square" lIns="0" tIns="0" rIns="0" bIns="0" rtlCol="0" anchor="ctr"/>
          <a:lstStyle/>
          <a:p>
            <a:pPr algn="ctr" indent="0" marL="0">
              <a:buNone/>
            </a:pPr>
            <a:r>
              <a:rPr lang="en-US" sz="1100" b="1" dirty="0">
                <a:solidFill>
                  <a:schemeClr val="accent5"/>
                </a:solidFill>
              </a:rPr>
              <a:t>N</a:t>
            </a:r>
            <a:endParaRPr lang="en-US" sz="1100" dirty="0"/>
          </a:p>
        </p:txBody>
      </p:sp>
      <p:sp>
        <p:nvSpPr>
          <p:cNvPr id="45" name="Text 42"/>
          <p:cNvSpPr txBox="1"/>
          <p:nvPr/>
        </p:nvSpPr>
        <p:spPr>
          <a:xfrm>
            <a:off x="3657600" y="2468880"/>
            <a:ext cx="182880" cy="182880"/>
          </a:xfrm>
          <a:prstGeom prst="rect">
            <a:avLst/>
          </a:prstGeom>
          <a:noFill/>
          <a:ln/>
        </p:spPr>
        <p:txBody>
          <a:bodyPr wrap="square" lIns="0" tIns="0" rIns="0" bIns="0" rtlCol="0" anchor="ctr"/>
          <a:lstStyle/>
          <a:p>
            <a:pPr algn="ctr" indent="0" marL="0">
              <a:buNone/>
            </a:pPr>
            <a:r>
              <a:rPr lang="en-US" sz="1100" b="1" dirty="0">
                <a:solidFill>
                  <a:schemeClr val="accent5"/>
                </a:solidFill>
              </a:rPr>
              <a:t>1</a:t>
            </a:r>
            <a:endParaRPr lang="en-US" sz="1100" dirty="0"/>
          </a:p>
        </p:txBody>
      </p:sp>
      <p:sp>
        <p:nvSpPr>
          <p:cNvPr id="46" name="Text 43"/>
          <p:cNvSpPr txBox="1"/>
          <p:nvPr/>
        </p:nvSpPr>
        <p:spPr>
          <a:xfrm>
            <a:off x="5212080" y="2468880"/>
            <a:ext cx="182880" cy="182880"/>
          </a:xfrm>
          <a:prstGeom prst="rect">
            <a:avLst/>
          </a:prstGeom>
          <a:noFill/>
          <a:ln/>
        </p:spPr>
        <p:txBody>
          <a:bodyPr wrap="square" lIns="0" tIns="0" rIns="0" bIns="0" rtlCol="0" anchor="ctr"/>
          <a:lstStyle/>
          <a:p>
            <a:pPr algn="ctr" indent="0" marL="0">
              <a:buNone/>
            </a:pPr>
            <a:r>
              <a:rPr lang="en-US" sz="1100" b="1" dirty="0">
                <a:solidFill>
                  <a:schemeClr val="accent5"/>
                </a:solidFill>
              </a:rPr>
              <a:t>1</a:t>
            </a:r>
            <a:endParaRPr lang="en-US" sz="1100" dirty="0"/>
          </a:p>
        </p:txBody>
      </p:sp>
      <p:sp>
        <p:nvSpPr>
          <p:cNvPr id="47" name="Text 44"/>
          <p:cNvSpPr txBox="1"/>
          <p:nvPr/>
        </p:nvSpPr>
        <p:spPr>
          <a:xfrm>
            <a:off x="5394960" y="2468880"/>
            <a:ext cx="182880" cy="182880"/>
          </a:xfrm>
          <a:prstGeom prst="rect">
            <a:avLst/>
          </a:prstGeom>
          <a:noFill/>
          <a:ln/>
        </p:spPr>
        <p:txBody>
          <a:bodyPr wrap="square" lIns="0" tIns="0" rIns="0" bIns="0" rtlCol="0" anchor="ctr"/>
          <a:lstStyle/>
          <a:p>
            <a:pPr algn="ctr" indent="0" marL="0">
              <a:buNone/>
            </a:pPr>
            <a:r>
              <a:rPr lang="en-US" sz="1100" b="1" dirty="0">
                <a:solidFill>
                  <a:schemeClr val="accent5"/>
                </a:solidFill>
              </a:rPr>
              <a:t>N</a:t>
            </a:r>
            <a:endParaRPr lang="en-US" sz="1100" dirty="0"/>
          </a:p>
        </p:txBody>
      </p:sp>
      <p:sp>
        <p:nvSpPr>
          <p:cNvPr id="48" name="Text 45"/>
          <p:cNvSpPr txBox="1"/>
          <p:nvPr/>
        </p:nvSpPr>
        <p:spPr>
          <a:xfrm>
            <a:off x="7196328" y="2743200"/>
            <a:ext cx="182880" cy="182880"/>
          </a:xfrm>
          <a:prstGeom prst="rect">
            <a:avLst/>
          </a:prstGeom>
          <a:noFill/>
          <a:ln/>
        </p:spPr>
        <p:txBody>
          <a:bodyPr wrap="square" lIns="0" tIns="0" rIns="0" bIns="0" rtlCol="0" anchor="ctr"/>
          <a:lstStyle/>
          <a:p>
            <a:pPr algn="ctr" indent="0" marL="0">
              <a:buNone/>
            </a:pPr>
            <a:r>
              <a:rPr lang="en-US" sz="1100" b="1" dirty="0">
                <a:solidFill>
                  <a:schemeClr val="accent5"/>
                </a:solidFill>
              </a:rPr>
              <a:t>1</a:t>
            </a:r>
            <a:endParaRPr lang="en-US" sz="1100" dirty="0"/>
          </a:p>
        </p:txBody>
      </p:sp>
      <p:sp>
        <p:nvSpPr>
          <p:cNvPr id="49" name="Text 46"/>
          <p:cNvSpPr txBox="1"/>
          <p:nvPr/>
        </p:nvSpPr>
        <p:spPr>
          <a:xfrm>
            <a:off x="6976872" y="2743200"/>
            <a:ext cx="182880" cy="182880"/>
          </a:xfrm>
          <a:prstGeom prst="rect">
            <a:avLst/>
          </a:prstGeom>
          <a:noFill/>
          <a:ln/>
        </p:spPr>
        <p:txBody>
          <a:bodyPr wrap="square" lIns="0" tIns="0" rIns="0" bIns="0" rtlCol="0" anchor="ctr"/>
          <a:lstStyle/>
          <a:p>
            <a:pPr algn="ctr" indent="0" marL="0">
              <a:buNone/>
            </a:pPr>
            <a:r>
              <a:rPr lang="en-US" sz="1100" b="1" dirty="0">
                <a:solidFill>
                  <a:schemeClr val="accent5"/>
                </a:solidFill>
              </a:rPr>
              <a:t>N</a:t>
            </a:r>
            <a:endParaRPr lang="en-US" sz="1100" dirty="0"/>
          </a:p>
        </p:txBody>
      </p:sp>
      <p:sp>
        <p:nvSpPr>
          <p:cNvPr id="50" name="Text 47"/>
          <p:cNvSpPr txBox="1"/>
          <p:nvPr/>
        </p:nvSpPr>
        <p:spPr>
          <a:xfrm>
            <a:off x="6309360" y="3063240"/>
            <a:ext cx="182880" cy="182880"/>
          </a:xfrm>
          <a:prstGeom prst="rect">
            <a:avLst/>
          </a:prstGeom>
          <a:noFill/>
          <a:ln/>
        </p:spPr>
        <p:txBody>
          <a:bodyPr wrap="square" lIns="0" tIns="0" rIns="0" bIns="0" rtlCol="0" anchor="ctr"/>
          <a:lstStyle/>
          <a:p>
            <a:pPr algn="ctr" indent="0" marL="0">
              <a:buNone/>
            </a:pPr>
            <a:r>
              <a:rPr lang="en-US" sz="1100" b="1" dirty="0">
                <a:solidFill>
                  <a:schemeClr val="accent5"/>
                </a:solidFill>
              </a:rPr>
              <a:t>1</a:t>
            </a:r>
            <a:endParaRPr lang="en-US" sz="1100" dirty="0"/>
          </a:p>
        </p:txBody>
      </p:sp>
      <p:sp>
        <p:nvSpPr>
          <p:cNvPr id="51" name="Text 48"/>
          <p:cNvSpPr txBox="1"/>
          <p:nvPr/>
        </p:nvSpPr>
        <p:spPr>
          <a:xfrm>
            <a:off x="6309360" y="3337560"/>
            <a:ext cx="182880" cy="182880"/>
          </a:xfrm>
          <a:prstGeom prst="rect">
            <a:avLst/>
          </a:prstGeom>
          <a:noFill/>
          <a:ln/>
        </p:spPr>
        <p:txBody>
          <a:bodyPr wrap="square" lIns="0" tIns="0" rIns="0" bIns="0" rtlCol="0" anchor="ctr"/>
          <a:lstStyle/>
          <a:p>
            <a:pPr algn="ctr" indent="0" marL="0">
              <a:buNone/>
            </a:pPr>
            <a:r>
              <a:rPr lang="en-US" sz="1100" b="1" dirty="0">
                <a:solidFill>
                  <a:schemeClr val="accent5"/>
                </a:solidFill>
              </a:rPr>
              <a:t>N</a:t>
            </a:r>
            <a:endParaRPr lang="en-US" sz="1100" dirty="0"/>
          </a:p>
        </p:txBody>
      </p:sp>
      <p:sp>
        <p:nvSpPr>
          <p:cNvPr id="52" name="Text 49"/>
          <p:cNvSpPr txBox="1"/>
          <p:nvPr/>
        </p:nvSpPr>
        <p:spPr>
          <a:xfrm>
            <a:off x="4297680" y="2148840"/>
            <a:ext cx="182880" cy="182880"/>
          </a:xfrm>
          <a:prstGeom prst="rect">
            <a:avLst/>
          </a:prstGeom>
          <a:noFill/>
          <a:ln/>
        </p:spPr>
        <p:txBody>
          <a:bodyPr wrap="square" lIns="0" tIns="0" rIns="0" bIns="0" rtlCol="0" anchor="ctr"/>
          <a:lstStyle/>
          <a:p>
            <a:pPr algn="ctr" indent="0" marL="0">
              <a:buNone/>
            </a:pPr>
            <a:r>
              <a:rPr lang="en-US" sz="1100" b="1" dirty="0">
                <a:solidFill>
                  <a:schemeClr val="accent5"/>
                </a:solidFill>
              </a:rPr>
              <a:t>1</a:t>
            </a:r>
            <a:endParaRPr lang="en-US" sz="1100" dirty="0"/>
          </a:p>
        </p:txBody>
      </p:sp>
      <p:sp>
        <p:nvSpPr>
          <p:cNvPr id="53" name="Text 50"/>
          <p:cNvSpPr txBox="1"/>
          <p:nvPr/>
        </p:nvSpPr>
        <p:spPr>
          <a:xfrm>
            <a:off x="4297680" y="1874520"/>
            <a:ext cx="182880" cy="182880"/>
          </a:xfrm>
          <a:prstGeom prst="rect">
            <a:avLst/>
          </a:prstGeom>
          <a:noFill/>
          <a:ln/>
        </p:spPr>
        <p:txBody>
          <a:bodyPr wrap="square" lIns="0" tIns="0" rIns="0" bIns="0" rtlCol="0" anchor="ctr"/>
          <a:lstStyle/>
          <a:p>
            <a:pPr algn="ctr" indent="0" marL="0">
              <a:buNone/>
            </a:pPr>
            <a:r>
              <a:rPr lang="en-US" sz="1100" b="1" dirty="0">
                <a:solidFill>
                  <a:schemeClr val="accent5"/>
                </a:solidFill>
              </a:rPr>
              <a:t>N</a:t>
            </a:r>
            <a:endParaRPr lang="en-US" sz="1100" dirty="0"/>
          </a:p>
        </p:txBody>
      </p:sp>
      <p:sp>
        <p:nvSpPr>
          <p:cNvPr id="54" name="Text 51"/>
          <p:cNvSpPr txBox="1"/>
          <p:nvPr/>
        </p:nvSpPr>
        <p:spPr>
          <a:xfrm>
            <a:off x="4984619" y="2109221"/>
            <a:ext cx="182880" cy="182880"/>
          </a:xfrm>
          <a:prstGeom prst="rect">
            <a:avLst/>
          </a:prstGeom>
          <a:noFill/>
          <a:ln/>
        </p:spPr>
        <p:txBody>
          <a:bodyPr wrap="square" lIns="0" tIns="0" rIns="0" bIns="0" rtlCol="0" anchor="ctr"/>
          <a:lstStyle/>
          <a:p>
            <a:pPr algn="ctr" indent="0" marL="0">
              <a:buNone/>
            </a:pPr>
            <a:r>
              <a:rPr lang="en-US" sz="1100" b="1" dirty="0">
                <a:solidFill>
                  <a:schemeClr val="accent5"/>
                </a:solidFill>
              </a:rPr>
              <a:t>1</a:t>
            </a:r>
            <a:endParaRPr lang="en-US" sz="1100" dirty="0"/>
          </a:p>
        </p:txBody>
      </p:sp>
      <p:sp>
        <p:nvSpPr>
          <p:cNvPr id="55" name="Text 52"/>
          <p:cNvSpPr txBox="1"/>
          <p:nvPr/>
        </p:nvSpPr>
        <p:spPr>
          <a:xfrm>
            <a:off x="5865501" y="1668780"/>
            <a:ext cx="182880" cy="182880"/>
          </a:xfrm>
          <a:prstGeom prst="rect">
            <a:avLst/>
          </a:prstGeom>
          <a:noFill/>
          <a:ln/>
        </p:spPr>
        <p:txBody>
          <a:bodyPr wrap="square" lIns="0" tIns="0" rIns="0" bIns="0" rtlCol="0" anchor="ctr"/>
          <a:lstStyle/>
          <a:p>
            <a:pPr algn="ctr" indent="0" marL="0">
              <a:buNone/>
            </a:pPr>
            <a:r>
              <a:rPr lang="en-US" sz="1100" b="1" dirty="0">
                <a:solidFill>
                  <a:schemeClr val="accent5"/>
                </a:solidFill>
              </a:rPr>
              <a:t>N</a:t>
            </a:r>
            <a:endParaRPr lang="en-US" sz="1100" dirty="0"/>
          </a:p>
        </p:txBody>
      </p:sp>
      <p:sp>
        <p:nvSpPr>
          <p:cNvPr id="56" name="Text 53"/>
          <p:cNvSpPr txBox="1"/>
          <p:nvPr/>
        </p:nvSpPr>
        <p:spPr>
          <a:xfrm>
            <a:off x="4572000" y="3063240"/>
            <a:ext cx="182880" cy="182880"/>
          </a:xfrm>
          <a:prstGeom prst="rect">
            <a:avLst/>
          </a:prstGeom>
          <a:noFill/>
          <a:ln/>
        </p:spPr>
        <p:txBody>
          <a:bodyPr wrap="square" lIns="0" tIns="0" rIns="0" bIns="0" rtlCol="0" anchor="ctr"/>
          <a:lstStyle/>
          <a:p>
            <a:pPr algn="ctr" indent="0" marL="0">
              <a:buNone/>
            </a:pPr>
            <a:r>
              <a:rPr lang="en-US" sz="1100" b="1" dirty="0">
                <a:solidFill>
                  <a:schemeClr val="accent5"/>
                </a:solidFill>
              </a:rPr>
              <a:t>1</a:t>
            </a:r>
            <a:endParaRPr lang="en-US" sz="1100" dirty="0"/>
          </a:p>
        </p:txBody>
      </p:sp>
      <p:sp>
        <p:nvSpPr>
          <p:cNvPr id="57" name="Text 54"/>
          <p:cNvSpPr txBox="1"/>
          <p:nvPr/>
        </p:nvSpPr>
        <p:spPr>
          <a:xfrm>
            <a:off x="4572000" y="3337560"/>
            <a:ext cx="182880" cy="182880"/>
          </a:xfrm>
          <a:prstGeom prst="rect">
            <a:avLst/>
          </a:prstGeom>
          <a:noFill/>
          <a:ln/>
        </p:spPr>
        <p:txBody>
          <a:bodyPr wrap="square" lIns="0" tIns="0" rIns="0" bIns="0" rtlCol="0" anchor="ctr"/>
          <a:lstStyle/>
          <a:p>
            <a:pPr algn="ctr" indent="0" marL="0">
              <a:buNone/>
            </a:pPr>
            <a:r>
              <a:rPr lang="en-US" sz="1100" b="1" dirty="0">
                <a:solidFill>
                  <a:schemeClr val="accent5"/>
                </a:solidFill>
              </a:rPr>
              <a:t>N</a:t>
            </a:r>
            <a:endParaRPr lang="en-US" sz="1100" dirty="0"/>
          </a:p>
        </p:txBody>
      </p:sp>
      <p:sp>
        <p:nvSpPr>
          <p:cNvPr id="58" name="Text 55"/>
          <p:cNvSpPr txBox="1"/>
          <p:nvPr/>
        </p:nvSpPr>
        <p:spPr>
          <a:xfrm>
            <a:off x="3914233" y="3122239"/>
            <a:ext cx="182880" cy="182880"/>
          </a:xfrm>
          <a:prstGeom prst="rect">
            <a:avLst/>
          </a:prstGeom>
          <a:noFill/>
          <a:ln/>
        </p:spPr>
        <p:txBody>
          <a:bodyPr wrap="square" lIns="0" tIns="0" rIns="0" bIns="0" rtlCol="0" anchor="ctr"/>
          <a:lstStyle/>
          <a:p>
            <a:pPr algn="ctr" indent="0" marL="0">
              <a:buNone/>
            </a:pPr>
            <a:r>
              <a:rPr lang="en-US" sz="1100" b="1" dirty="0">
                <a:solidFill>
                  <a:schemeClr val="accent5"/>
                </a:solidFill>
              </a:rPr>
              <a:t>M</a:t>
            </a:r>
            <a:endParaRPr lang="en-US" sz="1100" dirty="0"/>
          </a:p>
        </p:txBody>
      </p:sp>
      <p:sp>
        <p:nvSpPr>
          <p:cNvPr id="59" name="Text 56"/>
          <p:cNvSpPr txBox="1"/>
          <p:nvPr/>
        </p:nvSpPr>
        <p:spPr>
          <a:xfrm>
            <a:off x="3322219" y="3508334"/>
            <a:ext cx="182880" cy="182880"/>
          </a:xfrm>
          <a:prstGeom prst="rect">
            <a:avLst/>
          </a:prstGeom>
          <a:noFill/>
          <a:ln/>
        </p:spPr>
        <p:txBody>
          <a:bodyPr wrap="square" lIns="0" tIns="0" rIns="0" bIns="0" rtlCol="0" anchor="ctr"/>
          <a:lstStyle/>
          <a:p>
            <a:pPr algn="ctr" indent="0" marL="0">
              <a:buNone/>
            </a:pPr>
            <a:r>
              <a:rPr lang="en-US" sz="1100" b="1" dirty="0">
                <a:solidFill>
                  <a:schemeClr val="accent5"/>
                </a:solidFill>
              </a:rPr>
              <a:t>N</a:t>
            </a:r>
            <a:endParaRPr lang="en-US" sz="1100" dirty="0"/>
          </a:p>
        </p:txBody>
      </p:sp>
      <p:sp>
        <p:nvSpPr>
          <p:cNvPr id="60" name="Text 57"/>
          <p:cNvSpPr txBox="1"/>
          <p:nvPr/>
        </p:nvSpPr>
        <p:spPr>
          <a:xfrm>
            <a:off x="1266793" y="2853517"/>
            <a:ext cx="182880" cy="182880"/>
          </a:xfrm>
          <a:prstGeom prst="rect">
            <a:avLst/>
          </a:prstGeom>
          <a:noFill/>
          <a:ln/>
        </p:spPr>
        <p:txBody>
          <a:bodyPr wrap="square" lIns="0" tIns="0" rIns="0" bIns="0" rtlCol="0" anchor="ctr"/>
          <a:lstStyle/>
          <a:p>
            <a:pPr algn="ctr" indent="0" marL="0">
              <a:buNone/>
            </a:pPr>
            <a:r>
              <a:rPr lang="en-US" sz="1100" b="1" dirty="0">
                <a:solidFill>
                  <a:schemeClr val="accent5"/>
                </a:solidFill>
              </a:rPr>
              <a:t>M</a:t>
            </a:r>
            <a:endParaRPr lang="en-US" sz="1100" dirty="0"/>
          </a:p>
        </p:txBody>
      </p:sp>
      <p:sp>
        <p:nvSpPr>
          <p:cNvPr id="61" name="Text 58"/>
          <p:cNvSpPr txBox="1"/>
          <p:nvPr/>
        </p:nvSpPr>
        <p:spPr>
          <a:xfrm>
            <a:off x="2190250" y="3300351"/>
            <a:ext cx="182880" cy="182880"/>
          </a:xfrm>
          <a:prstGeom prst="rect">
            <a:avLst/>
          </a:prstGeom>
          <a:noFill/>
          <a:ln/>
        </p:spPr>
        <p:txBody>
          <a:bodyPr wrap="square" lIns="0" tIns="0" rIns="0" bIns="0" rtlCol="0" anchor="ctr"/>
          <a:lstStyle/>
          <a:p>
            <a:pPr algn="ctr" indent="0" marL="0">
              <a:buNone/>
            </a:pPr>
            <a:r>
              <a:rPr lang="en-US" sz="1100" b="1" dirty="0">
                <a:solidFill>
                  <a:schemeClr val="accent5"/>
                </a:solidFill>
              </a:rPr>
              <a:t>N</a:t>
            </a:r>
            <a:endParaRPr lang="en-US" sz="1100" dirty="0"/>
          </a:p>
        </p:txBody>
      </p:sp>
      <p:sp>
        <p:nvSpPr>
          <p:cNvPr id="62" name="Legend swatch"/>
          <p:cNvSpPr/>
          <p:nvPr/>
        </p:nvSpPr>
        <p:spPr>
          <a:xfrm>
            <a:off x="457200" y="4434840"/>
            <a:ext cx="164592" cy="164592"/>
          </a:xfrm>
          <a:prstGeom prst="roundRect">
            <a:avLst>
              <a:gd name="adj" fmla="val 16667"/>
            </a:avLst>
          </a:prstGeom>
          <a:solidFill>
            <a:schemeClr val="accent3"/>
          </a:solidFill>
          <a:ln/>
        </p:spPr>
      </p:sp>
      <p:sp>
        <p:nvSpPr>
          <p:cNvPr id="63" name="Text 60"/>
          <p:cNvSpPr txBox="1"/>
          <p:nvPr/>
        </p:nvSpPr>
        <p:spPr>
          <a:xfrm>
            <a:off x="704088" y="4389120"/>
            <a:ext cx="1280160" cy="256032"/>
          </a:xfrm>
          <a:prstGeom prst="rect">
            <a:avLst/>
          </a:prstGeom>
          <a:noFill/>
          <a:ln/>
        </p:spPr>
        <p:txBody>
          <a:bodyPr wrap="square" lIns="0" tIns="0" rIns="0" bIns="0" rtlCol="0" anchor="ctr"/>
          <a:lstStyle/>
          <a:p>
            <a:pPr indent="0" marL="0">
              <a:buNone/>
            </a:pPr>
            <a:r>
              <a:rPr lang="en-US" sz="1200" dirty="0">
                <a:solidFill>
                  <a:schemeClr val="tx1"/>
                </a:solidFill>
              </a:rPr>
              <a:t>People and org</a:t>
            </a:r>
            <a:endParaRPr lang="en-US" sz="1200" dirty="0"/>
          </a:p>
        </p:txBody>
      </p:sp>
      <p:sp>
        <p:nvSpPr>
          <p:cNvPr id="64" name="Legend swatch"/>
          <p:cNvSpPr/>
          <p:nvPr/>
        </p:nvSpPr>
        <p:spPr>
          <a:xfrm>
            <a:off x="2057400" y="4434840"/>
            <a:ext cx="164592" cy="164592"/>
          </a:xfrm>
          <a:prstGeom prst="roundRect">
            <a:avLst>
              <a:gd name="adj" fmla="val 16667"/>
            </a:avLst>
          </a:prstGeom>
          <a:solidFill>
            <a:schemeClr val="accent1"/>
          </a:solidFill>
          <a:ln/>
        </p:spPr>
      </p:sp>
      <p:sp>
        <p:nvSpPr>
          <p:cNvPr id="65" name="Text 62"/>
          <p:cNvSpPr txBox="1"/>
          <p:nvPr/>
        </p:nvSpPr>
        <p:spPr>
          <a:xfrm>
            <a:off x="2304288" y="4389120"/>
            <a:ext cx="1280160" cy="256032"/>
          </a:xfrm>
          <a:prstGeom prst="rect">
            <a:avLst/>
          </a:prstGeom>
          <a:noFill/>
          <a:ln/>
        </p:spPr>
        <p:txBody>
          <a:bodyPr wrap="square" lIns="0" tIns="0" rIns="0" bIns="0" rtlCol="0" anchor="ctr"/>
          <a:lstStyle/>
          <a:p>
            <a:pPr indent="0" marL="0">
              <a:buNone/>
            </a:pPr>
            <a:r>
              <a:rPr lang="en-US" sz="1200" dirty="0">
                <a:solidFill>
                  <a:schemeClr val="tx1"/>
                </a:solidFill>
              </a:rPr>
              <a:t>Project core</a:t>
            </a:r>
            <a:endParaRPr lang="en-US" sz="1200" dirty="0"/>
          </a:p>
        </p:txBody>
      </p:sp>
      <p:sp>
        <p:nvSpPr>
          <p:cNvPr id="66" name="Legend swatch"/>
          <p:cNvSpPr/>
          <p:nvPr/>
        </p:nvSpPr>
        <p:spPr>
          <a:xfrm>
            <a:off x="3657600" y="4434840"/>
            <a:ext cx="164592" cy="164592"/>
          </a:xfrm>
          <a:prstGeom prst="roundRect">
            <a:avLst>
              <a:gd name="adj" fmla="val 16667"/>
            </a:avLst>
          </a:prstGeom>
          <a:solidFill>
            <a:schemeClr val="accent2"/>
          </a:solidFill>
          <a:ln/>
        </p:spPr>
      </p:sp>
      <p:sp>
        <p:nvSpPr>
          <p:cNvPr id="67" name="Text 64"/>
          <p:cNvSpPr txBox="1"/>
          <p:nvPr/>
        </p:nvSpPr>
        <p:spPr>
          <a:xfrm>
            <a:off x="3904488" y="4389120"/>
            <a:ext cx="1280160" cy="256032"/>
          </a:xfrm>
          <a:prstGeom prst="rect">
            <a:avLst/>
          </a:prstGeom>
          <a:noFill/>
          <a:ln/>
        </p:spPr>
        <p:txBody>
          <a:bodyPr wrap="square" lIns="0" tIns="0" rIns="0" bIns="0" rtlCol="0" anchor="ctr"/>
          <a:lstStyle/>
          <a:p>
            <a:pPr indent="0" marL="0">
              <a:buNone/>
            </a:pPr>
            <a:r>
              <a:rPr lang="en-US" sz="1200" dirty="0">
                <a:solidFill>
                  <a:schemeClr val="tx1"/>
                </a:solidFill>
              </a:rPr>
              <a:t>Funding</a:t>
            </a:r>
            <a:endParaRPr lang="en-US" sz="1200" dirty="0"/>
          </a:p>
        </p:txBody>
      </p:sp>
      <p:sp>
        <p:nvSpPr>
          <p:cNvPr id="68" name="Legend swatch"/>
          <p:cNvSpPr/>
          <p:nvPr/>
        </p:nvSpPr>
        <p:spPr>
          <a:xfrm>
            <a:off x="5257800" y="4434840"/>
            <a:ext cx="164592" cy="164592"/>
          </a:xfrm>
          <a:prstGeom prst="roundRect">
            <a:avLst>
              <a:gd name="adj" fmla="val 16667"/>
            </a:avLst>
          </a:prstGeom>
          <a:solidFill>
            <a:schemeClr val="accent4"/>
          </a:solidFill>
          <a:ln/>
        </p:spPr>
      </p:sp>
      <p:sp>
        <p:nvSpPr>
          <p:cNvPr id="69" name="Text 66"/>
          <p:cNvSpPr txBox="1"/>
          <p:nvPr/>
        </p:nvSpPr>
        <p:spPr>
          <a:xfrm>
            <a:off x="5504688" y="4389120"/>
            <a:ext cx="1280160" cy="256032"/>
          </a:xfrm>
          <a:prstGeom prst="rect">
            <a:avLst/>
          </a:prstGeom>
          <a:noFill/>
          <a:ln/>
        </p:spPr>
        <p:txBody>
          <a:bodyPr wrap="square" lIns="0" tIns="0" rIns="0" bIns="0" rtlCol="0" anchor="ctr"/>
          <a:lstStyle/>
          <a:p>
            <a:pPr indent="0" marL="0">
              <a:buNone/>
            </a:pPr>
            <a:r>
              <a:rPr lang="en-US" sz="1200" dirty="0">
                <a:solidFill>
                  <a:schemeClr val="tx1"/>
                </a:solidFill>
              </a:rPr>
              <a:t>Outputs</a:t>
            </a:r>
            <a:endParaRPr lang="en-US" sz="1200" dirty="0"/>
          </a:p>
        </p:txBody>
      </p:sp>
      <p:sp>
        <p:nvSpPr>
          <p:cNvPr id="70" name="Text 67"/>
          <p:cNvSpPr txBox="1"/>
          <p:nvPr/>
        </p:nvSpPr>
        <p:spPr>
          <a:xfrm>
            <a:off x="6858000" y="4389120"/>
            <a:ext cx="1828800" cy="256032"/>
          </a:xfrm>
          <a:prstGeom prst="rect">
            <a:avLst/>
          </a:prstGeom>
          <a:noFill/>
          <a:ln/>
        </p:spPr>
        <p:txBody>
          <a:bodyPr wrap="square" lIns="0" tIns="0" rIns="0" bIns="0" rtlCol="0" anchor="ctr"/>
          <a:lstStyle/>
          <a:p>
            <a:pPr algn="r" indent="0" marL="0">
              <a:buNone/>
            </a:pPr>
            <a:r>
              <a:rPr lang="en-US" sz="1200" dirty="0">
                <a:solidFill>
                  <a:schemeClr val="accent6"/>
                </a:solidFill>
              </a:rPr>
              <a:t>1 = one, N / M = many</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Relationships and Cardinality</a:t>
            </a:r>
            <a:endParaRPr lang="en-US" sz="3200" dirty="0"/>
          </a:p>
        </p:txBody>
      </p:sp>
      <p:graphicFrame>
        <p:nvGraphicFramePr>
          <p:cNvPr id="11" name="Relationships table"/>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3291840"/>
                <a:gridCol w="3291840"/>
                <a:gridCol w="1645920"/>
              </a:tblGrid>
              <a:tr h="274320">
                <a:tc>
                  <a:txBody>
                    <a:bodyPr/>
                    <a:lstStyle/>
                    <a:p>
                      <a:pPr indent="0" marL="0">
                        <a:buNone/>
                      </a:pPr>
                      <a:r>
                        <a:rPr lang="en-US" sz="1200" b="1" dirty="0">
                          <a:solidFill>
                            <a:schemeClr val="bg1"/>
                          </a:solidFill>
                        </a:rPr>
                        <a:t>Relationship</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Between</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Cardinality</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accent1"/>
                    </a:solidFill>
                  </a:tcPr>
                </a:tc>
              </a:tr>
              <a:tr h="274320">
                <a:tc>
                  <a:txBody>
                    <a:bodyPr/>
                    <a:lstStyle/>
                    <a:p>
                      <a:pPr indent="0" marL="0">
                        <a:buNone/>
                      </a:pPr>
                      <a:r>
                        <a:rPr lang="en-US" sz="1200" b="1" dirty="0">
                          <a:solidFill>
                            <a:schemeClr val="tx1"/>
                          </a:solidFill>
                        </a:rPr>
                        <a:t>Employs</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Department and Researcher</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 : N</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r>
              <a:tr h="274320">
                <a:tc>
                  <a:txBody>
                    <a:bodyPr/>
                    <a:lstStyle/>
                    <a:p>
                      <a:pPr indent="0" marL="0">
                        <a:buNone/>
                      </a:pPr>
                      <a:r>
                        <a:rPr lang="en-US" sz="1200" b="1" dirty="0">
                          <a:solidFill>
                            <a:schemeClr val="tx1"/>
                          </a:solidFill>
                        </a:rPr>
                        <a:t>Hosts</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Department and Project</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 : N</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r>
              <a:tr h="274320">
                <a:tc>
                  <a:txBody>
                    <a:bodyPr/>
                    <a:lstStyle/>
                    <a:p>
                      <a:pPr indent="0" marL="0">
                        <a:buNone/>
                      </a:pPr>
                      <a:r>
                        <a:rPr lang="en-US" sz="1200" b="1" dirty="0">
                          <a:solidFill>
                            <a:schemeClr val="tx1"/>
                          </a:solidFill>
                        </a:rPr>
                        <a:t>Assigned to (Investigator)</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Researcher and Project</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 : N</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r>
              <a:tr h="274320">
                <a:tc>
                  <a:txBody>
                    <a:bodyPr/>
                    <a:lstStyle/>
                    <a:p>
                      <a:pPr indent="0" marL="0">
                        <a:buNone/>
                      </a:pPr>
                      <a:r>
                        <a:rPr lang="en-US" sz="1200" b="1" dirty="0">
                          <a:solidFill>
                            <a:schemeClr val="tx1"/>
                          </a:solidFill>
                        </a:rPr>
                        <a:t>Awards</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Funding Agency and Grant</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 : N</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r>
              <a:tr h="274320">
                <a:tc>
                  <a:txBody>
                    <a:bodyPr/>
                    <a:lstStyle/>
                    <a:p>
                      <a:pPr indent="0" marL="0">
                        <a:buNone/>
                      </a:pPr>
                      <a:r>
                        <a:rPr lang="en-US" sz="1200" b="1" dirty="0">
                          <a:solidFill>
                            <a:schemeClr val="tx1"/>
                          </a:solidFill>
                        </a:rPr>
                        <a:t>Sanctioned for</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Project and Grant</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 : N</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r>
              <a:tr h="274320">
                <a:tc>
                  <a:txBody>
                    <a:bodyPr/>
                    <a:lstStyle/>
                    <a:p>
                      <a:pPr indent="0" marL="0">
                        <a:buNone/>
                      </a:pPr>
                      <a:r>
                        <a:rPr lang="en-US" sz="1200" b="1" dirty="0">
                          <a:solidFill>
                            <a:schemeClr val="tx1"/>
                          </a:solidFill>
                        </a:rPr>
                        <a:t>Charged to</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Grant and Expenditure</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 : N</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r>
              <a:tr h="274320">
                <a:tc>
                  <a:txBody>
                    <a:bodyPr/>
                    <a:lstStyle/>
                    <a:p>
                      <a:pPr indent="0" marL="0">
                        <a:buNone/>
                      </a:pPr>
                      <a:r>
                        <a:rPr lang="en-US" sz="1200" b="1" dirty="0">
                          <a:solidFill>
                            <a:schemeClr val="tx1"/>
                          </a:solidFill>
                        </a:rPr>
                        <a:t>Tracked by</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Project and Milestone</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 : N</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r>
              <a:tr h="274320">
                <a:tc>
                  <a:txBody>
                    <a:bodyPr/>
                    <a:lstStyle/>
                    <a:p>
                      <a:pPr indent="0" marL="0">
                        <a:buNone/>
                      </a:pPr>
                      <a:r>
                        <a:rPr lang="en-US" sz="1200" b="1" dirty="0">
                          <a:solidFill>
                            <a:schemeClr val="tx1"/>
                          </a:solidFill>
                        </a:rPr>
                        <a:t>Summarized in</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Project and Report</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 : N</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r>
              <a:tr h="274320">
                <a:tc>
                  <a:txBody>
                    <a:bodyPr/>
                    <a:lstStyle/>
                    <a:p>
                      <a:pPr indent="0" marL="0">
                        <a:buNone/>
                      </a:pPr>
                      <a:r>
                        <a:rPr lang="en-US" sz="1200" b="1" dirty="0">
                          <a:solidFill>
                            <a:schemeClr val="tx1"/>
                          </a:solidFill>
                        </a:rPr>
                        <a:t>Yields</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Project and Patent</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 : N</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r>
              <a:tr h="274320">
                <a:tc>
                  <a:txBody>
                    <a:bodyPr/>
                    <a:lstStyle/>
                    <a:p>
                      <a:pPr indent="0" marL="0">
                        <a:buNone/>
                      </a:pPr>
                      <a:r>
                        <a:rPr lang="en-US" sz="1200" b="1" dirty="0">
                          <a:solidFill>
                            <a:schemeClr val="tx1"/>
                          </a:solidFill>
                        </a:rPr>
                        <a:t>Linked to</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Project and Publication</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M : N</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2"/>
                    </a:solidFill>
                  </a:tcPr>
                </a:tc>
              </a:tr>
              <a:tr h="274320">
                <a:tc>
                  <a:txBody>
                    <a:bodyPr/>
                    <a:lstStyle/>
                    <a:p>
                      <a:pPr indent="0" marL="0">
                        <a:buNone/>
                      </a:pPr>
                      <a:r>
                        <a:rPr lang="en-US" sz="1200" b="1" dirty="0">
                          <a:solidFill>
                            <a:schemeClr val="tx1"/>
                          </a:solidFill>
                        </a:rPr>
                        <a:t>Authored</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Researcher and Publication</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 : N</a:t>
                      </a:r>
                      <a:endParaRPr lang="en-US" sz="1200" dirty="0"/>
                    </a:p>
                  </a:txBody>
                  <a:tcPr marL="73152" marR="73152" marT="27432" marB="27432" anchor="ctr">
                    <a:lnL w="6350" cap="flat" cmpd="sng" algn="ctr">
                      <a:solidFill>
                        <a:srgbClr val="CFE0E6"/>
                      </a:solidFill>
                      <a:prstDash val="solid"/>
                      <a:round/>
                      <a:headEnd type="none" w="med" len="med"/>
                      <a:tailEnd type="none" w="med" len="med"/>
                    </a:lnL>
                    <a:lnR w="6350" cap="flat" cmpd="sng" algn="ctr">
                      <a:solidFill>
                        <a:srgbClr val="CFE0E6"/>
                      </a:solidFill>
                      <a:prstDash val="solid"/>
                      <a:round/>
                      <a:headEnd type="none" w="med" len="med"/>
                      <a:tailEnd type="none" w="med" len="med"/>
                    </a:lnR>
                    <a:lnT w="6350" cap="flat" cmpd="sng" algn="ctr">
                      <a:solidFill>
                        <a:srgbClr val="CFE0E6"/>
                      </a:solidFill>
                      <a:prstDash val="solid"/>
                      <a:round/>
                      <a:headEnd type="none" w="med" len="med"/>
                      <a:tailEnd type="none" w="med" len="med"/>
                    </a:lnT>
                    <a:lnB w="6350" cap="flat" cmpd="sng" algn="ctr">
                      <a:solidFill>
                        <a:srgbClr val="CFE0E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Initial Schema: Core Tables</a:t>
            </a:r>
            <a:endParaRPr lang="en-US" sz="3200" dirty="0"/>
          </a:p>
        </p:txBody>
      </p:sp>
      <p:sp>
        <p:nvSpPr>
          <p:cNvPr id="4" name="Schema card department"/>
          <p:cNvSpPr/>
          <p:nvPr/>
        </p:nvSpPr>
        <p:spPr>
          <a:xfrm>
            <a:off x="457200" y="1143000"/>
            <a:ext cx="2651760" cy="1645920"/>
          </a:xfrm>
          <a:prstGeom prst="roundRect">
            <a:avLst>
              <a:gd name="adj" fmla="val 4444"/>
            </a:avLst>
          </a:prstGeom>
          <a:solidFill>
            <a:schemeClr val="bg2"/>
          </a:solidFill>
          <a:ln/>
        </p:spPr>
      </p:sp>
      <p:sp>
        <p:nvSpPr>
          <p:cNvPr id="5" name="Schema header department"/>
          <p:cNvSpPr/>
          <p:nvPr/>
        </p:nvSpPr>
        <p:spPr>
          <a:xfrm>
            <a:off x="457200" y="1143000"/>
            <a:ext cx="2651760" cy="329184"/>
          </a:xfrm>
          <a:prstGeom prst="roundRect">
            <a:avLst>
              <a:gd name="adj" fmla="val 22222"/>
            </a:avLst>
          </a:prstGeom>
          <a:solidFill>
            <a:schemeClr val="accent3"/>
          </a:solidFill>
          <a:ln/>
        </p:spPr>
      </p:sp>
      <p:sp>
        <p:nvSpPr>
          <p:cNvPr id="6" name="Text 3"/>
          <p:cNvSpPr txBox="1"/>
          <p:nvPr/>
        </p:nvSpPr>
        <p:spPr>
          <a:xfrm>
            <a:off x="566928" y="1143000"/>
            <a:ext cx="2468880" cy="329184"/>
          </a:xfrm>
          <a:prstGeom prst="rect">
            <a:avLst/>
          </a:prstGeom>
          <a:noFill/>
          <a:ln/>
        </p:spPr>
        <p:txBody>
          <a:bodyPr wrap="square" lIns="0" tIns="0" rIns="0" bIns="0" rtlCol="0" anchor="ctr"/>
          <a:lstStyle/>
          <a:p>
            <a:pPr indent="0" marL="0">
              <a:buNone/>
            </a:pPr>
            <a:r>
              <a:rPr lang="en-US" sz="1300" b="1" dirty="0">
                <a:solidFill>
                  <a:schemeClr val="bg1"/>
                </a:solidFill>
              </a:rPr>
              <a:t>department</a:t>
            </a:r>
            <a:endParaRPr lang="en-US" sz="1300" dirty="0"/>
          </a:p>
        </p:txBody>
      </p:sp>
      <p:sp>
        <p:nvSpPr>
          <p:cNvPr id="7" name="Text 4"/>
          <p:cNvSpPr txBox="1"/>
          <p:nvPr/>
        </p:nvSpPr>
        <p:spPr>
          <a:xfrm>
            <a:off x="566928" y="1545336"/>
            <a:ext cx="2468880" cy="1188720"/>
          </a:xfrm>
          <a:prstGeom prst="rect">
            <a:avLst/>
          </a:prstGeom>
          <a:noFill/>
          <a:ln/>
        </p:spPr>
        <p:txBody>
          <a:bodyPr wrap="square" lIns="0" tIns="0" rIns="0" bIns="0" rtlCol="0" anchor="t"/>
          <a:lstStyle/>
          <a:p>
            <a:pPr indent="0" marL="0">
              <a:buNone/>
            </a:pPr>
            <a:r>
              <a:rPr lang="en-US" sz="1200" b="1" dirty="0">
                <a:solidFill>
                  <a:schemeClr val="tx1"/>
                </a:solidFill>
              </a:rPr>
              <a:t>dept_id</a:t>
            </a:r>
            <a:pPr indent="0" marL="0">
              <a:buNone/>
            </a:pPr>
            <a:r>
              <a:rPr lang="en-US" sz="1000" b="1" dirty="0">
                <a:solidFill>
                  <a:schemeClr val="accent3"/>
                </a:solidFill>
              </a:rPr>
              <a:t>  PK</a:t>
            </a:r>
            <a:endParaRPr lang="en-US" sz="1200" dirty="0"/>
          </a:p>
          <a:p>
            <a:pPr indent="0" marL="0">
              <a:buNone/>
            </a:pPr>
            <a:r>
              <a:rPr lang="en-US" sz="1200" dirty="0">
                <a:solidFill>
                  <a:schemeClr val="tx1"/>
                </a:solidFill>
              </a:rPr>
              <a:t>dept_name</a:t>
            </a:r>
            <a:endParaRPr lang="en-US" sz="1200" dirty="0"/>
          </a:p>
          <a:p>
            <a:pPr indent="0" marL="0">
              <a:buNone/>
            </a:pPr>
            <a:r>
              <a:rPr lang="en-US" sz="1200" dirty="0">
                <a:solidFill>
                  <a:schemeClr val="tx1"/>
                </a:solidFill>
              </a:rPr>
              <a:t>hod_name</a:t>
            </a:r>
            <a:endParaRPr lang="en-US" sz="1200" dirty="0"/>
          </a:p>
          <a:p>
            <a:pPr indent="0" marL="0">
              <a:buNone/>
            </a:pPr>
            <a:r>
              <a:rPr lang="en-US" sz="1200" dirty="0">
                <a:solidFill>
                  <a:schemeClr val="tx1"/>
                </a:solidFill>
              </a:rPr>
              <a:t>building</a:t>
            </a:r>
            <a:endParaRPr lang="en-US" sz="1200" dirty="0"/>
          </a:p>
        </p:txBody>
      </p:sp>
      <p:sp>
        <p:nvSpPr>
          <p:cNvPr id="8" name="Schema card researcher"/>
          <p:cNvSpPr/>
          <p:nvPr/>
        </p:nvSpPr>
        <p:spPr>
          <a:xfrm>
            <a:off x="3246120" y="1143000"/>
            <a:ext cx="2651760" cy="1645920"/>
          </a:xfrm>
          <a:prstGeom prst="roundRect">
            <a:avLst>
              <a:gd name="adj" fmla="val 4444"/>
            </a:avLst>
          </a:prstGeom>
          <a:solidFill>
            <a:schemeClr val="bg2"/>
          </a:solidFill>
          <a:ln/>
        </p:spPr>
      </p:sp>
      <p:sp>
        <p:nvSpPr>
          <p:cNvPr id="9" name="Schema header researcher"/>
          <p:cNvSpPr/>
          <p:nvPr/>
        </p:nvSpPr>
        <p:spPr>
          <a:xfrm>
            <a:off x="3246120" y="1143000"/>
            <a:ext cx="2651760" cy="329184"/>
          </a:xfrm>
          <a:prstGeom prst="roundRect">
            <a:avLst>
              <a:gd name="adj" fmla="val 22222"/>
            </a:avLst>
          </a:prstGeom>
          <a:solidFill>
            <a:schemeClr val="accent3"/>
          </a:solidFill>
          <a:ln/>
        </p:spPr>
      </p:sp>
      <p:sp>
        <p:nvSpPr>
          <p:cNvPr id="10" name="Text 7"/>
          <p:cNvSpPr txBox="1"/>
          <p:nvPr/>
        </p:nvSpPr>
        <p:spPr>
          <a:xfrm>
            <a:off x="3355848" y="1143000"/>
            <a:ext cx="2468880" cy="329184"/>
          </a:xfrm>
          <a:prstGeom prst="rect">
            <a:avLst/>
          </a:prstGeom>
          <a:noFill/>
          <a:ln/>
        </p:spPr>
        <p:txBody>
          <a:bodyPr wrap="square" lIns="0" tIns="0" rIns="0" bIns="0" rtlCol="0" anchor="ctr"/>
          <a:lstStyle/>
          <a:p>
            <a:pPr indent="0" marL="0">
              <a:buNone/>
            </a:pPr>
            <a:r>
              <a:rPr lang="en-US" sz="1300" b="1" dirty="0">
                <a:solidFill>
                  <a:schemeClr val="bg1"/>
                </a:solidFill>
              </a:rPr>
              <a:t>researcher</a:t>
            </a:r>
            <a:endParaRPr lang="en-US" sz="1300" dirty="0"/>
          </a:p>
        </p:txBody>
      </p:sp>
      <p:sp>
        <p:nvSpPr>
          <p:cNvPr id="11" name="Text 8"/>
          <p:cNvSpPr txBox="1"/>
          <p:nvPr/>
        </p:nvSpPr>
        <p:spPr>
          <a:xfrm>
            <a:off x="3355848" y="1545336"/>
            <a:ext cx="2468880" cy="1188720"/>
          </a:xfrm>
          <a:prstGeom prst="rect">
            <a:avLst/>
          </a:prstGeom>
          <a:noFill/>
          <a:ln/>
        </p:spPr>
        <p:txBody>
          <a:bodyPr wrap="square" lIns="0" tIns="0" rIns="0" bIns="0" rtlCol="0" anchor="t"/>
          <a:lstStyle/>
          <a:p>
            <a:pPr indent="0" marL="0">
              <a:buNone/>
            </a:pPr>
            <a:r>
              <a:rPr lang="en-US" sz="1200" b="1" dirty="0">
                <a:solidFill>
                  <a:schemeClr val="tx1"/>
                </a:solidFill>
              </a:rPr>
              <a:t>researcher_id</a:t>
            </a:r>
            <a:pPr indent="0" marL="0">
              <a:buNone/>
            </a:pPr>
            <a:r>
              <a:rPr lang="en-US" sz="1000" b="1" dirty="0">
                <a:solidFill>
                  <a:schemeClr val="accent3"/>
                </a:solidFill>
              </a:rPr>
              <a:t>  PK</a:t>
            </a:r>
            <a:endParaRPr lang="en-US" sz="1200" dirty="0"/>
          </a:p>
          <a:p>
            <a:pPr indent="0" marL="0">
              <a:buNone/>
            </a:pPr>
            <a:r>
              <a:rPr lang="en-US" sz="1200" dirty="0">
                <a:solidFill>
                  <a:schemeClr val="tx1"/>
                </a:solidFill>
              </a:rPr>
              <a:t>full_name</a:t>
            </a:r>
            <a:endParaRPr lang="en-US" sz="1200" dirty="0"/>
          </a:p>
          <a:p>
            <a:pPr indent="0" marL="0">
              <a:buNone/>
            </a:pPr>
            <a:r>
              <a:rPr lang="en-US" sz="1200" dirty="0">
                <a:solidFill>
                  <a:schemeClr val="tx1"/>
                </a:solidFill>
              </a:rPr>
              <a:t>email</a:t>
            </a:r>
            <a:endParaRPr lang="en-US" sz="1200" dirty="0"/>
          </a:p>
          <a:p>
            <a:pPr indent="0" marL="0">
              <a:buNone/>
            </a:pPr>
            <a:r>
              <a:rPr lang="en-US" sz="1200" dirty="0">
                <a:solidFill>
                  <a:schemeClr val="tx1"/>
                </a:solidFill>
              </a:rPr>
              <a:t>designation</a:t>
            </a:r>
            <a:endParaRPr lang="en-US" sz="1200" dirty="0"/>
          </a:p>
          <a:p>
            <a:pPr indent="0" marL="0">
              <a:buNone/>
            </a:pPr>
            <a:r>
              <a:rPr lang="en-US" sz="1200" dirty="0">
                <a:solidFill>
                  <a:schemeClr val="tx1"/>
                </a:solidFill>
              </a:rPr>
              <a:t>dept_id</a:t>
            </a:r>
            <a:pPr indent="0" marL="0">
              <a:buNone/>
            </a:pPr>
            <a:r>
              <a:rPr lang="en-US" sz="1000" b="1" dirty="0">
                <a:solidFill>
                  <a:schemeClr val="accent5"/>
                </a:solidFill>
              </a:rPr>
              <a:t>  FK</a:t>
            </a:r>
            <a:endParaRPr lang="en-US" sz="1200" dirty="0"/>
          </a:p>
        </p:txBody>
      </p:sp>
      <p:sp>
        <p:nvSpPr>
          <p:cNvPr id="12" name="Schema card funding_agency"/>
          <p:cNvSpPr/>
          <p:nvPr/>
        </p:nvSpPr>
        <p:spPr>
          <a:xfrm>
            <a:off x="6035040" y="1143000"/>
            <a:ext cx="2651760" cy="1645920"/>
          </a:xfrm>
          <a:prstGeom prst="roundRect">
            <a:avLst>
              <a:gd name="adj" fmla="val 4444"/>
            </a:avLst>
          </a:prstGeom>
          <a:solidFill>
            <a:schemeClr val="bg2"/>
          </a:solidFill>
          <a:ln/>
        </p:spPr>
      </p:sp>
      <p:sp>
        <p:nvSpPr>
          <p:cNvPr id="13" name="Schema header funding_agency"/>
          <p:cNvSpPr/>
          <p:nvPr/>
        </p:nvSpPr>
        <p:spPr>
          <a:xfrm>
            <a:off x="6035040" y="1143000"/>
            <a:ext cx="2651760" cy="329184"/>
          </a:xfrm>
          <a:prstGeom prst="roundRect">
            <a:avLst>
              <a:gd name="adj" fmla="val 22222"/>
            </a:avLst>
          </a:prstGeom>
          <a:solidFill>
            <a:schemeClr val="accent6"/>
          </a:solidFill>
          <a:ln/>
        </p:spPr>
      </p:sp>
      <p:sp>
        <p:nvSpPr>
          <p:cNvPr id="14" name="Text 11"/>
          <p:cNvSpPr txBox="1"/>
          <p:nvPr/>
        </p:nvSpPr>
        <p:spPr>
          <a:xfrm>
            <a:off x="6144768" y="1143000"/>
            <a:ext cx="2468880" cy="329184"/>
          </a:xfrm>
          <a:prstGeom prst="rect">
            <a:avLst/>
          </a:prstGeom>
          <a:noFill/>
          <a:ln/>
        </p:spPr>
        <p:txBody>
          <a:bodyPr wrap="square" lIns="0" tIns="0" rIns="0" bIns="0" rtlCol="0" anchor="ctr"/>
          <a:lstStyle/>
          <a:p>
            <a:pPr indent="0" marL="0">
              <a:buNone/>
            </a:pPr>
            <a:r>
              <a:rPr lang="en-US" sz="1300" b="1" dirty="0">
                <a:solidFill>
                  <a:schemeClr val="bg1"/>
                </a:solidFill>
              </a:rPr>
              <a:t>funding_agency</a:t>
            </a:r>
            <a:endParaRPr lang="en-US" sz="1300" dirty="0"/>
          </a:p>
        </p:txBody>
      </p:sp>
      <p:sp>
        <p:nvSpPr>
          <p:cNvPr id="15" name="Text 12"/>
          <p:cNvSpPr txBox="1"/>
          <p:nvPr/>
        </p:nvSpPr>
        <p:spPr>
          <a:xfrm>
            <a:off x="6144768" y="1545336"/>
            <a:ext cx="2468880" cy="1188720"/>
          </a:xfrm>
          <a:prstGeom prst="rect">
            <a:avLst/>
          </a:prstGeom>
          <a:noFill/>
          <a:ln/>
        </p:spPr>
        <p:txBody>
          <a:bodyPr wrap="square" lIns="0" tIns="0" rIns="0" bIns="0" rtlCol="0" anchor="t"/>
          <a:lstStyle/>
          <a:p>
            <a:pPr indent="0" marL="0">
              <a:buNone/>
            </a:pPr>
            <a:r>
              <a:rPr lang="en-US" sz="1200" b="1" dirty="0">
                <a:solidFill>
                  <a:schemeClr val="tx1"/>
                </a:solidFill>
              </a:rPr>
              <a:t>agency_id</a:t>
            </a:r>
            <a:pPr indent="0" marL="0">
              <a:buNone/>
            </a:pPr>
            <a:r>
              <a:rPr lang="en-US" sz="1000" b="1" dirty="0">
                <a:solidFill>
                  <a:schemeClr val="accent3"/>
                </a:solidFill>
              </a:rPr>
              <a:t>  PK</a:t>
            </a:r>
            <a:endParaRPr lang="en-US" sz="1200" dirty="0"/>
          </a:p>
          <a:p>
            <a:pPr indent="0" marL="0">
              <a:buNone/>
            </a:pPr>
            <a:r>
              <a:rPr lang="en-US" sz="1200" dirty="0">
                <a:solidFill>
                  <a:schemeClr val="tx1"/>
                </a:solidFill>
              </a:rPr>
              <a:t>agency_name</a:t>
            </a:r>
            <a:endParaRPr lang="en-US" sz="1200" dirty="0"/>
          </a:p>
          <a:p>
            <a:pPr indent="0" marL="0">
              <a:buNone/>
            </a:pPr>
            <a:r>
              <a:rPr lang="en-US" sz="1200" dirty="0">
                <a:solidFill>
                  <a:schemeClr val="tx1"/>
                </a:solidFill>
              </a:rPr>
              <a:t>agency_type</a:t>
            </a:r>
            <a:endParaRPr lang="en-US" sz="1200" dirty="0"/>
          </a:p>
          <a:p>
            <a:pPr indent="0" marL="0">
              <a:buNone/>
            </a:pPr>
            <a:r>
              <a:rPr lang="en-US" sz="1200" dirty="0">
                <a:solidFill>
                  <a:schemeClr val="tx1"/>
                </a:solidFill>
              </a:rPr>
              <a:t>contact_email</a:t>
            </a:r>
            <a:endParaRPr lang="en-US" sz="1200" dirty="0"/>
          </a:p>
        </p:txBody>
      </p:sp>
      <p:sp>
        <p:nvSpPr>
          <p:cNvPr id="16" name="Schema card project"/>
          <p:cNvSpPr/>
          <p:nvPr/>
        </p:nvSpPr>
        <p:spPr>
          <a:xfrm>
            <a:off x="457200" y="2926080"/>
            <a:ext cx="2651760" cy="1645920"/>
          </a:xfrm>
          <a:prstGeom prst="roundRect">
            <a:avLst>
              <a:gd name="adj" fmla="val 4444"/>
            </a:avLst>
          </a:prstGeom>
          <a:solidFill>
            <a:schemeClr val="bg2"/>
          </a:solidFill>
          <a:ln/>
        </p:spPr>
      </p:sp>
      <p:sp>
        <p:nvSpPr>
          <p:cNvPr id="17" name="Schema header project"/>
          <p:cNvSpPr/>
          <p:nvPr/>
        </p:nvSpPr>
        <p:spPr>
          <a:xfrm>
            <a:off x="457200" y="2926080"/>
            <a:ext cx="2651760" cy="329184"/>
          </a:xfrm>
          <a:prstGeom prst="roundRect">
            <a:avLst>
              <a:gd name="adj" fmla="val 22222"/>
            </a:avLst>
          </a:prstGeom>
          <a:solidFill>
            <a:schemeClr val="accent1"/>
          </a:solidFill>
          <a:ln/>
        </p:spPr>
      </p:sp>
      <p:sp>
        <p:nvSpPr>
          <p:cNvPr id="18" name="Text 15"/>
          <p:cNvSpPr txBox="1"/>
          <p:nvPr/>
        </p:nvSpPr>
        <p:spPr>
          <a:xfrm>
            <a:off x="566928" y="2926080"/>
            <a:ext cx="2468880" cy="329184"/>
          </a:xfrm>
          <a:prstGeom prst="rect">
            <a:avLst/>
          </a:prstGeom>
          <a:noFill/>
          <a:ln/>
        </p:spPr>
        <p:txBody>
          <a:bodyPr wrap="square" lIns="0" tIns="0" rIns="0" bIns="0" rtlCol="0" anchor="ctr"/>
          <a:lstStyle/>
          <a:p>
            <a:pPr indent="0" marL="0">
              <a:buNone/>
            </a:pPr>
            <a:r>
              <a:rPr lang="en-US" sz="1300" b="1" dirty="0">
                <a:solidFill>
                  <a:schemeClr val="bg1"/>
                </a:solidFill>
              </a:rPr>
              <a:t>project</a:t>
            </a:r>
            <a:endParaRPr lang="en-US" sz="1300" dirty="0"/>
          </a:p>
        </p:txBody>
      </p:sp>
      <p:sp>
        <p:nvSpPr>
          <p:cNvPr id="19" name="Text 16"/>
          <p:cNvSpPr txBox="1"/>
          <p:nvPr/>
        </p:nvSpPr>
        <p:spPr>
          <a:xfrm>
            <a:off x="566928" y="3328416"/>
            <a:ext cx="2468880" cy="1188720"/>
          </a:xfrm>
          <a:prstGeom prst="rect">
            <a:avLst/>
          </a:prstGeom>
          <a:noFill/>
          <a:ln/>
        </p:spPr>
        <p:txBody>
          <a:bodyPr wrap="square" lIns="0" tIns="0" rIns="0" bIns="0" rtlCol="0" anchor="t"/>
          <a:lstStyle/>
          <a:p>
            <a:pPr indent="0" marL="0">
              <a:buNone/>
            </a:pPr>
            <a:r>
              <a:rPr lang="en-US" sz="1200" b="1" dirty="0">
                <a:solidFill>
                  <a:schemeClr val="tx1"/>
                </a:solidFill>
              </a:rPr>
              <a:t>project_id</a:t>
            </a:r>
            <a:pPr indent="0" marL="0">
              <a:buNone/>
            </a:pPr>
            <a:r>
              <a:rPr lang="en-US" sz="1000" b="1" dirty="0">
                <a:solidFill>
                  <a:schemeClr val="accent3"/>
                </a:solidFill>
              </a:rPr>
              <a:t>  PK</a:t>
            </a:r>
            <a:endParaRPr lang="en-US" sz="1200" dirty="0"/>
          </a:p>
          <a:p>
            <a:pPr indent="0" marL="0">
              <a:buNone/>
            </a:pPr>
            <a:r>
              <a:rPr lang="en-US" sz="1200" dirty="0">
                <a:solidFill>
                  <a:schemeClr val="tx1"/>
                </a:solidFill>
              </a:rPr>
              <a:t>title</a:t>
            </a:r>
            <a:endParaRPr lang="en-US" sz="1200" dirty="0"/>
          </a:p>
          <a:p>
            <a:pPr indent="0" marL="0">
              <a:buNone/>
            </a:pPr>
            <a:r>
              <a:rPr lang="en-US" sz="1200" dirty="0">
                <a:solidFill>
                  <a:schemeClr val="tx1"/>
                </a:solidFill>
              </a:rPr>
              <a:t>dept_id</a:t>
            </a:r>
            <a:pPr indent="0" marL="0">
              <a:buNone/>
            </a:pPr>
            <a:r>
              <a:rPr lang="en-US" sz="1000" b="1" dirty="0">
                <a:solidFill>
                  <a:schemeClr val="accent5"/>
                </a:solidFill>
              </a:rPr>
              <a:t>  FK</a:t>
            </a:r>
            <a:endParaRPr lang="en-US" sz="1200" dirty="0"/>
          </a:p>
          <a:p>
            <a:pPr indent="0" marL="0">
              <a:buNone/>
            </a:pPr>
            <a:r>
              <a:rPr lang="en-US" sz="1200" dirty="0">
                <a:solidFill>
                  <a:schemeClr val="tx1"/>
                </a:solidFill>
              </a:rPr>
              <a:t>start_date</a:t>
            </a:r>
            <a:endParaRPr lang="en-US" sz="1200" dirty="0"/>
          </a:p>
          <a:p>
            <a:pPr indent="0" marL="0">
              <a:buNone/>
            </a:pPr>
            <a:r>
              <a:rPr lang="en-US" sz="1200" dirty="0">
                <a:solidFill>
                  <a:schemeClr val="tx1"/>
                </a:solidFill>
              </a:rPr>
              <a:t>end_date</a:t>
            </a:r>
            <a:endParaRPr lang="en-US" sz="1200" dirty="0"/>
          </a:p>
          <a:p>
            <a:pPr indent="0" marL="0">
              <a:buNone/>
            </a:pPr>
            <a:r>
              <a:rPr lang="en-US" sz="1200" dirty="0">
                <a:solidFill>
                  <a:schemeClr val="tx1"/>
                </a:solidFill>
              </a:rPr>
              <a:t>status</a:t>
            </a:r>
            <a:endParaRPr lang="en-US" sz="1200" dirty="0"/>
          </a:p>
        </p:txBody>
      </p:sp>
      <p:sp>
        <p:nvSpPr>
          <p:cNvPr id="20" name="Schema card project_investigator"/>
          <p:cNvSpPr/>
          <p:nvPr/>
        </p:nvSpPr>
        <p:spPr>
          <a:xfrm>
            <a:off x="3246120" y="2926080"/>
            <a:ext cx="2651760" cy="1645920"/>
          </a:xfrm>
          <a:prstGeom prst="roundRect">
            <a:avLst>
              <a:gd name="adj" fmla="val 4444"/>
            </a:avLst>
          </a:prstGeom>
          <a:solidFill>
            <a:schemeClr val="bg2"/>
          </a:solidFill>
          <a:ln/>
        </p:spPr>
      </p:sp>
      <p:sp>
        <p:nvSpPr>
          <p:cNvPr id="21" name="Schema header project_investigator"/>
          <p:cNvSpPr/>
          <p:nvPr/>
        </p:nvSpPr>
        <p:spPr>
          <a:xfrm>
            <a:off x="3246120" y="2926080"/>
            <a:ext cx="2651760" cy="329184"/>
          </a:xfrm>
          <a:prstGeom prst="roundRect">
            <a:avLst>
              <a:gd name="adj" fmla="val 22222"/>
            </a:avLst>
          </a:prstGeom>
          <a:solidFill>
            <a:schemeClr val="accent1"/>
          </a:solidFill>
          <a:ln/>
        </p:spPr>
      </p:sp>
      <p:sp>
        <p:nvSpPr>
          <p:cNvPr id="22" name="Text 19"/>
          <p:cNvSpPr txBox="1"/>
          <p:nvPr/>
        </p:nvSpPr>
        <p:spPr>
          <a:xfrm>
            <a:off x="3355848" y="2926080"/>
            <a:ext cx="2468880" cy="329184"/>
          </a:xfrm>
          <a:prstGeom prst="rect">
            <a:avLst/>
          </a:prstGeom>
          <a:noFill/>
          <a:ln/>
        </p:spPr>
        <p:txBody>
          <a:bodyPr wrap="square" lIns="0" tIns="0" rIns="0" bIns="0" rtlCol="0" anchor="ctr"/>
          <a:lstStyle/>
          <a:p>
            <a:pPr indent="0" marL="0">
              <a:buNone/>
            </a:pPr>
            <a:r>
              <a:rPr lang="en-US" sz="1300" b="1" dirty="0">
                <a:solidFill>
                  <a:schemeClr val="bg1"/>
                </a:solidFill>
              </a:rPr>
              <a:t>project_investigator</a:t>
            </a:r>
            <a:endParaRPr lang="en-US" sz="1300" dirty="0"/>
          </a:p>
        </p:txBody>
      </p:sp>
      <p:sp>
        <p:nvSpPr>
          <p:cNvPr id="23" name="Text 20"/>
          <p:cNvSpPr txBox="1"/>
          <p:nvPr/>
        </p:nvSpPr>
        <p:spPr>
          <a:xfrm>
            <a:off x="3355848" y="3328416"/>
            <a:ext cx="2468880" cy="1188720"/>
          </a:xfrm>
          <a:prstGeom prst="rect">
            <a:avLst/>
          </a:prstGeom>
          <a:noFill/>
          <a:ln/>
        </p:spPr>
        <p:txBody>
          <a:bodyPr wrap="square" lIns="0" tIns="0" rIns="0" bIns="0" rtlCol="0" anchor="t"/>
          <a:lstStyle/>
          <a:p>
            <a:pPr indent="0" marL="0">
              <a:buNone/>
            </a:pPr>
            <a:r>
              <a:rPr lang="en-US" sz="1200" b="1" dirty="0">
                <a:solidFill>
                  <a:schemeClr val="tx1"/>
                </a:solidFill>
              </a:rPr>
              <a:t>project_id</a:t>
            </a:r>
            <a:pPr indent="0" marL="0">
              <a:buNone/>
            </a:pPr>
            <a:r>
              <a:rPr lang="en-US" sz="1000" b="1" dirty="0">
                <a:solidFill>
                  <a:schemeClr val="accent3"/>
                </a:solidFill>
              </a:rPr>
              <a:t>  PK, FK</a:t>
            </a:r>
            <a:endParaRPr lang="en-US" sz="1200" dirty="0"/>
          </a:p>
          <a:p>
            <a:pPr indent="0" marL="0">
              <a:buNone/>
            </a:pPr>
            <a:r>
              <a:rPr lang="en-US" sz="1200" b="1" dirty="0">
                <a:solidFill>
                  <a:schemeClr val="tx1"/>
                </a:solidFill>
              </a:rPr>
              <a:t>researcher_id</a:t>
            </a:r>
            <a:pPr indent="0" marL="0">
              <a:buNone/>
            </a:pPr>
            <a:r>
              <a:rPr lang="en-US" sz="1000" b="1" dirty="0">
                <a:solidFill>
                  <a:schemeClr val="accent3"/>
                </a:solidFill>
              </a:rPr>
              <a:t>  PK, FK</a:t>
            </a:r>
            <a:endParaRPr lang="en-US" sz="1200" dirty="0"/>
          </a:p>
          <a:p>
            <a:pPr indent="0" marL="0">
              <a:buNone/>
            </a:pPr>
            <a:r>
              <a:rPr lang="en-US" sz="1200" dirty="0">
                <a:solidFill>
                  <a:schemeClr val="tx1"/>
                </a:solidFill>
              </a:rPr>
              <a:t>role</a:t>
            </a:r>
            <a:endParaRPr lang="en-US" sz="1200" dirty="0"/>
          </a:p>
          <a:p>
            <a:pPr indent="0" marL="0">
              <a:buNone/>
            </a:pPr>
            <a:r>
              <a:rPr lang="en-US" sz="1200" dirty="0">
                <a:solidFill>
                  <a:schemeClr val="tx1"/>
                </a:solidFill>
              </a:rPr>
              <a:t>assigned_on</a:t>
            </a:r>
            <a:endParaRPr lang="en-US" sz="1200" dirty="0"/>
          </a:p>
        </p:txBody>
      </p:sp>
      <p:sp>
        <p:nvSpPr>
          <p:cNvPr id="24" name="Schema card grant_award"/>
          <p:cNvSpPr/>
          <p:nvPr/>
        </p:nvSpPr>
        <p:spPr>
          <a:xfrm>
            <a:off x="6035040" y="2926080"/>
            <a:ext cx="2651760" cy="1645920"/>
          </a:xfrm>
          <a:prstGeom prst="roundRect">
            <a:avLst>
              <a:gd name="adj" fmla="val 4444"/>
            </a:avLst>
          </a:prstGeom>
          <a:solidFill>
            <a:schemeClr val="bg2"/>
          </a:solidFill>
          <a:ln/>
        </p:spPr>
      </p:sp>
      <p:sp>
        <p:nvSpPr>
          <p:cNvPr id="25" name="Schema header grant_award"/>
          <p:cNvSpPr/>
          <p:nvPr/>
        </p:nvSpPr>
        <p:spPr>
          <a:xfrm>
            <a:off x="6035040" y="2926080"/>
            <a:ext cx="2651760" cy="329184"/>
          </a:xfrm>
          <a:prstGeom prst="roundRect">
            <a:avLst>
              <a:gd name="adj" fmla="val 22222"/>
            </a:avLst>
          </a:prstGeom>
          <a:solidFill>
            <a:schemeClr val="accent6"/>
          </a:solidFill>
          <a:ln/>
        </p:spPr>
      </p:sp>
      <p:sp>
        <p:nvSpPr>
          <p:cNvPr id="26" name="Text 23"/>
          <p:cNvSpPr txBox="1"/>
          <p:nvPr/>
        </p:nvSpPr>
        <p:spPr>
          <a:xfrm>
            <a:off x="6144768" y="2926080"/>
            <a:ext cx="2468880" cy="329184"/>
          </a:xfrm>
          <a:prstGeom prst="rect">
            <a:avLst/>
          </a:prstGeom>
          <a:noFill/>
          <a:ln/>
        </p:spPr>
        <p:txBody>
          <a:bodyPr wrap="square" lIns="0" tIns="0" rIns="0" bIns="0" rtlCol="0" anchor="ctr"/>
          <a:lstStyle/>
          <a:p>
            <a:pPr indent="0" marL="0">
              <a:buNone/>
            </a:pPr>
            <a:r>
              <a:rPr lang="en-US" sz="1300" b="1" dirty="0">
                <a:solidFill>
                  <a:schemeClr val="bg1"/>
                </a:solidFill>
              </a:rPr>
              <a:t>grant_award</a:t>
            </a:r>
            <a:endParaRPr lang="en-US" sz="1300" dirty="0"/>
          </a:p>
        </p:txBody>
      </p:sp>
      <p:sp>
        <p:nvSpPr>
          <p:cNvPr id="27" name="Text 24"/>
          <p:cNvSpPr txBox="1"/>
          <p:nvPr/>
        </p:nvSpPr>
        <p:spPr>
          <a:xfrm>
            <a:off x="6144768" y="3328416"/>
            <a:ext cx="2468880" cy="1188720"/>
          </a:xfrm>
          <a:prstGeom prst="rect">
            <a:avLst/>
          </a:prstGeom>
          <a:noFill/>
          <a:ln/>
        </p:spPr>
        <p:txBody>
          <a:bodyPr wrap="square" lIns="0" tIns="0" rIns="0" bIns="0" rtlCol="0" anchor="t"/>
          <a:lstStyle/>
          <a:p>
            <a:pPr indent="0" marL="0">
              <a:buNone/>
            </a:pPr>
            <a:r>
              <a:rPr lang="en-US" sz="1200" b="1" dirty="0">
                <a:solidFill>
                  <a:schemeClr val="tx1"/>
                </a:solidFill>
              </a:rPr>
              <a:t>grant_id</a:t>
            </a:r>
            <a:pPr indent="0" marL="0">
              <a:buNone/>
            </a:pPr>
            <a:r>
              <a:rPr lang="en-US" sz="1000" b="1" dirty="0">
                <a:solidFill>
                  <a:schemeClr val="accent3"/>
                </a:solidFill>
              </a:rPr>
              <a:t>  PK</a:t>
            </a:r>
            <a:endParaRPr lang="en-US" sz="1200" dirty="0"/>
          </a:p>
          <a:p>
            <a:pPr indent="0" marL="0">
              <a:buNone/>
            </a:pPr>
            <a:r>
              <a:rPr lang="en-US" sz="1200" dirty="0">
                <a:solidFill>
                  <a:schemeClr val="tx1"/>
                </a:solidFill>
              </a:rPr>
              <a:t>project_id</a:t>
            </a:r>
            <a:pPr indent="0" marL="0">
              <a:buNone/>
            </a:pPr>
            <a:r>
              <a:rPr lang="en-US" sz="1000" b="1" dirty="0">
                <a:solidFill>
                  <a:schemeClr val="accent5"/>
                </a:solidFill>
              </a:rPr>
              <a:t>  FK</a:t>
            </a:r>
            <a:endParaRPr lang="en-US" sz="1200" dirty="0"/>
          </a:p>
          <a:p>
            <a:pPr indent="0" marL="0">
              <a:buNone/>
            </a:pPr>
            <a:r>
              <a:rPr lang="en-US" sz="1200" dirty="0">
                <a:solidFill>
                  <a:schemeClr val="tx1"/>
                </a:solidFill>
              </a:rPr>
              <a:t>agency_id</a:t>
            </a:r>
            <a:pPr indent="0" marL="0">
              <a:buNone/>
            </a:pPr>
            <a:r>
              <a:rPr lang="en-US" sz="1000" b="1" dirty="0">
                <a:solidFill>
                  <a:schemeClr val="accent5"/>
                </a:solidFill>
              </a:rPr>
              <a:t>  FK</a:t>
            </a:r>
            <a:endParaRPr lang="en-US" sz="1200" dirty="0"/>
          </a:p>
          <a:p>
            <a:pPr indent="0" marL="0">
              <a:buNone/>
            </a:pPr>
            <a:r>
              <a:rPr lang="en-US" sz="1200" dirty="0">
                <a:solidFill>
                  <a:schemeClr val="tx1"/>
                </a:solidFill>
              </a:rPr>
              <a:t>grant_amount</a:t>
            </a:r>
            <a:endParaRPr lang="en-US" sz="1200" dirty="0"/>
          </a:p>
          <a:p>
            <a:pPr indent="0" marL="0">
              <a:buNone/>
            </a:pPr>
            <a:r>
              <a:rPr lang="en-US" sz="1200" dirty="0">
                <a:solidFill>
                  <a:schemeClr val="tx1"/>
                </a:solidFill>
              </a:rPr>
              <a:t>sanction_date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Initial Schema: Activity and Output</a:t>
            </a:r>
            <a:endParaRPr lang="en-US" sz="3200" dirty="0"/>
          </a:p>
        </p:txBody>
      </p:sp>
      <p:sp>
        <p:nvSpPr>
          <p:cNvPr id="4" name="Schema card milestone"/>
          <p:cNvSpPr/>
          <p:nvPr/>
        </p:nvSpPr>
        <p:spPr>
          <a:xfrm>
            <a:off x="457200" y="1143000"/>
            <a:ext cx="1920240" cy="1645920"/>
          </a:xfrm>
          <a:prstGeom prst="roundRect">
            <a:avLst>
              <a:gd name="adj" fmla="val 4444"/>
            </a:avLst>
          </a:prstGeom>
          <a:solidFill>
            <a:schemeClr val="bg2"/>
          </a:solidFill>
          <a:ln/>
        </p:spPr>
      </p:sp>
      <p:sp>
        <p:nvSpPr>
          <p:cNvPr id="5" name="Schema header milestone"/>
          <p:cNvSpPr/>
          <p:nvPr/>
        </p:nvSpPr>
        <p:spPr>
          <a:xfrm>
            <a:off x="457200" y="1143000"/>
            <a:ext cx="1920240" cy="329184"/>
          </a:xfrm>
          <a:prstGeom prst="roundRect">
            <a:avLst>
              <a:gd name="adj" fmla="val 22222"/>
            </a:avLst>
          </a:prstGeom>
          <a:solidFill>
            <a:schemeClr val="accent1"/>
          </a:solidFill>
          <a:ln/>
        </p:spPr>
      </p:sp>
      <p:sp>
        <p:nvSpPr>
          <p:cNvPr id="6" name="Text 3"/>
          <p:cNvSpPr txBox="1"/>
          <p:nvPr/>
        </p:nvSpPr>
        <p:spPr>
          <a:xfrm>
            <a:off x="566928" y="1143000"/>
            <a:ext cx="1737360" cy="329184"/>
          </a:xfrm>
          <a:prstGeom prst="rect">
            <a:avLst/>
          </a:prstGeom>
          <a:noFill/>
          <a:ln/>
        </p:spPr>
        <p:txBody>
          <a:bodyPr wrap="square" lIns="0" tIns="0" rIns="0" bIns="0" rtlCol="0" anchor="ctr"/>
          <a:lstStyle/>
          <a:p>
            <a:pPr indent="0" marL="0">
              <a:buNone/>
            </a:pPr>
            <a:r>
              <a:rPr lang="en-US" sz="1300" b="1" dirty="0">
                <a:solidFill>
                  <a:schemeClr val="bg1"/>
                </a:solidFill>
              </a:rPr>
              <a:t>milestone</a:t>
            </a:r>
            <a:endParaRPr lang="en-US" sz="1300" dirty="0"/>
          </a:p>
        </p:txBody>
      </p:sp>
      <p:sp>
        <p:nvSpPr>
          <p:cNvPr id="7" name="Text 4"/>
          <p:cNvSpPr txBox="1"/>
          <p:nvPr/>
        </p:nvSpPr>
        <p:spPr>
          <a:xfrm>
            <a:off x="566928" y="1545336"/>
            <a:ext cx="1737360" cy="1188720"/>
          </a:xfrm>
          <a:prstGeom prst="rect">
            <a:avLst/>
          </a:prstGeom>
          <a:noFill/>
          <a:ln/>
        </p:spPr>
        <p:txBody>
          <a:bodyPr wrap="square" lIns="0" tIns="0" rIns="0" bIns="0" rtlCol="0" anchor="t"/>
          <a:lstStyle/>
          <a:p>
            <a:pPr indent="0" marL="0">
              <a:buNone/>
            </a:pPr>
            <a:r>
              <a:rPr lang="en-US" sz="1200" b="1" dirty="0">
                <a:solidFill>
                  <a:schemeClr val="tx1"/>
                </a:solidFill>
              </a:rPr>
              <a:t>milestone_id</a:t>
            </a:r>
            <a:pPr indent="0" marL="0">
              <a:buNone/>
            </a:pPr>
            <a:r>
              <a:rPr lang="en-US" sz="1000" b="1" dirty="0">
                <a:solidFill>
                  <a:schemeClr val="accent3"/>
                </a:solidFill>
              </a:rPr>
              <a:t>  PK</a:t>
            </a:r>
            <a:endParaRPr lang="en-US" sz="1200" dirty="0"/>
          </a:p>
          <a:p>
            <a:pPr indent="0" marL="0">
              <a:buNone/>
            </a:pPr>
            <a:r>
              <a:rPr lang="en-US" sz="1200" dirty="0">
                <a:solidFill>
                  <a:schemeClr val="tx1"/>
                </a:solidFill>
              </a:rPr>
              <a:t>project_id</a:t>
            </a:r>
            <a:pPr indent="0" marL="0">
              <a:buNone/>
            </a:pPr>
            <a:r>
              <a:rPr lang="en-US" sz="1000" b="1" dirty="0">
                <a:solidFill>
                  <a:schemeClr val="accent5"/>
                </a:solidFill>
              </a:rPr>
              <a:t>  FK</a:t>
            </a:r>
            <a:endParaRPr lang="en-US" sz="1200" dirty="0"/>
          </a:p>
          <a:p>
            <a:pPr indent="0" marL="0">
              <a:buNone/>
            </a:pPr>
            <a:r>
              <a:rPr lang="en-US" sz="1200" dirty="0">
                <a:solidFill>
                  <a:schemeClr val="tx1"/>
                </a:solidFill>
              </a:rPr>
              <a:t>title</a:t>
            </a:r>
            <a:endParaRPr lang="en-US" sz="1200" dirty="0"/>
          </a:p>
          <a:p>
            <a:pPr indent="0" marL="0">
              <a:buNone/>
            </a:pPr>
            <a:r>
              <a:rPr lang="en-US" sz="1200" dirty="0">
                <a:solidFill>
                  <a:schemeClr val="tx1"/>
                </a:solidFill>
              </a:rPr>
              <a:t>due_date</a:t>
            </a:r>
            <a:endParaRPr lang="en-US" sz="1200" dirty="0"/>
          </a:p>
          <a:p>
            <a:pPr indent="0" marL="0">
              <a:buNone/>
            </a:pPr>
            <a:r>
              <a:rPr lang="en-US" sz="1200" dirty="0">
                <a:solidFill>
                  <a:schemeClr val="tx1"/>
                </a:solidFill>
              </a:rPr>
              <a:t>status</a:t>
            </a:r>
            <a:endParaRPr lang="en-US" sz="1200" dirty="0"/>
          </a:p>
        </p:txBody>
      </p:sp>
      <p:sp>
        <p:nvSpPr>
          <p:cNvPr id="8" name="Schema card expenditure"/>
          <p:cNvSpPr/>
          <p:nvPr/>
        </p:nvSpPr>
        <p:spPr>
          <a:xfrm>
            <a:off x="2560320" y="1143000"/>
            <a:ext cx="1920240" cy="1645920"/>
          </a:xfrm>
          <a:prstGeom prst="roundRect">
            <a:avLst>
              <a:gd name="adj" fmla="val 4444"/>
            </a:avLst>
          </a:prstGeom>
          <a:solidFill>
            <a:schemeClr val="bg2"/>
          </a:solidFill>
          <a:ln/>
        </p:spPr>
      </p:sp>
      <p:sp>
        <p:nvSpPr>
          <p:cNvPr id="9" name="Schema header expenditure"/>
          <p:cNvSpPr/>
          <p:nvPr/>
        </p:nvSpPr>
        <p:spPr>
          <a:xfrm>
            <a:off x="2560320" y="1143000"/>
            <a:ext cx="1920240" cy="329184"/>
          </a:xfrm>
          <a:prstGeom prst="roundRect">
            <a:avLst>
              <a:gd name="adj" fmla="val 22222"/>
            </a:avLst>
          </a:prstGeom>
          <a:solidFill>
            <a:schemeClr val="accent6"/>
          </a:solidFill>
          <a:ln/>
        </p:spPr>
      </p:sp>
      <p:sp>
        <p:nvSpPr>
          <p:cNvPr id="10" name="Text 7"/>
          <p:cNvSpPr txBox="1"/>
          <p:nvPr/>
        </p:nvSpPr>
        <p:spPr>
          <a:xfrm>
            <a:off x="2670048" y="1143000"/>
            <a:ext cx="1737360" cy="329184"/>
          </a:xfrm>
          <a:prstGeom prst="rect">
            <a:avLst/>
          </a:prstGeom>
          <a:noFill/>
          <a:ln/>
        </p:spPr>
        <p:txBody>
          <a:bodyPr wrap="square" lIns="0" tIns="0" rIns="0" bIns="0" rtlCol="0" anchor="ctr"/>
          <a:lstStyle/>
          <a:p>
            <a:pPr indent="0" marL="0">
              <a:buNone/>
            </a:pPr>
            <a:r>
              <a:rPr lang="en-US" sz="1300" b="1" dirty="0">
                <a:solidFill>
                  <a:schemeClr val="bg1"/>
                </a:solidFill>
              </a:rPr>
              <a:t>expenditure</a:t>
            </a:r>
            <a:endParaRPr lang="en-US" sz="1300" dirty="0"/>
          </a:p>
        </p:txBody>
      </p:sp>
      <p:sp>
        <p:nvSpPr>
          <p:cNvPr id="11" name="Text 8"/>
          <p:cNvSpPr txBox="1"/>
          <p:nvPr/>
        </p:nvSpPr>
        <p:spPr>
          <a:xfrm>
            <a:off x="2670048" y="1545336"/>
            <a:ext cx="1737360" cy="1188720"/>
          </a:xfrm>
          <a:prstGeom prst="rect">
            <a:avLst/>
          </a:prstGeom>
          <a:noFill/>
          <a:ln/>
        </p:spPr>
        <p:txBody>
          <a:bodyPr wrap="square" lIns="0" tIns="0" rIns="0" bIns="0" rtlCol="0" anchor="t"/>
          <a:lstStyle/>
          <a:p>
            <a:pPr indent="0" marL="0">
              <a:buNone/>
            </a:pPr>
            <a:r>
              <a:rPr lang="en-US" sz="1200" b="1" dirty="0">
                <a:solidFill>
                  <a:schemeClr val="tx1"/>
                </a:solidFill>
              </a:rPr>
              <a:t>expense_id</a:t>
            </a:r>
            <a:pPr indent="0" marL="0">
              <a:buNone/>
            </a:pPr>
            <a:r>
              <a:rPr lang="en-US" sz="1000" b="1" dirty="0">
                <a:solidFill>
                  <a:schemeClr val="accent3"/>
                </a:solidFill>
              </a:rPr>
              <a:t>  PK</a:t>
            </a:r>
            <a:endParaRPr lang="en-US" sz="1200" dirty="0"/>
          </a:p>
          <a:p>
            <a:pPr indent="0" marL="0">
              <a:buNone/>
            </a:pPr>
            <a:r>
              <a:rPr lang="en-US" sz="1200" dirty="0">
                <a:solidFill>
                  <a:schemeClr val="tx1"/>
                </a:solidFill>
              </a:rPr>
              <a:t>grant_id</a:t>
            </a:r>
            <a:pPr indent="0" marL="0">
              <a:buNone/>
            </a:pPr>
            <a:r>
              <a:rPr lang="en-US" sz="1000" b="1" dirty="0">
                <a:solidFill>
                  <a:schemeClr val="accent5"/>
                </a:solidFill>
              </a:rPr>
              <a:t>  FK</a:t>
            </a:r>
            <a:endParaRPr lang="en-US" sz="1200" dirty="0"/>
          </a:p>
          <a:p>
            <a:pPr indent="0" marL="0">
              <a:buNone/>
            </a:pPr>
            <a:r>
              <a:rPr lang="en-US" sz="1200" dirty="0">
                <a:solidFill>
                  <a:schemeClr val="tx1"/>
                </a:solidFill>
              </a:rPr>
              <a:t>category</a:t>
            </a:r>
            <a:endParaRPr lang="en-US" sz="1200" dirty="0"/>
          </a:p>
          <a:p>
            <a:pPr indent="0" marL="0">
              <a:buNone/>
            </a:pPr>
            <a:r>
              <a:rPr lang="en-US" sz="1200" dirty="0">
                <a:solidFill>
                  <a:schemeClr val="tx1"/>
                </a:solidFill>
              </a:rPr>
              <a:t>amount</a:t>
            </a:r>
            <a:endParaRPr lang="en-US" sz="1200" dirty="0"/>
          </a:p>
          <a:p>
            <a:pPr indent="0" marL="0">
              <a:buNone/>
            </a:pPr>
            <a:r>
              <a:rPr lang="en-US" sz="1200" dirty="0">
                <a:solidFill>
                  <a:schemeClr val="tx1"/>
                </a:solidFill>
              </a:rPr>
              <a:t>spent_on</a:t>
            </a:r>
            <a:endParaRPr lang="en-US" sz="1200" dirty="0"/>
          </a:p>
        </p:txBody>
      </p:sp>
      <p:sp>
        <p:nvSpPr>
          <p:cNvPr id="12" name="Schema card publication"/>
          <p:cNvSpPr/>
          <p:nvPr/>
        </p:nvSpPr>
        <p:spPr>
          <a:xfrm>
            <a:off x="4663440" y="1143000"/>
            <a:ext cx="1920240" cy="1645920"/>
          </a:xfrm>
          <a:prstGeom prst="roundRect">
            <a:avLst>
              <a:gd name="adj" fmla="val 4444"/>
            </a:avLst>
          </a:prstGeom>
          <a:solidFill>
            <a:schemeClr val="bg2"/>
          </a:solidFill>
          <a:ln/>
        </p:spPr>
      </p:sp>
      <p:sp>
        <p:nvSpPr>
          <p:cNvPr id="13" name="Schema header publication"/>
          <p:cNvSpPr/>
          <p:nvPr/>
        </p:nvSpPr>
        <p:spPr>
          <a:xfrm>
            <a:off x="4663440" y="1143000"/>
            <a:ext cx="1920240" cy="329184"/>
          </a:xfrm>
          <a:prstGeom prst="roundRect">
            <a:avLst>
              <a:gd name="adj" fmla="val 22222"/>
            </a:avLst>
          </a:prstGeom>
          <a:solidFill>
            <a:schemeClr val="accent4"/>
          </a:solidFill>
          <a:ln/>
        </p:spPr>
      </p:sp>
      <p:sp>
        <p:nvSpPr>
          <p:cNvPr id="14" name="Text 11"/>
          <p:cNvSpPr txBox="1"/>
          <p:nvPr/>
        </p:nvSpPr>
        <p:spPr>
          <a:xfrm>
            <a:off x="4773168" y="1143000"/>
            <a:ext cx="1737360" cy="329184"/>
          </a:xfrm>
          <a:prstGeom prst="rect">
            <a:avLst/>
          </a:prstGeom>
          <a:noFill/>
          <a:ln/>
        </p:spPr>
        <p:txBody>
          <a:bodyPr wrap="square" lIns="0" tIns="0" rIns="0" bIns="0" rtlCol="0" anchor="ctr"/>
          <a:lstStyle/>
          <a:p>
            <a:pPr indent="0" marL="0">
              <a:buNone/>
            </a:pPr>
            <a:r>
              <a:rPr lang="en-US" sz="1300" b="1" dirty="0">
                <a:solidFill>
                  <a:schemeClr val="bg1"/>
                </a:solidFill>
              </a:rPr>
              <a:t>publication</a:t>
            </a:r>
            <a:endParaRPr lang="en-US" sz="1300" dirty="0"/>
          </a:p>
        </p:txBody>
      </p:sp>
      <p:sp>
        <p:nvSpPr>
          <p:cNvPr id="15" name="Text 12"/>
          <p:cNvSpPr txBox="1"/>
          <p:nvPr/>
        </p:nvSpPr>
        <p:spPr>
          <a:xfrm>
            <a:off x="4773168" y="1545336"/>
            <a:ext cx="1737360" cy="1188720"/>
          </a:xfrm>
          <a:prstGeom prst="rect">
            <a:avLst/>
          </a:prstGeom>
          <a:noFill/>
          <a:ln/>
        </p:spPr>
        <p:txBody>
          <a:bodyPr wrap="square" lIns="0" tIns="0" rIns="0" bIns="0" rtlCol="0" anchor="t"/>
          <a:lstStyle/>
          <a:p>
            <a:pPr indent="0" marL="0">
              <a:buNone/>
            </a:pPr>
            <a:r>
              <a:rPr lang="en-US" sz="1200" b="1" dirty="0">
                <a:solidFill>
                  <a:schemeClr val="tx1"/>
                </a:solidFill>
              </a:rPr>
              <a:t>pub_id</a:t>
            </a:r>
            <a:pPr indent="0" marL="0">
              <a:buNone/>
            </a:pPr>
            <a:r>
              <a:rPr lang="en-US" sz="1000" b="1" dirty="0">
                <a:solidFill>
                  <a:schemeClr val="accent3"/>
                </a:solidFill>
              </a:rPr>
              <a:t>  PK</a:t>
            </a:r>
            <a:endParaRPr lang="en-US" sz="1200" dirty="0"/>
          </a:p>
          <a:p>
            <a:pPr indent="0" marL="0">
              <a:buNone/>
            </a:pPr>
            <a:r>
              <a:rPr lang="en-US" sz="1200" dirty="0">
                <a:solidFill>
                  <a:schemeClr val="tx1"/>
                </a:solidFill>
              </a:rPr>
              <a:t>title</a:t>
            </a:r>
            <a:endParaRPr lang="en-US" sz="1200" dirty="0"/>
          </a:p>
          <a:p>
            <a:pPr indent="0" marL="0">
              <a:buNone/>
            </a:pPr>
            <a:r>
              <a:rPr lang="en-US" sz="1200" dirty="0">
                <a:solidFill>
                  <a:schemeClr val="tx1"/>
                </a:solidFill>
              </a:rPr>
              <a:t>venue</a:t>
            </a:r>
            <a:endParaRPr lang="en-US" sz="1200" dirty="0"/>
          </a:p>
          <a:p>
            <a:pPr indent="0" marL="0">
              <a:buNone/>
            </a:pPr>
            <a:r>
              <a:rPr lang="en-US" sz="1200" dirty="0">
                <a:solidFill>
                  <a:schemeClr val="tx1"/>
                </a:solidFill>
              </a:rPr>
              <a:t>pub_year</a:t>
            </a:r>
            <a:endParaRPr lang="en-US" sz="1200" dirty="0"/>
          </a:p>
          <a:p>
            <a:pPr indent="0" marL="0">
              <a:buNone/>
            </a:pPr>
            <a:r>
              <a:rPr lang="en-US" sz="1200" dirty="0">
                <a:solidFill>
                  <a:schemeClr val="tx1"/>
                </a:solidFill>
              </a:rPr>
              <a:t>doi</a:t>
            </a:r>
            <a:pPr indent="0" marL="0">
              <a:buNone/>
            </a:pPr>
            <a:r>
              <a:rPr lang="en-US" sz="1000" b="1" dirty="0">
                <a:solidFill>
                  <a:schemeClr val="accent3"/>
                </a:solidFill>
              </a:rPr>
              <a:t>  UNIQUE</a:t>
            </a:r>
            <a:endParaRPr lang="en-US" sz="1200" dirty="0"/>
          </a:p>
        </p:txBody>
      </p:sp>
      <p:sp>
        <p:nvSpPr>
          <p:cNvPr id="16" name="Schema card project_publication"/>
          <p:cNvSpPr/>
          <p:nvPr/>
        </p:nvSpPr>
        <p:spPr>
          <a:xfrm>
            <a:off x="6766560" y="1143000"/>
            <a:ext cx="1920240" cy="1645920"/>
          </a:xfrm>
          <a:prstGeom prst="roundRect">
            <a:avLst>
              <a:gd name="adj" fmla="val 4444"/>
            </a:avLst>
          </a:prstGeom>
          <a:solidFill>
            <a:schemeClr val="bg2"/>
          </a:solidFill>
          <a:ln/>
        </p:spPr>
      </p:sp>
      <p:sp>
        <p:nvSpPr>
          <p:cNvPr id="17" name="Schema header project_publication"/>
          <p:cNvSpPr/>
          <p:nvPr/>
        </p:nvSpPr>
        <p:spPr>
          <a:xfrm>
            <a:off x="6766560" y="1143000"/>
            <a:ext cx="1920240" cy="329184"/>
          </a:xfrm>
          <a:prstGeom prst="roundRect">
            <a:avLst>
              <a:gd name="adj" fmla="val 22222"/>
            </a:avLst>
          </a:prstGeom>
          <a:solidFill>
            <a:schemeClr val="accent4"/>
          </a:solidFill>
          <a:ln/>
        </p:spPr>
      </p:sp>
      <p:sp>
        <p:nvSpPr>
          <p:cNvPr id="18" name="Text 15"/>
          <p:cNvSpPr txBox="1"/>
          <p:nvPr/>
        </p:nvSpPr>
        <p:spPr>
          <a:xfrm>
            <a:off x="6876288" y="1143000"/>
            <a:ext cx="1737360" cy="329184"/>
          </a:xfrm>
          <a:prstGeom prst="rect">
            <a:avLst/>
          </a:prstGeom>
          <a:noFill/>
          <a:ln/>
        </p:spPr>
        <p:txBody>
          <a:bodyPr wrap="square" lIns="0" tIns="0" rIns="0" bIns="0" rtlCol="0" anchor="ctr"/>
          <a:lstStyle/>
          <a:p>
            <a:pPr indent="0" marL="0">
              <a:buNone/>
            </a:pPr>
            <a:r>
              <a:rPr lang="en-US" sz="1300" b="1" dirty="0">
                <a:solidFill>
                  <a:schemeClr val="bg1"/>
                </a:solidFill>
              </a:rPr>
              <a:t>project_publication</a:t>
            </a:r>
            <a:endParaRPr lang="en-US" sz="1300" dirty="0"/>
          </a:p>
        </p:txBody>
      </p:sp>
      <p:sp>
        <p:nvSpPr>
          <p:cNvPr id="19" name="Text 16"/>
          <p:cNvSpPr txBox="1"/>
          <p:nvPr/>
        </p:nvSpPr>
        <p:spPr>
          <a:xfrm>
            <a:off x="6876288" y="1545336"/>
            <a:ext cx="1737360" cy="1188720"/>
          </a:xfrm>
          <a:prstGeom prst="rect">
            <a:avLst/>
          </a:prstGeom>
          <a:noFill/>
          <a:ln/>
        </p:spPr>
        <p:txBody>
          <a:bodyPr wrap="square" lIns="0" tIns="0" rIns="0" bIns="0" rtlCol="0" anchor="t"/>
          <a:lstStyle/>
          <a:p>
            <a:pPr indent="0" marL="0">
              <a:buNone/>
            </a:pPr>
            <a:r>
              <a:rPr lang="en-US" sz="1200" b="1" dirty="0">
                <a:solidFill>
                  <a:schemeClr val="tx1"/>
                </a:solidFill>
              </a:rPr>
              <a:t>project_id</a:t>
            </a:r>
            <a:pPr indent="0" marL="0">
              <a:buNone/>
            </a:pPr>
            <a:r>
              <a:rPr lang="en-US" sz="1000" b="1" dirty="0">
                <a:solidFill>
                  <a:schemeClr val="accent3"/>
                </a:solidFill>
              </a:rPr>
              <a:t>  PK, FK</a:t>
            </a:r>
            <a:endParaRPr lang="en-US" sz="1200" dirty="0"/>
          </a:p>
          <a:p>
            <a:pPr indent="0" marL="0">
              <a:buNone/>
            </a:pPr>
            <a:r>
              <a:rPr lang="en-US" sz="1200" b="1" dirty="0">
                <a:solidFill>
                  <a:schemeClr val="tx1"/>
                </a:solidFill>
              </a:rPr>
              <a:t>pub_id</a:t>
            </a:r>
            <a:pPr indent="0" marL="0">
              <a:buNone/>
            </a:pPr>
            <a:r>
              <a:rPr lang="en-US" sz="1000" b="1" dirty="0">
                <a:solidFill>
                  <a:schemeClr val="accent3"/>
                </a:solidFill>
              </a:rPr>
              <a:t>  PK, FK</a:t>
            </a:r>
            <a:endParaRPr lang="en-US" sz="1200" dirty="0"/>
          </a:p>
        </p:txBody>
      </p:sp>
      <p:sp>
        <p:nvSpPr>
          <p:cNvPr id="20" name="Schema card publication_author"/>
          <p:cNvSpPr/>
          <p:nvPr/>
        </p:nvSpPr>
        <p:spPr>
          <a:xfrm>
            <a:off x="457200" y="2926080"/>
            <a:ext cx="1920240" cy="1645920"/>
          </a:xfrm>
          <a:prstGeom prst="roundRect">
            <a:avLst>
              <a:gd name="adj" fmla="val 4444"/>
            </a:avLst>
          </a:prstGeom>
          <a:solidFill>
            <a:schemeClr val="bg2"/>
          </a:solidFill>
          <a:ln/>
        </p:spPr>
      </p:sp>
      <p:sp>
        <p:nvSpPr>
          <p:cNvPr id="21" name="Schema header publication_author"/>
          <p:cNvSpPr/>
          <p:nvPr/>
        </p:nvSpPr>
        <p:spPr>
          <a:xfrm>
            <a:off x="457200" y="2926080"/>
            <a:ext cx="1920240" cy="329184"/>
          </a:xfrm>
          <a:prstGeom prst="roundRect">
            <a:avLst>
              <a:gd name="adj" fmla="val 22222"/>
            </a:avLst>
          </a:prstGeom>
          <a:solidFill>
            <a:schemeClr val="accent4"/>
          </a:solidFill>
          <a:ln/>
        </p:spPr>
      </p:sp>
      <p:sp>
        <p:nvSpPr>
          <p:cNvPr id="22" name="Text 19"/>
          <p:cNvSpPr txBox="1"/>
          <p:nvPr/>
        </p:nvSpPr>
        <p:spPr>
          <a:xfrm>
            <a:off x="566928" y="2926080"/>
            <a:ext cx="1737360" cy="329184"/>
          </a:xfrm>
          <a:prstGeom prst="rect">
            <a:avLst/>
          </a:prstGeom>
          <a:noFill/>
          <a:ln/>
        </p:spPr>
        <p:txBody>
          <a:bodyPr wrap="square" lIns="0" tIns="0" rIns="0" bIns="0" rtlCol="0" anchor="ctr"/>
          <a:lstStyle/>
          <a:p>
            <a:pPr indent="0" marL="0">
              <a:buNone/>
            </a:pPr>
            <a:r>
              <a:rPr lang="en-US" sz="1300" b="1" dirty="0">
                <a:solidFill>
                  <a:schemeClr val="bg1"/>
                </a:solidFill>
              </a:rPr>
              <a:t>publication_author</a:t>
            </a:r>
            <a:endParaRPr lang="en-US" sz="1300" dirty="0"/>
          </a:p>
        </p:txBody>
      </p:sp>
      <p:sp>
        <p:nvSpPr>
          <p:cNvPr id="23" name="Text 20"/>
          <p:cNvSpPr txBox="1"/>
          <p:nvPr/>
        </p:nvSpPr>
        <p:spPr>
          <a:xfrm>
            <a:off x="566928" y="3328416"/>
            <a:ext cx="1737360" cy="1188720"/>
          </a:xfrm>
          <a:prstGeom prst="rect">
            <a:avLst/>
          </a:prstGeom>
          <a:noFill/>
          <a:ln/>
        </p:spPr>
        <p:txBody>
          <a:bodyPr wrap="square" lIns="0" tIns="0" rIns="0" bIns="0" rtlCol="0" anchor="t"/>
          <a:lstStyle/>
          <a:p>
            <a:pPr indent="0" marL="0">
              <a:buNone/>
            </a:pPr>
            <a:r>
              <a:rPr lang="en-US" sz="1200" b="1" dirty="0">
                <a:solidFill>
                  <a:schemeClr val="tx1"/>
                </a:solidFill>
              </a:rPr>
              <a:t>pub_id</a:t>
            </a:r>
            <a:pPr indent="0" marL="0">
              <a:buNone/>
            </a:pPr>
            <a:r>
              <a:rPr lang="en-US" sz="1000" b="1" dirty="0">
                <a:solidFill>
                  <a:schemeClr val="accent3"/>
                </a:solidFill>
              </a:rPr>
              <a:t>  PK, FK</a:t>
            </a:r>
            <a:endParaRPr lang="en-US" sz="1200" dirty="0"/>
          </a:p>
          <a:p>
            <a:pPr indent="0" marL="0">
              <a:buNone/>
            </a:pPr>
            <a:r>
              <a:rPr lang="en-US" sz="1200" b="1" dirty="0">
                <a:solidFill>
                  <a:schemeClr val="tx1"/>
                </a:solidFill>
              </a:rPr>
              <a:t>researcher_id</a:t>
            </a:r>
            <a:pPr indent="0" marL="0">
              <a:buNone/>
            </a:pPr>
            <a:r>
              <a:rPr lang="en-US" sz="1000" b="1" dirty="0">
                <a:solidFill>
                  <a:schemeClr val="accent3"/>
                </a:solidFill>
              </a:rPr>
              <a:t>  PK, FK</a:t>
            </a:r>
            <a:endParaRPr lang="en-US" sz="1200" dirty="0"/>
          </a:p>
          <a:p>
            <a:pPr indent="0" marL="0">
              <a:buNone/>
            </a:pPr>
            <a:r>
              <a:rPr lang="en-US" sz="1200" dirty="0">
                <a:solidFill>
                  <a:schemeClr val="tx1"/>
                </a:solidFill>
              </a:rPr>
              <a:t>author_order</a:t>
            </a:r>
            <a:endParaRPr lang="en-US" sz="1200" dirty="0"/>
          </a:p>
        </p:txBody>
      </p:sp>
      <p:sp>
        <p:nvSpPr>
          <p:cNvPr id="24" name="Schema card patent"/>
          <p:cNvSpPr/>
          <p:nvPr/>
        </p:nvSpPr>
        <p:spPr>
          <a:xfrm>
            <a:off x="2560320" y="2926080"/>
            <a:ext cx="1920240" cy="1645920"/>
          </a:xfrm>
          <a:prstGeom prst="roundRect">
            <a:avLst>
              <a:gd name="adj" fmla="val 4444"/>
            </a:avLst>
          </a:prstGeom>
          <a:solidFill>
            <a:schemeClr val="bg2"/>
          </a:solidFill>
          <a:ln/>
        </p:spPr>
      </p:sp>
      <p:sp>
        <p:nvSpPr>
          <p:cNvPr id="25" name="Schema header patent"/>
          <p:cNvSpPr/>
          <p:nvPr/>
        </p:nvSpPr>
        <p:spPr>
          <a:xfrm>
            <a:off x="2560320" y="2926080"/>
            <a:ext cx="1920240" cy="329184"/>
          </a:xfrm>
          <a:prstGeom prst="roundRect">
            <a:avLst>
              <a:gd name="adj" fmla="val 22222"/>
            </a:avLst>
          </a:prstGeom>
          <a:solidFill>
            <a:schemeClr val="accent4"/>
          </a:solidFill>
          <a:ln/>
        </p:spPr>
      </p:sp>
      <p:sp>
        <p:nvSpPr>
          <p:cNvPr id="26" name="Text 23"/>
          <p:cNvSpPr txBox="1"/>
          <p:nvPr/>
        </p:nvSpPr>
        <p:spPr>
          <a:xfrm>
            <a:off x="2670048" y="2926080"/>
            <a:ext cx="1737360" cy="329184"/>
          </a:xfrm>
          <a:prstGeom prst="rect">
            <a:avLst/>
          </a:prstGeom>
          <a:noFill/>
          <a:ln/>
        </p:spPr>
        <p:txBody>
          <a:bodyPr wrap="square" lIns="0" tIns="0" rIns="0" bIns="0" rtlCol="0" anchor="ctr"/>
          <a:lstStyle/>
          <a:p>
            <a:pPr indent="0" marL="0">
              <a:buNone/>
            </a:pPr>
            <a:r>
              <a:rPr lang="en-US" sz="1300" b="1" dirty="0">
                <a:solidFill>
                  <a:schemeClr val="bg1"/>
                </a:solidFill>
              </a:rPr>
              <a:t>patent</a:t>
            </a:r>
            <a:endParaRPr lang="en-US" sz="1300" dirty="0"/>
          </a:p>
        </p:txBody>
      </p:sp>
      <p:sp>
        <p:nvSpPr>
          <p:cNvPr id="27" name="Text 24"/>
          <p:cNvSpPr txBox="1"/>
          <p:nvPr/>
        </p:nvSpPr>
        <p:spPr>
          <a:xfrm>
            <a:off x="2670048" y="3328416"/>
            <a:ext cx="1737360" cy="1188720"/>
          </a:xfrm>
          <a:prstGeom prst="rect">
            <a:avLst/>
          </a:prstGeom>
          <a:noFill/>
          <a:ln/>
        </p:spPr>
        <p:txBody>
          <a:bodyPr wrap="square" lIns="0" tIns="0" rIns="0" bIns="0" rtlCol="0" anchor="t"/>
          <a:lstStyle/>
          <a:p>
            <a:pPr indent="0" marL="0">
              <a:buNone/>
            </a:pPr>
            <a:r>
              <a:rPr lang="en-US" sz="1200" b="1" dirty="0">
                <a:solidFill>
                  <a:schemeClr val="tx1"/>
                </a:solidFill>
              </a:rPr>
              <a:t>patent_id</a:t>
            </a:r>
            <a:pPr indent="0" marL="0">
              <a:buNone/>
            </a:pPr>
            <a:r>
              <a:rPr lang="en-US" sz="1000" b="1" dirty="0">
                <a:solidFill>
                  <a:schemeClr val="accent3"/>
                </a:solidFill>
              </a:rPr>
              <a:t>  PK</a:t>
            </a:r>
            <a:endParaRPr lang="en-US" sz="1200" dirty="0"/>
          </a:p>
          <a:p>
            <a:pPr indent="0" marL="0">
              <a:buNone/>
            </a:pPr>
            <a:r>
              <a:rPr lang="en-US" sz="1200" dirty="0">
                <a:solidFill>
                  <a:schemeClr val="tx1"/>
                </a:solidFill>
              </a:rPr>
              <a:t>project_id</a:t>
            </a:r>
            <a:pPr indent="0" marL="0">
              <a:buNone/>
            </a:pPr>
            <a:r>
              <a:rPr lang="en-US" sz="1000" b="1" dirty="0">
                <a:solidFill>
                  <a:schemeClr val="accent5"/>
                </a:solidFill>
              </a:rPr>
              <a:t>  FK</a:t>
            </a:r>
            <a:endParaRPr lang="en-US" sz="1200" dirty="0"/>
          </a:p>
          <a:p>
            <a:pPr indent="0" marL="0">
              <a:buNone/>
            </a:pPr>
            <a:r>
              <a:rPr lang="en-US" sz="1200" dirty="0">
                <a:solidFill>
                  <a:schemeClr val="tx1"/>
                </a:solidFill>
              </a:rPr>
              <a:t>title</a:t>
            </a:r>
            <a:endParaRPr lang="en-US" sz="1200" dirty="0"/>
          </a:p>
          <a:p>
            <a:pPr indent="0" marL="0">
              <a:buNone/>
            </a:pPr>
            <a:r>
              <a:rPr lang="en-US" sz="1200" dirty="0">
                <a:solidFill>
                  <a:schemeClr val="tx1"/>
                </a:solidFill>
              </a:rPr>
              <a:t>patent_no</a:t>
            </a:r>
            <a:endParaRPr lang="en-US" sz="1200" dirty="0"/>
          </a:p>
          <a:p>
            <a:pPr indent="0" marL="0">
              <a:buNone/>
            </a:pPr>
            <a:r>
              <a:rPr lang="en-US" sz="1200" dirty="0">
                <a:solidFill>
                  <a:schemeClr val="tx1"/>
                </a:solidFill>
              </a:rPr>
              <a:t>filing_date</a:t>
            </a:r>
            <a:endParaRPr lang="en-US" sz="1200" dirty="0"/>
          </a:p>
          <a:p>
            <a:pPr indent="0" marL="0">
              <a:buNone/>
            </a:pPr>
            <a:r>
              <a:rPr lang="en-US" sz="1200" dirty="0">
                <a:solidFill>
                  <a:schemeClr val="tx1"/>
                </a:solidFill>
              </a:rPr>
              <a:t>status</a:t>
            </a:r>
            <a:endParaRPr lang="en-US" sz="1200" dirty="0"/>
          </a:p>
        </p:txBody>
      </p:sp>
      <p:sp>
        <p:nvSpPr>
          <p:cNvPr id="28" name="Schema card report"/>
          <p:cNvSpPr/>
          <p:nvPr/>
        </p:nvSpPr>
        <p:spPr>
          <a:xfrm>
            <a:off x="4663440" y="2926080"/>
            <a:ext cx="1920240" cy="1645920"/>
          </a:xfrm>
          <a:prstGeom prst="roundRect">
            <a:avLst>
              <a:gd name="adj" fmla="val 4444"/>
            </a:avLst>
          </a:prstGeom>
          <a:solidFill>
            <a:schemeClr val="bg2"/>
          </a:solidFill>
          <a:ln/>
        </p:spPr>
      </p:sp>
      <p:sp>
        <p:nvSpPr>
          <p:cNvPr id="29" name="Schema header report"/>
          <p:cNvSpPr/>
          <p:nvPr/>
        </p:nvSpPr>
        <p:spPr>
          <a:xfrm>
            <a:off x="4663440" y="2926080"/>
            <a:ext cx="1920240" cy="329184"/>
          </a:xfrm>
          <a:prstGeom prst="roundRect">
            <a:avLst>
              <a:gd name="adj" fmla="val 22222"/>
            </a:avLst>
          </a:prstGeom>
          <a:solidFill>
            <a:schemeClr val="accent1"/>
          </a:solidFill>
          <a:ln/>
        </p:spPr>
      </p:sp>
      <p:sp>
        <p:nvSpPr>
          <p:cNvPr id="30" name="Text 27"/>
          <p:cNvSpPr txBox="1"/>
          <p:nvPr/>
        </p:nvSpPr>
        <p:spPr>
          <a:xfrm>
            <a:off x="4773168" y="2926080"/>
            <a:ext cx="1737360" cy="329184"/>
          </a:xfrm>
          <a:prstGeom prst="rect">
            <a:avLst/>
          </a:prstGeom>
          <a:noFill/>
          <a:ln/>
        </p:spPr>
        <p:txBody>
          <a:bodyPr wrap="square" lIns="0" tIns="0" rIns="0" bIns="0" rtlCol="0" anchor="ctr"/>
          <a:lstStyle/>
          <a:p>
            <a:pPr indent="0" marL="0">
              <a:buNone/>
            </a:pPr>
            <a:r>
              <a:rPr lang="en-US" sz="1300" b="1" dirty="0">
                <a:solidFill>
                  <a:schemeClr val="bg1"/>
                </a:solidFill>
              </a:rPr>
              <a:t>report</a:t>
            </a:r>
            <a:endParaRPr lang="en-US" sz="1300" dirty="0"/>
          </a:p>
        </p:txBody>
      </p:sp>
      <p:sp>
        <p:nvSpPr>
          <p:cNvPr id="31" name="Text 28"/>
          <p:cNvSpPr txBox="1"/>
          <p:nvPr/>
        </p:nvSpPr>
        <p:spPr>
          <a:xfrm>
            <a:off x="4773168" y="3328416"/>
            <a:ext cx="1737360" cy="1188720"/>
          </a:xfrm>
          <a:prstGeom prst="rect">
            <a:avLst/>
          </a:prstGeom>
          <a:noFill/>
          <a:ln/>
        </p:spPr>
        <p:txBody>
          <a:bodyPr wrap="square" lIns="0" tIns="0" rIns="0" bIns="0" rtlCol="0" anchor="t"/>
          <a:lstStyle/>
          <a:p>
            <a:pPr indent="0" marL="0">
              <a:buNone/>
            </a:pPr>
            <a:r>
              <a:rPr lang="en-US" sz="1200" b="1" dirty="0">
                <a:solidFill>
                  <a:schemeClr val="tx1"/>
                </a:solidFill>
              </a:rPr>
              <a:t>report_id</a:t>
            </a:r>
            <a:pPr indent="0" marL="0">
              <a:buNone/>
            </a:pPr>
            <a:r>
              <a:rPr lang="en-US" sz="1000" b="1" dirty="0">
                <a:solidFill>
                  <a:schemeClr val="accent3"/>
                </a:solidFill>
              </a:rPr>
              <a:t>  PK</a:t>
            </a:r>
            <a:endParaRPr lang="en-US" sz="1200" dirty="0"/>
          </a:p>
          <a:p>
            <a:pPr indent="0" marL="0">
              <a:buNone/>
            </a:pPr>
            <a:r>
              <a:rPr lang="en-US" sz="1200" dirty="0">
                <a:solidFill>
                  <a:schemeClr val="tx1"/>
                </a:solidFill>
              </a:rPr>
              <a:t>project_id</a:t>
            </a:r>
            <a:pPr indent="0" marL="0">
              <a:buNone/>
            </a:pPr>
            <a:r>
              <a:rPr lang="en-US" sz="1000" b="1" dirty="0">
                <a:solidFill>
                  <a:schemeClr val="accent5"/>
                </a:solidFill>
              </a:rPr>
              <a:t>  FK</a:t>
            </a:r>
            <a:endParaRPr lang="en-US" sz="1200" dirty="0"/>
          </a:p>
          <a:p>
            <a:pPr indent="0" marL="0">
              <a:buNone/>
            </a:pPr>
            <a:r>
              <a:rPr lang="en-US" sz="1200" dirty="0">
                <a:solidFill>
                  <a:schemeClr val="tx1"/>
                </a:solidFill>
              </a:rPr>
              <a:t>report_type</a:t>
            </a:r>
            <a:endParaRPr lang="en-US" sz="1200" dirty="0"/>
          </a:p>
          <a:p>
            <a:pPr indent="0" marL="0">
              <a:buNone/>
            </a:pPr>
            <a:r>
              <a:rPr lang="en-US" sz="1200" dirty="0">
                <a:solidFill>
                  <a:schemeClr val="tx1"/>
                </a:solidFill>
              </a:rPr>
              <a:t>generated_on</a:t>
            </a:r>
            <a:endParaRPr lang="en-US" sz="1200" dirty="0"/>
          </a:p>
        </p:txBody>
      </p:sp>
      <p:sp>
        <p:nvSpPr>
          <p:cNvPr id="32" name="Legend card"/>
          <p:cNvSpPr/>
          <p:nvPr/>
        </p:nvSpPr>
        <p:spPr>
          <a:xfrm>
            <a:off x="6766560" y="2926080"/>
            <a:ext cx="1920240" cy="1645920"/>
          </a:xfrm>
          <a:prstGeom prst="roundRect">
            <a:avLst>
              <a:gd name="adj" fmla="val 4444"/>
            </a:avLst>
          </a:prstGeom>
          <a:solidFill>
            <a:schemeClr val="tx1"/>
          </a:solidFill>
          <a:ln/>
        </p:spPr>
      </p:sp>
      <p:sp>
        <p:nvSpPr>
          <p:cNvPr id="33" name="Text 30"/>
          <p:cNvSpPr txBox="1"/>
          <p:nvPr/>
        </p:nvSpPr>
        <p:spPr>
          <a:xfrm>
            <a:off x="6876288" y="3035808"/>
            <a:ext cx="1700784" cy="1417320"/>
          </a:xfrm>
          <a:prstGeom prst="rect">
            <a:avLst/>
          </a:prstGeom>
          <a:noFill/>
          <a:ln/>
        </p:spPr>
        <p:txBody>
          <a:bodyPr wrap="square" lIns="0" tIns="0" rIns="0" bIns="0" rtlCol="0" anchor="t"/>
          <a:lstStyle/>
          <a:p>
            <a:pPr indent="0" marL="0">
              <a:buNone/>
            </a:pPr>
            <a:r>
              <a:rPr lang="en-US" sz="1300" b="1" dirty="0">
                <a:solidFill>
                  <a:schemeClr val="accent2"/>
                </a:solidFill>
              </a:rPr>
              <a:t>How to read</a:t>
            </a:r>
            <a:endParaRPr lang="en-US" sz="1400" dirty="0"/>
          </a:p>
          <a:p>
            <a:pPr indent="0" marL="0">
              <a:buNone/>
            </a:pPr>
            <a:r>
              <a:rPr lang="en-US" sz="1200" dirty="0">
                <a:solidFill>
                  <a:schemeClr val="bg1"/>
                </a:solidFill>
              </a:rPr>
              <a:t>PK = primary key</a:t>
            </a:r>
            <a:endParaRPr lang="en-US" sz="1400" dirty="0"/>
          </a:p>
          <a:p>
            <a:pPr indent="0" marL="0">
              <a:buNone/>
            </a:pPr>
            <a:r>
              <a:rPr lang="en-US" sz="1200" dirty="0">
                <a:solidFill>
                  <a:schemeClr val="bg1"/>
                </a:solidFill>
              </a:rPr>
              <a:t>FK = foreign key</a:t>
            </a:r>
            <a:endParaRPr lang="en-US" sz="1400" dirty="0"/>
          </a:p>
          <a:p>
            <a:pPr indent="0" marL="0">
              <a:buNone/>
            </a:pPr>
            <a:r>
              <a:rPr lang="en-US" sz="1200" dirty="0">
                <a:solidFill>
                  <a:schemeClr val="bg1"/>
                </a:solidFill>
              </a:rPr>
              <a:t>Junction tables turn M:N links into two 1:N links</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Roadmap</a:t>
            </a:r>
            <a:endParaRPr lang="en-US" sz="3200" dirty="0"/>
          </a:p>
        </p:txBody>
      </p:sp>
      <p:sp>
        <p:nvSpPr>
          <p:cNvPr id="4" name="Roadmap card"/>
          <p:cNvSpPr/>
          <p:nvPr/>
        </p:nvSpPr>
        <p:spPr>
          <a:xfrm>
            <a:off x="457200" y="1280160"/>
            <a:ext cx="2651760" cy="2514600"/>
          </a:xfrm>
          <a:prstGeom prst="roundRect">
            <a:avLst>
              <a:gd name="adj" fmla="val 2909"/>
            </a:avLst>
          </a:prstGeom>
          <a:solidFill>
            <a:schemeClr val="bg2"/>
          </a:solidFill>
          <a:ln/>
        </p:spPr>
      </p:sp>
      <p:sp>
        <p:nvSpPr>
          <p:cNvPr id="5" name="Roadmap header"/>
          <p:cNvSpPr/>
          <p:nvPr/>
        </p:nvSpPr>
        <p:spPr>
          <a:xfrm>
            <a:off x="457200" y="1280160"/>
            <a:ext cx="2651760" cy="731520"/>
          </a:xfrm>
          <a:prstGeom prst="roundRect">
            <a:avLst>
              <a:gd name="adj" fmla="val 10000"/>
            </a:avLst>
          </a:prstGeom>
          <a:solidFill>
            <a:schemeClr val="accent1"/>
          </a:solidFill>
          <a:ln/>
        </p:spPr>
      </p:sp>
      <p:sp>
        <p:nvSpPr>
          <p:cNvPr id="6" name="Text 3"/>
          <p:cNvSpPr txBox="1"/>
          <p:nvPr/>
        </p:nvSpPr>
        <p:spPr>
          <a:xfrm>
            <a:off x="640080" y="1325880"/>
            <a:ext cx="1828800" cy="365760"/>
          </a:xfrm>
          <a:prstGeom prst="rect">
            <a:avLst/>
          </a:prstGeom>
          <a:noFill/>
          <a:ln/>
        </p:spPr>
        <p:txBody>
          <a:bodyPr wrap="square" lIns="0" tIns="0" rIns="0" bIns="0" rtlCol="0" anchor="ctr"/>
          <a:lstStyle/>
          <a:p>
            <a:pPr indent="0" marL="0">
              <a:buNone/>
            </a:pPr>
            <a:r>
              <a:rPr lang="en-US" sz="2000" b="1" dirty="0">
                <a:solidFill>
                  <a:schemeClr val="bg1"/>
                </a:solidFill>
              </a:rPr>
              <a:t>Review 1</a:t>
            </a:r>
            <a:endParaRPr lang="en-US" sz="2000" dirty="0"/>
          </a:p>
        </p:txBody>
      </p:sp>
      <p:sp>
        <p:nvSpPr>
          <p:cNvPr id="7" name="Text 4"/>
          <p:cNvSpPr txBox="1"/>
          <p:nvPr/>
        </p:nvSpPr>
        <p:spPr>
          <a:xfrm>
            <a:off x="640080" y="1664208"/>
            <a:ext cx="2377440" cy="274320"/>
          </a:xfrm>
          <a:prstGeom prst="rect">
            <a:avLst/>
          </a:prstGeom>
          <a:noFill/>
          <a:ln/>
        </p:spPr>
        <p:txBody>
          <a:bodyPr wrap="square" lIns="0" tIns="0" rIns="0" bIns="0" rtlCol="0" anchor="t"/>
          <a:lstStyle/>
          <a:p>
            <a:pPr indent="0" marL="0">
              <a:buNone/>
            </a:pPr>
            <a:r>
              <a:rPr lang="en-US" sz="1200" dirty="0">
                <a:solidFill>
                  <a:schemeClr val="bg1"/>
                </a:solidFill>
              </a:rPr>
              <a:t>Week 7  |  this review</a:t>
            </a:r>
            <a:endParaRPr lang="en-US" sz="1200" dirty="0"/>
          </a:p>
        </p:txBody>
      </p:sp>
      <p:sp>
        <p:nvSpPr>
          <p:cNvPr id="8" name="Text 5"/>
          <p:cNvSpPr txBox="1"/>
          <p:nvPr/>
        </p:nvSpPr>
        <p:spPr>
          <a:xfrm>
            <a:off x="640080" y="2240280"/>
            <a:ext cx="2331720" cy="14630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Requirements and scope</a:t>
            </a:r>
            <a:endParaRPr lang="en-US" sz="1500" dirty="0"/>
          </a:p>
          <a:p>
            <a:pPr marL="342900" indent="-342900">
              <a:spcAft>
                <a:spcPts val="800"/>
              </a:spcAft>
              <a:buSzPct val="100000"/>
              <a:buChar char="•"/>
            </a:pPr>
            <a:r>
              <a:rPr lang="en-US" sz="1500" dirty="0">
                <a:solidFill>
                  <a:schemeClr val="tx1"/>
                </a:solidFill>
              </a:rPr>
              <a:t>ER diagram (11 entities)</a:t>
            </a:r>
            <a:endParaRPr lang="en-US" sz="1500" dirty="0"/>
          </a:p>
          <a:p>
            <a:pPr marL="342900" indent="-342900">
              <a:spcAft>
                <a:spcPts val="800"/>
              </a:spcAft>
              <a:buSzPct val="100000"/>
              <a:buChar char="•"/>
            </a:pPr>
            <a:r>
              <a:rPr lang="en-US" sz="1500" dirty="0">
                <a:solidFill>
                  <a:schemeClr val="tx1"/>
                </a:solidFill>
              </a:rPr>
              <a:t>Initial schema (13 tables)</a:t>
            </a:r>
            <a:endParaRPr lang="en-US" sz="1500" dirty="0"/>
          </a:p>
        </p:txBody>
      </p:sp>
      <p:sp>
        <p:nvSpPr>
          <p:cNvPr id="9" name="Arrow"/>
          <p:cNvSpPr/>
          <p:nvPr/>
        </p:nvSpPr>
        <p:spPr>
          <a:xfrm>
            <a:off x="3136392" y="2468880"/>
            <a:ext cx="128016" cy="274320"/>
          </a:xfrm>
          <a:prstGeom prst="rightArrow">
            <a:avLst/>
          </a:prstGeom>
          <a:solidFill>
            <a:schemeClr val="accent2"/>
          </a:solidFill>
          <a:ln/>
        </p:spPr>
      </p:sp>
      <p:sp>
        <p:nvSpPr>
          <p:cNvPr id="10" name="Roadmap card"/>
          <p:cNvSpPr/>
          <p:nvPr/>
        </p:nvSpPr>
        <p:spPr>
          <a:xfrm>
            <a:off x="3246120" y="1280160"/>
            <a:ext cx="2651760" cy="2514600"/>
          </a:xfrm>
          <a:prstGeom prst="roundRect">
            <a:avLst>
              <a:gd name="adj" fmla="val 2909"/>
            </a:avLst>
          </a:prstGeom>
          <a:solidFill>
            <a:schemeClr val="bg2"/>
          </a:solidFill>
          <a:ln/>
        </p:spPr>
      </p:sp>
      <p:sp>
        <p:nvSpPr>
          <p:cNvPr id="11" name="Roadmap header"/>
          <p:cNvSpPr/>
          <p:nvPr/>
        </p:nvSpPr>
        <p:spPr>
          <a:xfrm>
            <a:off x="3246120" y="1280160"/>
            <a:ext cx="2651760" cy="731520"/>
          </a:xfrm>
          <a:prstGeom prst="roundRect">
            <a:avLst>
              <a:gd name="adj" fmla="val 10000"/>
            </a:avLst>
          </a:prstGeom>
          <a:solidFill>
            <a:schemeClr val="accent3"/>
          </a:solidFill>
          <a:ln/>
        </p:spPr>
      </p:sp>
      <p:sp>
        <p:nvSpPr>
          <p:cNvPr id="12" name="Text 9"/>
          <p:cNvSpPr txBox="1"/>
          <p:nvPr/>
        </p:nvSpPr>
        <p:spPr>
          <a:xfrm>
            <a:off x="3429000" y="1325880"/>
            <a:ext cx="1828800" cy="365760"/>
          </a:xfrm>
          <a:prstGeom prst="rect">
            <a:avLst/>
          </a:prstGeom>
          <a:noFill/>
          <a:ln/>
        </p:spPr>
        <p:txBody>
          <a:bodyPr wrap="square" lIns="0" tIns="0" rIns="0" bIns="0" rtlCol="0" anchor="ctr"/>
          <a:lstStyle/>
          <a:p>
            <a:pPr indent="0" marL="0">
              <a:buNone/>
            </a:pPr>
            <a:r>
              <a:rPr lang="en-US" sz="2000" b="1" dirty="0">
                <a:solidFill>
                  <a:schemeClr val="bg1"/>
                </a:solidFill>
              </a:rPr>
              <a:t>Review 2</a:t>
            </a:r>
            <a:endParaRPr lang="en-US" sz="2000" dirty="0"/>
          </a:p>
        </p:txBody>
      </p:sp>
      <p:sp>
        <p:nvSpPr>
          <p:cNvPr id="13" name="Text 10"/>
          <p:cNvSpPr txBox="1"/>
          <p:nvPr/>
        </p:nvSpPr>
        <p:spPr>
          <a:xfrm>
            <a:off x="3429000" y="1664208"/>
            <a:ext cx="2377440" cy="274320"/>
          </a:xfrm>
          <a:prstGeom prst="rect">
            <a:avLst/>
          </a:prstGeom>
          <a:noFill/>
          <a:ln/>
        </p:spPr>
        <p:txBody>
          <a:bodyPr wrap="square" lIns="0" tIns="0" rIns="0" bIns="0" rtlCol="0" anchor="t"/>
          <a:lstStyle/>
          <a:p>
            <a:pPr indent="0" marL="0">
              <a:buNone/>
            </a:pPr>
            <a:r>
              <a:rPr lang="en-US" sz="1200" dirty="0">
                <a:solidFill>
                  <a:schemeClr val="bg1"/>
                </a:solidFill>
              </a:rPr>
              <a:t>Week 11</a:t>
            </a:r>
            <a:endParaRPr lang="en-US" sz="1200" dirty="0"/>
          </a:p>
        </p:txBody>
      </p:sp>
      <p:sp>
        <p:nvSpPr>
          <p:cNvPr id="14" name="Text 11"/>
          <p:cNvSpPr txBox="1"/>
          <p:nvPr/>
        </p:nvSpPr>
        <p:spPr>
          <a:xfrm>
            <a:off x="3429000" y="2240280"/>
            <a:ext cx="2331720" cy="14630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Normalization to 3NF</a:t>
            </a:r>
            <a:endParaRPr lang="en-US" sz="1500" dirty="0"/>
          </a:p>
          <a:p>
            <a:pPr marL="342900" indent="-342900">
              <a:spcAft>
                <a:spcPts val="800"/>
              </a:spcAft>
              <a:buSzPct val="100000"/>
              <a:buChar char="•"/>
            </a:pPr>
            <a:r>
              <a:rPr lang="en-US" sz="1500" dirty="0">
                <a:solidFill>
                  <a:schemeClr val="tx1"/>
                </a:solidFill>
              </a:rPr>
              <a:t>DDL with constraints</a:t>
            </a:r>
            <a:endParaRPr lang="en-US" sz="1500" dirty="0"/>
          </a:p>
          <a:p>
            <a:pPr marL="342900" indent="-342900">
              <a:spcAft>
                <a:spcPts val="800"/>
              </a:spcAft>
              <a:buSzPct val="100000"/>
              <a:buChar char="•"/>
            </a:pPr>
            <a:r>
              <a:rPr lang="en-US" sz="1500" dirty="0">
                <a:solidFill>
                  <a:schemeClr val="tx1"/>
                </a:solidFill>
              </a:rPr>
              <a:t>Sample data and SQL queries</a:t>
            </a:r>
            <a:endParaRPr lang="en-US" sz="1500" dirty="0"/>
          </a:p>
        </p:txBody>
      </p:sp>
      <p:sp>
        <p:nvSpPr>
          <p:cNvPr id="15" name="Arrow"/>
          <p:cNvSpPr/>
          <p:nvPr/>
        </p:nvSpPr>
        <p:spPr>
          <a:xfrm>
            <a:off x="5925312" y="2468880"/>
            <a:ext cx="128016" cy="274320"/>
          </a:xfrm>
          <a:prstGeom prst="rightArrow">
            <a:avLst/>
          </a:prstGeom>
          <a:solidFill>
            <a:schemeClr val="accent2"/>
          </a:solidFill>
          <a:ln/>
        </p:spPr>
      </p:sp>
      <p:sp>
        <p:nvSpPr>
          <p:cNvPr id="16" name="Roadmap card"/>
          <p:cNvSpPr/>
          <p:nvPr/>
        </p:nvSpPr>
        <p:spPr>
          <a:xfrm>
            <a:off x="6035040" y="1280160"/>
            <a:ext cx="2651760" cy="2514600"/>
          </a:xfrm>
          <a:prstGeom prst="roundRect">
            <a:avLst>
              <a:gd name="adj" fmla="val 2909"/>
            </a:avLst>
          </a:prstGeom>
          <a:solidFill>
            <a:schemeClr val="bg2"/>
          </a:solidFill>
          <a:ln/>
        </p:spPr>
      </p:sp>
      <p:sp>
        <p:nvSpPr>
          <p:cNvPr id="17" name="Roadmap header"/>
          <p:cNvSpPr/>
          <p:nvPr/>
        </p:nvSpPr>
        <p:spPr>
          <a:xfrm>
            <a:off x="6035040" y="1280160"/>
            <a:ext cx="2651760" cy="731520"/>
          </a:xfrm>
          <a:prstGeom prst="roundRect">
            <a:avLst>
              <a:gd name="adj" fmla="val 10000"/>
            </a:avLst>
          </a:prstGeom>
          <a:solidFill>
            <a:schemeClr val="accent4"/>
          </a:solidFill>
          <a:ln/>
        </p:spPr>
      </p:sp>
      <p:sp>
        <p:nvSpPr>
          <p:cNvPr id="18" name="Text 15"/>
          <p:cNvSpPr txBox="1"/>
          <p:nvPr/>
        </p:nvSpPr>
        <p:spPr>
          <a:xfrm>
            <a:off x="6217920" y="1325880"/>
            <a:ext cx="1828800" cy="365760"/>
          </a:xfrm>
          <a:prstGeom prst="rect">
            <a:avLst/>
          </a:prstGeom>
          <a:noFill/>
          <a:ln/>
        </p:spPr>
        <p:txBody>
          <a:bodyPr wrap="square" lIns="0" tIns="0" rIns="0" bIns="0" rtlCol="0" anchor="ctr"/>
          <a:lstStyle/>
          <a:p>
            <a:pPr indent="0" marL="0">
              <a:buNone/>
            </a:pPr>
            <a:r>
              <a:rPr lang="en-US" sz="2000" b="1" dirty="0">
                <a:solidFill>
                  <a:schemeClr val="bg1"/>
                </a:solidFill>
              </a:rPr>
              <a:t>Review 3</a:t>
            </a:r>
            <a:endParaRPr lang="en-US" sz="2000" dirty="0"/>
          </a:p>
        </p:txBody>
      </p:sp>
      <p:sp>
        <p:nvSpPr>
          <p:cNvPr id="19" name="Text 16"/>
          <p:cNvSpPr txBox="1"/>
          <p:nvPr/>
        </p:nvSpPr>
        <p:spPr>
          <a:xfrm>
            <a:off x="6217920" y="1664208"/>
            <a:ext cx="2377440" cy="274320"/>
          </a:xfrm>
          <a:prstGeom prst="rect">
            <a:avLst/>
          </a:prstGeom>
          <a:noFill/>
          <a:ln/>
        </p:spPr>
        <p:txBody>
          <a:bodyPr wrap="square" lIns="0" tIns="0" rIns="0" bIns="0" rtlCol="0" anchor="t"/>
          <a:lstStyle/>
          <a:p>
            <a:pPr indent="0" marL="0">
              <a:buNone/>
            </a:pPr>
            <a:r>
              <a:rPr lang="en-US" sz="1200" dirty="0">
                <a:solidFill>
                  <a:schemeClr val="bg1"/>
                </a:solidFill>
              </a:rPr>
              <a:t>Week 16</a:t>
            </a:r>
            <a:endParaRPr lang="en-US" sz="1200" dirty="0"/>
          </a:p>
        </p:txBody>
      </p:sp>
      <p:sp>
        <p:nvSpPr>
          <p:cNvPr id="20" name="Text 17"/>
          <p:cNvSpPr txBox="1"/>
          <p:nvPr/>
        </p:nvSpPr>
        <p:spPr>
          <a:xfrm>
            <a:off x="6217920" y="2240280"/>
            <a:ext cx="2331720" cy="14630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Python application</a:t>
            </a:r>
            <a:endParaRPr lang="en-US" sz="1500" dirty="0"/>
          </a:p>
          <a:p>
            <a:pPr marL="342900" indent="-342900">
              <a:spcAft>
                <a:spcPts val="800"/>
              </a:spcAft>
              <a:buSzPct val="100000"/>
              <a:buChar char="•"/>
            </a:pPr>
            <a:r>
              <a:rPr lang="en-US" sz="1500" dirty="0">
                <a:solidFill>
                  <a:schemeClr val="tx1"/>
                </a:solidFill>
              </a:rPr>
              <a:t>CRUD, search, validation</a:t>
            </a:r>
            <a:endParaRPr lang="en-US" sz="1500" dirty="0"/>
          </a:p>
          <a:p>
            <a:pPr marL="342900" indent="-342900">
              <a:spcAft>
                <a:spcPts val="800"/>
              </a:spcAft>
              <a:buSzPct val="100000"/>
              <a:buChar char="•"/>
            </a:pPr>
            <a:r>
              <a:rPr lang="en-US" sz="1500" dirty="0">
                <a:solidFill>
                  <a:schemeClr val="tx1"/>
                </a:solidFill>
              </a:rPr>
              <a:t>Testing, report, viva</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p:nvPr>
            <p:ph idx="100" type="title" hasCustomPrompt="1"/>
          </p:nvPr>
        </p:nvSpPr>
        <p:spPr>
          <a:xfrm>
            <a:off x="548640" y="1417320"/>
            <a:ext cx="5760720" cy="1554480"/>
          </a:xfrm>
          <a:prstGeom prst="rect">
            <a:avLst/>
          </a:prstGeom>
          <a:noFill/>
          <a:ln/>
        </p:spPr>
        <p:txBody>
          <a:bodyPr wrap="square" lIns="0" tIns="0" rIns="0" bIns="0" rtlCol="0" anchor="t"/>
          <a:lstStyle/>
          <a:p>
            <a:pPr algn="l" indent="0" marL="0">
              <a:buNone/>
            </a:pPr>
            <a:r>
              <a:rPr lang="en-US" sz="3000" b="1" dirty="0">
                <a:solidFill>
                  <a:schemeClr val="bg1"/>
                </a:solidFill>
              </a:rPr>
              <a:t>Thank You</a:t>
            </a:r>
            <a:endParaRPr lang="en-US" sz="3000" dirty="0"/>
          </a:p>
        </p:txBody>
      </p:sp>
      <p:sp>
        <p:nvSpPr>
          <p:cNvPr id="4" name="Text 1"/>
          <p:cNvSpPr txBox="1"/>
          <p:nvPr/>
        </p:nvSpPr>
        <p:spPr>
          <a:xfrm>
            <a:off x="548640" y="2240280"/>
            <a:ext cx="5577840" cy="822960"/>
          </a:xfrm>
          <a:prstGeom prst="rect">
            <a:avLst/>
          </a:prstGeom>
          <a:noFill/>
          <a:ln/>
        </p:spPr>
        <p:txBody>
          <a:bodyPr wrap="square" lIns="0" tIns="0" rIns="0" bIns="0" rtlCol="0" anchor="t"/>
          <a:lstStyle/>
          <a:p>
            <a:pPr indent="0" marL="0">
              <a:buNone/>
            </a:pPr>
            <a:r>
              <a:rPr lang="en-US" sz="1600" dirty="0">
                <a:solidFill>
                  <a:schemeClr val="bg2"/>
                </a:solidFill>
              </a:rPr>
              <a:t>Questions and feedback welcome</a:t>
            </a:r>
            <a:endParaRPr lang="en-US" sz="1600" dirty="0"/>
          </a:p>
          <a:p>
            <a:pPr indent="0" marL="0">
              <a:buNone/>
            </a:pPr>
            <a:r>
              <a:rPr lang="en-US" sz="1600" dirty="0">
                <a:solidFill>
                  <a:schemeClr val="bg2"/>
                </a:solidFill>
              </a:rPr>
              <a:t>Next: Review 2 - normalization, constraints and queries</a:t>
            </a:r>
            <a:endParaRPr lang="en-US" sz="1600" dirty="0"/>
          </a:p>
        </p:txBody>
      </p:sp>
      <p:sp>
        <p:nvSpPr>
          <p:cNvPr id="5" name="Motif ring"/>
          <p:cNvSpPr/>
          <p:nvPr/>
        </p:nvSpPr>
        <p:spPr>
          <a:xfrm>
            <a:off x="6355080" y="1097280"/>
            <a:ext cx="2651760" cy="2651760"/>
          </a:xfrm>
          <a:prstGeom prst="ellipse">
            <a:avLst/>
          </a:prstGeom>
          <a:ln w="19050">
            <a:solidFill>
              <a:schemeClr val="accent1"/>
            </a:solidFill>
            <a:prstDash val="solid"/>
          </a:ln>
        </p:spPr>
      </p:sp>
      <p:sp>
        <p:nvSpPr>
          <p:cNvPr id="6" name="Check badge"/>
          <p:cNvSpPr/>
          <p:nvPr/>
        </p:nvSpPr>
        <p:spPr>
          <a:xfrm>
            <a:off x="6675120" y="1417320"/>
            <a:ext cx="2011680" cy="2011680"/>
          </a:xfrm>
          <a:prstGeom prst="ellipse">
            <a:avLst/>
          </a:prstGeom>
          <a:solidFill>
            <a:schemeClr val="accent1"/>
          </a:solidFill>
          <a:ln/>
        </p:spPr>
      </p:sp>
      <p:pic>
        <p:nvPicPr>
          <p:cNvPr id="7" name="Image 0" descr="CheckCircle icon">    </p:cNvPr>
          <p:cNvPicPr>
            <a:picLocks noChangeAspect="1"/>
          </p:cNvPicPr>
          <p:nvPr/>
        </p:nvPicPr>
        <p:blipFill>
          <a:blip r:embed="rId1"/>
          <a:stretch>
            <a:fillRect/>
          </a:stretch>
        </p:blipFill>
        <p:spPr>
          <a:xfrm>
            <a:off x="7198157" y="1940357"/>
            <a:ext cx="965606" cy="965606"/>
          </a:xfrm>
          <a:prstGeom prst="rect">
            <a:avLst/>
          </a:prstGeom>
        </p:spPr>
      </p:pic>
      <p:sp>
        <p:nvSpPr>
          <p:cNvPr id="8" name="Text 0"/>
          <p:cNvSpPr/>
          <p:nvPr>
            <p:ph idx="101" type="body" hasCustomPrompt="1"/>
          </p:nvPr>
        </p:nvSpPr>
        <p:spPr>
          <a:xfrm>
            <a:off x="548640" y="3108960"/>
            <a:ext cx="5577840" cy="822960"/>
          </a:xfrm>
          <a:prstGeom prst="rect">
            <a:avLst/>
          </a:prstGeom>
          <a:noFill/>
          <a:ln/>
        </p:spPr>
        <p:txBody>
          <a:bodyPr wrap="square" lIns="0" tIns="0" rIns="0" bIns="0" rtlCol="0" anchor="t"/>
          <a:lstStyle/>
          <a:p>
            <a:pPr algn="l" indent="0" marL="0">
              <a:buNone/>
            </a:pPr>
            <a:endParaRPr lang="en-US" sz="1600" dirty="0"/>
          </a:p>
        </p:txBody>
      </p:sp>
    </p:spTree>
  </p:cSld>
  <p:clrMapOvr>
    <a:masterClrMapping/>
  </p:clrMapOvr>
</p:sld>
</file>

<file path=ppt/theme/theme1.xml><?xml version="1.0" encoding="utf-8"?>
<a:theme xmlns:a="http://schemas.openxmlformats.org/drawingml/2006/main" name="ResearchDB">
  <a:themeElements>
    <a:clrScheme name="ResearchDB">
      <a:dk1>
        <a:srgbClr val="0B1F33"/>
      </a:dk1>
      <a:lt1>
        <a:srgbClr val="FFFFFF"/>
      </a:lt1>
      <a:dk2>
        <a:srgbClr val="0E4D64"/>
      </a:dk2>
      <a:lt2>
        <a:srgbClr val="EAF3F6"/>
      </a:lt2>
      <a:accent1>
        <a:srgbClr val="0E7C86"/>
      </a:accent1>
      <a:accent2>
        <a:srgbClr val="F2A541"/>
      </a:accent2>
      <a:accent3>
        <a:srgbClr val="2F5D9E"/>
      </a:accent3>
      <a:accent4>
        <a:srgbClr val="2F7D5B"/>
      </a:accent4>
      <a:accent5>
        <a:srgbClr val="C8553D"/>
      </a:accent5>
      <a:accent6>
        <a:srgbClr val="5E7083"/>
      </a:accent6>
      <a:hlink>
        <a:srgbClr val="0E7C86"/>
      </a:hlink>
      <a:folHlink>
        <a:srgbClr val="5E7083"/>
      </a:folHlink>
    </a:clrScheme>
    <a:fontScheme name="ResearchDB">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Project, Publication and Grant Management System - Review 1</dc:title>
  <dc:subject>PptxGenJS Presentation</dc:subject>
  <dc:creator>Varun</dc:creator>
  <cp:lastModifiedBy>Varun</cp:lastModifiedBy>
  <cp:revision>1</cp:revision>
  <dcterms:created xsi:type="dcterms:W3CDTF">2026-10-14T06:17:04Z</dcterms:created>
  <dcterms:modified xsi:type="dcterms:W3CDTF">2026-10-14T06:17:04Z</dcterms:modified>
</cp:coreProperties>
</file>